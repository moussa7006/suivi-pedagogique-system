
<file path=[Content_Types].xml><?xml version="1.0" encoding="utf-8"?>
<ns0:Types xmlns:ns0="http://schemas.openxmlformats.org/package/2006/content-types"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changesInfos/changesInfo1.xml" ContentType="application/vnd.ms-powerpoint.changesinfo+xml"/>
  <ns0:Override PartName="/ppt/media/image10.svg" ContentType="image/svg+xml"/>
  <ns0:Override PartName="/ppt/media/image11.svg" ContentType="image/svg+xml"/>
  <ns0:Override PartName="/ppt/media/image12.svg" ContentType="image/svg+xml"/>
  <ns0:Override PartName="/ppt/media/image14.svg" ContentType="image/svg+xml"/>
  <ns0:Override PartName="/ppt/media/image15.svg" ContentType="image/svg+xml"/>
  <ns0:Override PartName="/ppt/media/image20.svg" ContentType="image/svg+xml"/>
  <ns0:Override PartName="/ppt/media/image21.svg" ContentType="image/svg+xml"/>
  <ns0:Override PartName="/ppt/media/image22.svg" ContentType="image/svg+xml"/>
  <ns0:Override PartName="/ppt/media/image23.svg" ContentType="image/svg+xml"/>
  <ns0:Override PartName="/ppt/media/image24.svg" ContentType="image/svg+xml"/>
  <ns0:Override PartName="/ppt/media/image25.svg" ContentType="image/svg+xml"/>
  <ns0:Override PartName="/ppt/media/image26.svg" ContentType="image/svg+xml"/>
  <ns0:Override PartName="/ppt/media/image3.svg" ContentType="image/svg+xml"/>
  <ns0:Override PartName="/ppt/media/image4.svg" ContentType="image/svg+xml"/>
  <ns0:Override PartName="/ppt/media/image5.svg" ContentType="image/svg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Default Extension="svg" ContentType="image/svg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57" r:id="rId4"/>
    <p:sldId id="267" r:id="rId5"/>
    <p:sldId id="269" r:id="rId6"/>
    <p:sldId id="258" r:id="rId7"/>
    <p:sldId id="259" r:id="rId8"/>
    <p:sldId id="260" r:id="rId9"/>
    <p:sldId id="261" r:id="rId10"/>
    <p:sldId id="263" r:id="rId11"/>
    <p:sldId id="270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03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rama Aya" userId="bc3cf622bba950c8" providerId="LiveId" clId="{80D05DEE-435E-45B8-940D-BDCD6398AD36}"/>
    <pc:docChg chg="undo custSel modSld">
      <pc:chgData name="Bourama Aya" userId="bc3cf622bba950c8" providerId="LiveId" clId="{80D05DEE-435E-45B8-940D-BDCD6398AD36}" dt="2026-08-29T20:42:03.287" v="41" actId="255"/>
      <pc:docMkLst>
        <pc:docMk/>
      </pc:docMkLst>
      <pc:sldChg chg="modSp mod">
        <pc:chgData name="Bourama Aya" userId="bc3cf622bba950c8" providerId="LiveId" clId="{80D05DEE-435E-45B8-940D-BDCD6398AD36}" dt="2026-08-29T20:31:42.163" v="39" actId="1076"/>
        <pc:sldMkLst>
          <pc:docMk/>
          <pc:sldMk cId="0" sldId="264"/>
        </pc:sldMkLst>
        <pc:spChg chg="mod">
          <ac:chgData name="Bourama Aya" userId="bc3cf622bba950c8" providerId="LiveId" clId="{80D05DEE-435E-45B8-940D-BDCD6398AD36}" dt="2026-08-29T20:31:42.163" v="39" actId="1076"/>
          <ac:spMkLst>
            <pc:docMk/>
            <pc:sldMk cId="0" sldId="264"/>
            <ac:spMk id="10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42:03.287" v="41" actId="255"/>
        <pc:sldMkLst>
          <pc:docMk/>
          <pc:sldMk cId="0" sldId="267"/>
        </pc:sldMkLst>
        <pc:spChg chg="mod">
          <ac:chgData name="Bourama Aya" userId="bc3cf622bba950c8" providerId="LiveId" clId="{80D05DEE-435E-45B8-940D-BDCD6398AD36}" dt="2026-08-29T20:42:03.287" v="41" actId="255"/>
          <ac:spMkLst>
            <pc:docMk/>
            <pc:sldMk cId="0" sldId="267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8:48.763" v="3" actId="20577"/>
          <ac:spMkLst>
            <pc:docMk/>
            <pc:sldMk cId="0" sldId="267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8:56.519" v="5" actId="255"/>
          <ac:spMkLst>
            <pc:docMk/>
            <pc:sldMk cId="0" sldId="267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02.129" v="7" actId="255"/>
          <ac:spMkLst>
            <pc:docMk/>
            <pc:sldMk cId="0" sldId="267"/>
            <ac:spMk id="2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08.276" v="9" actId="255"/>
          <ac:spMkLst>
            <pc:docMk/>
            <pc:sldMk cId="0" sldId="267"/>
            <ac:spMk id="27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20:25.033" v="19" actId="113"/>
        <pc:sldMkLst>
          <pc:docMk/>
          <pc:sldMk cId="0" sldId="268"/>
        </pc:sldMkLst>
        <pc:spChg chg="mod">
          <ac:chgData name="Bourama Aya" userId="bc3cf622bba950c8" providerId="LiveId" clId="{80D05DEE-435E-45B8-940D-BDCD6398AD36}" dt="2026-08-29T20:20:25.033" v="19" actId="113"/>
          <ac:spMkLst>
            <pc:docMk/>
            <pc:sldMk cId="0" sldId="268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45.246" v="11" actId="255"/>
          <ac:spMkLst>
            <pc:docMk/>
            <pc:sldMk cId="0" sldId="268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53.894" v="13" actId="255"/>
          <ac:spMkLst>
            <pc:docMk/>
            <pc:sldMk cId="0" sldId="268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59.805" v="15" actId="255"/>
          <ac:spMkLst>
            <pc:docMk/>
            <pc:sldMk cId="0" sldId="268"/>
            <ac:spMk id="22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20:55.169" v="29" actId="255"/>
        <pc:sldMkLst>
          <pc:docMk/>
          <pc:sldMk cId="0" sldId="269"/>
        </pc:sldMkLst>
        <pc:spChg chg="mod">
          <ac:chgData name="Bourama Aya" userId="bc3cf622bba950c8" providerId="LiveId" clId="{80D05DEE-435E-45B8-940D-BDCD6398AD36}" dt="2026-08-29T20:20:30.892" v="21" actId="255"/>
          <ac:spMkLst>
            <pc:docMk/>
            <pc:sldMk cId="0" sldId="269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36.059" v="23" actId="25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41.752" v="25" actId="255"/>
          <ac:spMkLst>
            <pc:docMk/>
            <pc:sldMk cId="0" sldId="269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55.169" v="29" actId="255"/>
          <ac:spMkLst>
            <pc:docMk/>
            <pc:sldMk cId="0" sldId="269"/>
            <ac:spMk id="2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48.652" v="27" actId="255"/>
          <ac:spMkLst>
            <pc:docMk/>
            <pc:sldMk cId="0" sldId="269"/>
            <ac:spMk id="27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22:16.360" v="37" actId="255"/>
        <pc:sldMkLst>
          <pc:docMk/>
          <pc:sldMk cId="0" sldId="270"/>
        </pc:sldMkLst>
        <pc:spChg chg="mod">
          <ac:chgData name="Bourama Aya" userId="bc3cf622bba950c8" providerId="LiveId" clId="{80D05DEE-435E-45B8-940D-BDCD6398AD36}" dt="2026-08-29T20:21:56.386" v="31" actId="255"/>
          <ac:spMkLst>
            <pc:docMk/>
            <pc:sldMk cId="0" sldId="270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2:04.008" v="33" actId="255"/>
          <ac:spMkLst>
            <pc:docMk/>
            <pc:sldMk cId="0" sldId="270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2:09.851" v="35" actId="255"/>
          <ac:spMkLst>
            <pc:docMk/>
            <pc:sldMk cId="0" sldId="270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2:16.360" v="37" actId="255"/>
          <ac:spMkLst>
            <pc:docMk/>
            <pc:sldMk cId="0" sldId="270"/>
            <ac:spMk id="2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13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svg"/><Relationship Id="rId6" Type="http://schemas.openxmlformats.org/officeDocument/2006/relationships/image" Target="../media/image11.svg"/><Relationship Id="rId7" Type="http://schemas.openxmlformats.org/officeDocument/2006/relationships/image" Target="../media/image12.svg"/><Relationship Id="rId8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9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0.svg"/><Relationship Id="rId5" Type="http://schemas.openxmlformats.org/officeDocument/2006/relationships/image" Target="../media/image21.svg"/><Relationship Id="rId6" Type="http://schemas.openxmlformats.org/officeDocument/2006/relationships/image" Target="../media/image22.svg"/><Relationship Id="rId7" Type="http://schemas.openxmlformats.org/officeDocument/2006/relationships/image" Target="../media/image10.svg"/><Relationship Id="rId8" Type="http://schemas.openxmlformats.org/officeDocument/2006/relationships/image" Target="../media/image23.svg"/><Relationship Id="rId9" Type="http://schemas.openxmlformats.org/officeDocument/2006/relationships/image" Target="../media/image24.svg"/><Relationship Id="rId10" Type="http://schemas.openxmlformats.org/officeDocument/2006/relationships/image" Target="../media/image25.svg"/><Relationship Id="rId11" Type="http://schemas.openxmlformats.org/officeDocument/2006/relationships/image" Target="../media/image26.svg"/><Relationship Id="rId12" Type="http://schemas.openxmlformats.org/officeDocument/2006/relationships/image" Target="../media/image27.jpg"/><Relationship Id="rId13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9.jpeg"/><Relationship Id="rId6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?>
<ns0:Relationships xmlns:ns0="http://schemas.openxmlformats.org/package/2006/relationships"><ns0:Relationship Id="rId8" Type="http://schemas.openxmlformats.org/officeDocument/2006/relationships/image" Target="../media/image35.png" /><ns0:Relationship Id="rId3" Type="http://schemas.openxmlformats.org/officeDocument/2006/relationships/image" Target="../media/image1.png" /><ns0:Relationship Id="rId7" Type="http://schemas.openxmlformats.org/officeDocument/2006/relationships/image" Target="../media/image34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33.svg" /><ns0:Relationship Id="rId5" Type="http://schemas.openxmlformats.org/officeDocument/2006/relationships/image" Target="../media/image32.svg" /><ns0:Relationship Id="rId10" Type="http://schemas.openxmlformats.org/officeDocument/2006/relationships/image" Target="../media/image37.png" /><ns0:Relationship Id="rId4" Type="http://schemas.openxmlformats.org/officeDocument/2006/relationships/image" Target="../media/image31.svg" /><ns0:Relationship Id="rId9" Type="http://schemas.openxmlformats.org/officeDocument/2006/relationships/image" Target="../media/image36.png" /></ns0: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45120" y="101119"/>
            <a:ext cx="1645560" cy="82345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backend/edutrack/src/main/resources/images/logo_INTEC_nom_Horizon-1-3-1.png"/>
          <p:cNvPicPr/>
          <p:nvPr/>
        </p:nvPicPr>
        <p:blipFill>
          <a:blip r:embed="rId3"/>
          <a:stretch/>
        </p:blipFill>
        <p:spPr>
          <a:xfrm>
            <a:off x="381960" y="330514"/>
            <a:ext cx="1462680" cy="422574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562831" y="787591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PROJET DE FIN DE CYCLE</a:t>
            </a:r>
            <a:endParaRPr lang="fr-FR" sz="2800" b="0" strike="noStrike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62831" y="970006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 dirty="0" err="1">
                <a:solidFill>
                  <a:srgbClr val="0070C0"/>
                </a:solidFill>
                <a:latin typeface="Calibri"/>
              </a:rPr>
              <a:t>Edu</a:t>
            </a:r>
            <a:r>
              <a:rPr lang="en-US" sz="5400" b="1" strike="noStrike" spc="-1" dirty="0" err="1">
                <a:solidFill>
                  <a:srgbClr val="FFC000"/>
                </a:solidFill>
                <a:latin typeface="Calibri"/>
              </a:rPr>
              <a:t>Track</a:t>
            </a:r>
            <a:endParaRPr lang="fr-FR" sz="5400" b="0" strike="noStrike" spc="-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458757" y="1937486"/>
            <a:ext cx="8904623" cy="10969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CONCEPTION ET DÉVELOPPEMENT D'UNE APPLICATION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WEB ET MOBILE DE SUIVI PÉDAGOGIQUE ET DE CALCUL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DES HONORAIRES DES ENSEIGNANTS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7968889" y="5343131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7968889" y="4928193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 err="1">
                <a:solidFill>
                  <a:schemeClr val="bg2">
                    <a:lumMod val="10000"/>
                  </a:schemeClr>
                </a:solidFill>
                <a:latin typeface="Calibri"/>
              </a:rPr>
              <a:t>Présenté</a:t>
            </a:r>
            <a:r>
              <a:rPr lang="en-US" sz="1600" b="1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 par</a:t>
            </a:r>
            <a:endParaRPr lang="fr-FR" sz="1600" b="1" strike="noStrike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8534760" y="560113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MOUSSA BALLA KEITA &amp;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AYA BOURAMA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223691" y="5343131"/>
            <a:ext cx="4114440" cy="103356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162060" y="4928193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Sous la direction de</a:t>
            </a:r>
            <a:endParaRPr lang="fr-FR" sz="1600" b="1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-78477" y="5585771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M. </a:t>
            </a:r>
            <a:r>
              <a:rPr lang="en-US" sz="1800" b="1" strike="noStrike" spc="-1" dirty="0" err="1">
                <a:solidFill>
                  <a:srgbClr val="FFFFFF"/>
                </a:solidFill>
                <a:latin typeface="Calibri"/>
              </a:rPr>
              <a:t>MOUHAMOUD</a:t>
            </a: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 DEMBELE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INTEC SUP - 2025/2026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 1" descr="mobile-ionic/src/assets/logo_edutrack.png">
            <a:extLst>
              <a:ext uri="{FF2B5EF4-FFF2-40B4-BE49-F238E27FC236}">
                <a16:creationId xmlns:a16="http://schemas.microsoft.com/office/drawing/2014/main" id="{B5C1AFF4-7061-5CE2-8583-7107EE5C86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40299" y="3429000"/>
            <a:ext cx="2761347" cy="276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7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91440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7043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57A8C"/>
                </a:solidFill>
                <a:latin typeface="Aptos"/>
              </a:rPr>
              <a:t>Contexte général du projet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56231"/>
            <a:ext cx="10378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F4272"/>
                </a:solidFill>
                <a:latin typeface="Aptos Display"/>
              </a:rPr>
              <a:t>Dans les établissements d’enseignement, le suivi pédagogique repose souvent</a:t>
            </a:r>
            <a:br/>
            <a:r>
              <a:rPr sz="2000" b="1">
                <a:solidFill>
                  <a:srgbClr val="0F4272"/>
                </a:solidFill>
                <a:latin typeface="Aptos Display"/>
              </a:rPr>
              <a:t>sur plusieurs supports : documents papier, tableaux Excel et échanges informels.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10012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304152"/>
                </a:solidFill>
                <a:latin typeface="Aptos"/>
              </a:rPr>
              <a:t>Cette organisation rend la centralisation des informations, la traçabilité des activités</a:t>
            </a:r>
            <a:br/>
            <a:r>
              <a:rPr sz="1600" b="0">
                <a:solidFill>
                  <a:srgbClr val="304152"/>
                </a:solidFill>
                <a:latin typeface="Aptos"/>
              </a:rPr>
              <a:t>et le suivi des enseignants plus difficiles.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4160520"/>
            <a:ext cx="825703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21992" y="4370832"/>
            <a:ext cx="7754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868AB"/>
                </a:solidFill>
                <a:latin typeface="Aptos"/>
              </a:rPr>
              <a:t>C’est dans ce contexte que s’inscrit le projet EduTrack.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5" y="-13716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Problématique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5A6E80"/>
                </a:solidFill>
              </a:rPr>
              <a:t>03 / 13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144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4272"/>
                </a:solidFill>
              </a:rPr>
              <a:t>Avant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58368" y="1810512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online_icons/googlesheet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59536" y="1856232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01368" y="2048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Feuilles Excel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801368" y="24140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Suivi dispersé</a:t>
            </a:r>
            <a:endParaRPr lang="en-US" sz="1400" b="1" dirty="0"/>
          </a:p>
        </p:txBody>
      </p:sp>
      <p:sp>
        <p:nvSpPr>
          <p:cNvPr id="18" name="Shape 14"/>
          <p:cNvSpPr/>
          <p:nvPr/>
        </p:nvSpPr>
        <p:spPr>
          <a:xfrm>
            <a:off x="635508" y="29260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MEMOIRE/online_icons/readthedoc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5820" y="3022092"/>
            <a:ext cx="786384" cy="7863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01368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Formulaires papier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01368" y="35295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Saisie manuelle</a:t>
            </a:r>
            <a:endParaRPr lang="en-US" sz="1400" b="1" dirty="0"/>
          </a:p>
        </p:txBody>
      </p:sp>
      <p:sp>
        <p:nvSpPr>
          <p:cNvPr id="22" name="Shape 17"/>
          <p:cNvSpPr/>
          <p:nvPr/>
        </p:nvSpPr>
        <p:spPr>
          <a:xfrm>
            <a:off x="658368" y="4041648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3" name="Image 3" descr="MEMOIRE/online_icons/databrick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45820" y="4114112"/>
            <a:ext cx="786384" cy="7863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01368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Données isolées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801368" y="4645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Peu de traçabilité</a:t>
            </a:r>
            <a:endParaRPr lang="en-US" sz="1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991856" y="1174015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0F4272"/>
                </a:solidFill>
              </a:rPr>
              <a:t>Conséquences observées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4796" y="1650825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e_centralis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3653" y="1686707"/>
            <a:ext cx="786384" cy="7863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18520" y="1737905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Information fragmentée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18520" y="2214407"/>
            <a:ext cx="19540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Tout au </a:t>
            </a:r>
            <a:r>
              <a:rPr sz="1400" b="1" dirty="0" err="1">
                <a:solidFill>
                  <a:srgbClr val="304152"/>
                </a:solidFill>
              </a:rPr>
              <a:t>même</a:t>
            </a:r>
            <a:r>
              <a:rPr sz="1400" b="1" dirty="0">
                <a:solidFill>
                  <a:srgbClr val="304152"/>
                </a:solidFill>
              </a:rPr>
              <a:t> </a:t>
            </a:r>
            <a:r>
              <a:rPr sz="1400" b="1" dirty="0" err="1">
                <a:solidFill>
                  <a:srgbClr val="304152"/>
                </a:solidFill>
              </a:rPr>
              <a:t>endroit</a:t>
            </a:r>
            <a:endParaRPr sz="1400" b="1" dirty="0">
              <a:solidFill>
                <a:srgbClr val="30415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34796" y="2855773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ne_fiabilis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8615" y="2939796"/>
            <a:ext cx="786384" cy="7863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18520" y="2932863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Erreurs de suivi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18520" y="3378074"/>
            <a:ext cx="165128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Données </a:t>
            </a:r>
            <a:r>
              <a:rPr sz="1400" b="1" dirty="0" err="1">
                <a:solidFill>
                  <a:srgbClr val="304152"/>
                </a:solidFill>
              </a:rPr>
              <a:t>vérifiées</a:t>
            </a:r>
            <a:endParaRPr sz="1400" b="1" dirty="0">
              <a:solidFill>
                <a:srgbClr val="30415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34796" y="3959352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one_automatis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1856" y="4039720"/>
            <a:ext cx="786384" cy="7863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95660" y="4172792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Calculs manuels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58894" y="4545208"/>
            <a:ext cx="17452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304152"/>
                </a:solidFill>
              </a:rPr>
              <a:t>Calculs</a:t>
            </a:r>
            <a:r>
              <a:rPr sz="1400" b="1" dirty="0">
                <a:solidFill>
                  <a:srgbClr val="304152"/>
                </a:solidFill>
              </a:rPr>
              <a:t> et rapports</a:t>
            </a:r>
          </a:p>
        </p:txBody>
      </p:sp>
      <p:pic>
        <p:nvPicPr>
          <p:cNvPr id="39" name="Picture 38" descr="arrow_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0540" y="2994334"/>
            <a:ext cx="3456884" cy="754706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7472" y="6476238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Objectifs &amp; hypothèses de travail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99870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657A8C"/>
                </a:solidFill>
                <a:latin typeface="Aptos"/>
              </a:rPr>
              <a:t>Ce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que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la solution doit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améliorer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et les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effets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attendus</a:t>
            </a:r>
            <a:endParaRPr sz="1400" b="1" dirty="0">
              <a:solidFill>
                <a:srgbClr val="657A8C"/>
              </a:solidFill>
              <a:latin typeface="Apto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984248"/>
            <a:ext cx="420624" cy="420624"/>
          </a:xfrm>
          <a:prstGeom prst="ellipse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Objectif général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1400" b="1" dirty="0">
                <a:solidFill>
                  <a:srgbClr val="304152"/>
                </a:solidFill>
                <a:latin typeface="Aptos"/>
              </a:rPr>
              <a:t>Concevoir une solution web et mobile pour centraliser et fiabiliser le suivi pédagogique.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73952" y="1984248"/>
            <a:ext cx="420624" cy="420624"/>
          </a:xfrm>
          <a:prstGeom prst="ellipse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Objectifs spécifiques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304152"/>
                </a:solidFill>
                <a:latin typeface="Aptos"/>
              </a:rPr>
              <a:t>Planifier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séances,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suivre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émargements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documenter la progression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automatiser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Hypothèse H1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centralisation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des données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améliore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disponibilité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l’information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le pilotage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pédagogique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73952" y="4160520"/>
            <a:ext cx="420624" cy="420624"/>
          </a:xfrm>
          <a:prstGeom prst="ellipse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Hypothèses H2 à H4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Le QR code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renforce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traçabilité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; le mobile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simplifie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l’émargement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; les séances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validées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fiabilisent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Cadre méthodologique &amp; analytique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99870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657A8C"/>
                </a:solidFill>
                <a:latin typeface="Aptos"/>
              </a:rPr>
              <a:t>Démarche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suivie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pour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concevoir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réaliser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vérifier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la solution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984248"/>
            <a:ext cx="420624" cy="420624"/>
          </a:xfrm>
          <a:prstGeom prst="ellipse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Analyse des besoins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Identification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acteurs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des processus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existants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contraintes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 gestion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pédagogique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73952" y="1984248"/>
            <a:ext cx="420624" cy="420624"/>
          </a:xfrm>
          <a:prstGeom prst="ellipse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Conception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304152"/>
                </a:solidFill>
                <a:latin typeface="Aptos"/>
              </a:rPr>
              <a:t>Modélisation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UML :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cas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d’utilisation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séquence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d’émargement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architecture MVC.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Réalisation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API REST Spring Boot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sécurisée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par JWT, interface Angular/Ionic et base PostgreSQL.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73952" y="4160520"/>
            <a:ext cx="420624" cy="420624"/>
          </a:xfrm>
          <a:prstGeom prst="ellipse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Tests backend, build frontend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démonstration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parcours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administrateur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enseignant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Solution proposée : EduTrack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06 / 13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434840" y="1874520"/>
            <a:ext cx="3246120" cy="3246120"/>
          </a:xfrm>
          <a:prstGeom prst="ellipse">
            <a:avLst/>
          </a:prstGeom>
          <a:solidFill>
            <a:srgbClr val="3B82F6">
              <a:alpha val="86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mobile-ionic/src/assets/logo_edutra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1416" y="1874520"/>
            <a:ext cx="3246120" cy="325526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13232" y="13716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4400" y="1572768"/>
            <a:ext cx="786384" cy="7863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56232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Administration web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56232" y="19751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Gestion, planning, suivi</a:t>
            </a:r>
            <a:endParaRPr lang="en-US" sz="1400" b="1" dirty="0"/>
          </a:p>
        </p:txBody>
      </p:sp>
      <p:sp>
        <p:nvSpPr>
          <p:cNvPr id="19" name="Shape 14"/>
          <p:cNvSpPr/>
          <p:nvPr/>
        </p:nvSpPr>
        <p:spPr>
          <a:xfrm>
            <a:off x="713232" y="425196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MEMOIRE/online_icons/q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0" y="4453128"/>
            <a:ext cx="786384" cy="7863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56232" y="4489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Émargement QR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856232" y="48554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Scan </a:t>
            </a:r>
            <a:r>
              <a:rPr lang="en-US" sz="1400" b="1" dirty="0" err="1">
                <a:solidFill>
                  <a:srgbClr val="304152"/>
                </a:solidFill>
              </a:rPr>
              <a:t>rapide</a:t>
            </a:r>
            <a:r>
              <a:rPr lang="en-US" sz="1400" b="1" dirty="0">
                <a:solidFill>
                  <a:srgbClr val="304152"/>
                </a:solidFill>
              </a:rPr>
              <a:t> sur mobile</a:t>
            </a:r>
            <a:endParaRPr lang="en-US" sz="1400" b="1" dirty="0"/>
          </a:p>
        </p:txBody>
      </p:sp>
      <p:sp>
        <p:nvSpPr>
          <p:cNvPr id="23" name="Shape 17"/>
          <p:cNvSpPr/>
          <p:nvPr/>
        </p:nvSpPr>
        <p:spPr>
          <a:xfrm>
            <a:off x="7818120" y="137160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896112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Fiche de progression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96112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Séance et contenu réalisé</a:t>
            </a:r>
            <a:endParaRPr lang="en-US" sz="1400" b="1" dirty="0"/>
          </a:p>
        </p:txBody>
      </p:sp>
      <p:sp>
        <p:nvSpPr>
          <p:cNvPr id="27" name="Shape 20"/>
          <p:cNvSpPr/>
          <p:nvPr/>
        </p:nvSpPr>
        <p:spPr>
          <a:xfrm>
            <a:off x="7818120" y="425196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MEMOIRE/online_icons/cashap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019288" y="4453128"/>
            <a:ext cx="786384" cy="7863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61120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8961120" y="4855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Calcul automatique à partir des séances émargées</a:t>
            </a:r>
            <a:endParaRPr lang="en-US" sz="1400" b="1" dirty="0"/>
          </a:p>
        </p:txBody>
      </p:sp>
      <p:sp>
        <p:nvSpPr>
          <p:cNvPr id="31" name="Shape 23"/>
          <p:cNvSpPr/>
          <p:nvPr/>
        </p:nvSpPr>
        <p:spPr>
          <a:xfrm>
            <a:off x="4059936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 rot="10800000">
            <a:off x="7461504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 descr="fiche_progression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288" y="1572768"/>
            <a:ext cx="786384" cy="78638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74904" y="6464808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Fonctionnement du système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07 / 13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66928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14984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31520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Planifier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13232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Créer la séance</a:t>
            </a:r>
            <a:endParaRPr lang="en-US" sz="1400" b="1" dirty="0"/>
          </a:p>
        </p:txBody>
      </p:sp>
      <p:sp>
        <p:nvSpPr>
          <p:cNvPr id="18" name="Shape 14"/>
          <p:cNvSpPr/>
          <p:nvPr/>
        </p:nvSpPr>
        <p:spPr>
          <a:xfrm>
            <a:off x="2423160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871216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19272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035808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2962656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QR Code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3017520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Identifiant unique</a:t>
            </a:r>
            <a:endParaRPr lang="en-US" sz="1400" b="1" dirty="0"/>
          </a:p>
        </p:txBody>
      </p:sp>
      <p:sp>
        <p:nvSpPr>
          <p:cNvPr id="25" name="Shape 20"/>
          <p:cNvSpPr/>
          <p:nvPr/>
        </p:nvSpPr>
        <p:spPr>
          <a:xfrm>
            <a:off x="4727448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175504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623560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24728" y="2029968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0096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266944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Scanner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5321808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Action mobile</a:t>
            </a:r>
            <a:endParaRPr lang="en-US" sz="1400" b="1" dirty="0"/>
          </a:p>
        </p:txBody>
      </p:sp>
      <p:sp>
        <p:nvSpPr>
          <p:cNvPr id="32" name="Shape 26"/>
          <p:cNvSpPr/>
          <p:nvPr/>
        </p:nvSpPr>
        <p:spPr>
          <a:xfrm>
            <a:off x="7031736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79792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927848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7644384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580376" y="307833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Enregistrer automatiquement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7644384" y="37100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Émargement tracé</a:t>
            </a:r>
            <a:endParaRPr lang="en-US" sz="1400" b="1" dirty="0"/>
          </a:p>
        </p:txBody>
      </p:sp>
      <p:sp>
        <p:nvSpPr>
          <p:cNvPr id="39" name="Shape 32"/>
          <p:cNvSpPr/>
          <p:nvPr/>
        </p:nvSpPr>
        <p:spPr>
          <a:xfrm>
            <a:off x="9336024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9784080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10232136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33304" y="2029968"/>
            <a:ext cx="640080" cy="6400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48672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875520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Calculer</a:t>
            </a:r>
            <a:endParaRPr lang="en-US" sz="1700" dirty="0"/>
          </a:p>
        </p:txBody>
      </p:sp>
      <p:sp>
        <p:nvSpPr>
          <p:cNvPr id="45" name="Text 37"/>
          <p:cNvSpPr/>
          <p:nvPr/>
        </p:nvSpPr>
        <p:spPr>
          <a:xfrm>
            <a:off x="9930384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Honoraires</a:t>
            </a:r>
            <a:endParaRPr lang="en-US" sz="1400" b="1" dirty="0"/>
          </a:p>
        </p:txBody>
      </p:sp>
      <p:pic>
        <p:nvPicPr>
          <p:cNvPr id="48" name="Picture 47" descr="planifier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152" y="2029968"/>
            <a:ext cx="640080" cy="64008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9016" y="2029968"/>
            <a:ext cx="640080" cy="64008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06324" y="6501384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E053B-079C-DD94-CD73-9AEF1733D3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7889" y="1937417"/>
            <a:ext cx="825181" cy="825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E12D51-A84A-18D6-D4FF-75EC1E2A91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D0CAA12-6401-FFCD-1C3F-C7C012AA76D6}"/>
              </a:ext>
            </a:extLst>
          </p:cNvPr>
          <p:cNvSpPr txBox="1"/>
          <p:nvPr/>
        </p:nvSpPr>
        <p:spPr>
          <a:xfrm>
            <a:off x="736600" y="482600"/>
            <a:ext cx="7874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900" b="1" dirty="0">
                <a:solidFill>
                  <a:srgbClr val="0F4272"/>
                </a:solidFill>
                <a:latin typeface="Aptos" panose="020B0004020202020204" pitchFamily="34" charset="0"/>
              </a:rPr>
              <a:t>Architecture technique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5C14E7-9006-1832-215C-1AAB924F569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481C299D-92FD-8617-4226-14EE41FB9E83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4A72CB6A-E367-A464-A06F-F93FF498171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 dirty="0">
                <a:solidFill>
                  <a:srgbClr val="304152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08121A8-B21F-38AA-02A5-66827246C4A3}"/>
              </a:ext>
            </a:extLst>
          </p:cNvPr>
          <p:cNvSpPr txBox="1"/>
          <p:nvPr/>
        </p:nvSpPr>
        <p:spPr>
          <a:xfrm>
            <a:off x="11023600" y="6477000"/>
            <a:ext cx="50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fr-FR" sz="2000" b="1" dirty="0">
                <a:solidFill>
                  <a:srgbClr val="304152"/>
                </a:solidFill>
                <a:latin typeface="Aptos" panose="020B0004020202020204" pitchFamily="34" charset="0"/>
              </a:rPr>
              <a:t>08 / 13</a:t>
            </a:r>
          </a:p>
        </p:txBody>
      </p:sp>
      <p:pic>
        <p:nvPicPr>
          <p:cNvPr id="22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005307D4-6BFC-949F-F519-900D8A9C90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36" name="Ellipse 35">
            <a:extLst>
              <a:ext uri="{FF2B5EF4-FFF2-40B4-BE49-F238E27FC236}">
                <a16:creationId xmlns:a16="http://schemas.microsoft.com/office/drawing/2014/main" id="{E4AE8CB9-C204-4599-CCFA-0AEDE436ED6E}"/>
              </a:ext>
            </a:extLst>
          </p:cNvPr>
          <p:cNvSpPr/>
          <p:nvPr/>
        </p:nvSpPr>
        <p:spPr>
          <a:xfrm>
            <a:off x="35814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3BC23CF-A8B1-76BB-7D65-200377837808}"/>
              </a:ext>
            </a:extLst>
          </p:cNvPr>
          <p:cNvSpPr/>
          <p:nvPr/>
        </p:nvSpPr>
        <p:spPr>
          <a:xfrm>
            <a:off x="37465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0C38833-D127-CEC7-557B-FC3E073F7CF2}"/>
              </a:ext>
            </a:extLst>
          </p:cNvPr>
          <p:cNvSpPr/>
          <p:nvPr/>
        </p:nvSpPr>
        <p:spPr>
          <a:xfrm>
            <a:off x="39116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29C200DF-B028-3E33-377A-F00DD35DC088}"/>
              </a:ext>
            </a:extLst>
          </p:cNvPr>
          <p:cNvCxnSpPr/>
          <p:nvPr/>
        </p:nvCxnSpPr>
        <p:spPr>
          <a:xfrm flipH="1">
            <a:off x="3937000" y="5207000"/>
            <a:ext cx="5486400" cy="0"/>
          </a:xfrm>
          <a:prstGeom prst="line">
            <a:avLst/>
          </a:prstGeom>
          <a:ln w="21590">
            <a:solidFill>
              <a:srgbClr val="4755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BAC3447E-83A0-B0CC-668E-C42FB08480CB}"/>
              </a:ext>
            </a:extLst>
          </p:cNvPr>
          <p:cNvSpPr txBox="1"/>
          <p:nvPr/>
        </p:nvSpPr>
        <p:spPr>
          <a:xfrm>
            <a:off x="5651500" y="52959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304152"/>
                </a:solidFill>
                <a:latin typeface="Aptos" panose="020B0004020202020204" pitchFamily="34" charset="0"/>
              </a:rPr>
              <a:t>Réponse vers les interfaces</a:t>
            </a:r>
          </a:p>
        </p:txBody>
      </p:sp>
      <p:sp>
        <p:nvSpPr>
          <p:cNvPr id="500" name="Bonus EduTrack">
            <a:extLst>
              <a:ext uri="{FF2B5EF4-FFF2-40B4-BE49-F238E27FC236}">
                <a16:creationId xmlns:a16="http://schemas.microsoft.com/office/drawing/2014/main" id="{00000000-0000-0000-0000-000000000500}"/>
              </a:ext>
            </a:extLst>
          </p:cNvPr>
          <p:cNvSpPr txBox="1"/>
          <p:nvPr/>
        </p:nvSpPr>
        <p:spPr>
          <a:xfrm>
            <a:off x="2423400" y="5956849"/>
            <a:ext cx="7000000" cy="35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200" b="1" dirty="0">
                <a:solidFill>
                  <a:srgbClr val="304152"/>
                </a:solidFill>
                <a:latin typeface="Aptos" panose="020B0004020202020204" pitchFamily="34" charset="0"/>
              </a:rPr>
              <a:t>Points forts : authentification sécurisée (JWT) · calcul automatisé des honoraires</a:t>
            </a:r>
          </a:p>
        </p:txBody>
      </p:sp>
      <p:sp>
        <p:nvSpPr>
          <p:cNvPr id="501" name="Rectangle 50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Rectangle 503"/>
          <p:cNvSpPr/>
          <p:nvPr/>
        </p:nvSpPr>
        <p:spPr>
          <a:xfrm>
            <a:off x="347472" y="6392761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DBA7B-6905-576C-1AAB-1F7CDFD62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86447"/>
            <a:ext cx="12058022" cy="51454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Technologies &amp; </a:t>
            </a:r>
            <a:r>
              <a:rPr lang="en-US" sz="2900" b="1" dirty="0" err="1">
                <a:solidFill>
                  <a:srgbClr val="0F4272"/>
                </a:solidFill>
              </a:rPr>
              <a:t>Outils</a:t>
            </a:r>
            <a:r>
              <a:rPr lang="en-US" sz="2900" b="1" dirty="0">
                <a:solidFill>
                  <a:srgbClr val="0F4272"/>
                </a:solidFill>
              </a:rPr>
              <a:t> </a:t>
            </a:r>
            <a:r>
              <a:rPr lang="en-US" sz="2900" b="1" dirty="0" err="1">
                <a:solidFill>
                  <a:srgbClr val="0F4272"/>
                </a:solidFill>
              </a:rPr>
              <a:t>utilisés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09 / 13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2728" y="17373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logos/spr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856232" y="1920240"/>
            <a:ext cx="768096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62456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252728" y="320040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logos/jav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856232" y="3383280"/>
            <a:ext cx="768096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245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Java 17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252728" y="46634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MEMOIRE/logos/postgresq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856232" y="4846320"/>
            <a:ext cx="768096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62456" y="5596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11480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1148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FRONTEND ( WEB &amp; MOBILE )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81888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22392" y="2606040"/>
            <a:ext cx="768096" cy="6583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2861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Angular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81888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MEMOIRE/logos/ionic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422392" y="4160520"/>
            <a:ext cx="768096" cy="6583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2861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Ionic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7680960" y="1143000"/>
            <a:ext cx="4114800" cy="5120640"/>
          </a:xfrm>
          <a:prstGeom prst="roundRect">
            <a:avLst>
              <a:gd name="adj" fmla="val 222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768096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OUTILS &amp; CONCEPTION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74496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MEMOIRE/online_icons/gi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348472" y="2606040"/>
            <a:ext cx="768096" cy="6583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85469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Git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975664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7" name="Image 7" descr="MEMOIRE/online_icons/github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360152" y="2606040"/>
            <a:ext cx="768096" cy="6583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66376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GitHub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774496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0"/>
          <p:cNvSpPr/>
          <p:nvPr/>
        </p:nvSpPr>
        <p:spPr>
          <a:xfrm>
            <a:off x="785469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Swagger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975664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9" descr="MEMOIRE/online_icons/googleclou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360152" y="4160520"/>
            <a:ext cx="768096" cy="6583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86637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UML</a:t>
            </a:r>
            <a:endParaRPr lang="en-US" sz="1400" dirty="0"/>
          </a:p>
        </p:txBody>
      </p:sp>
      <p:sp>
        <p:nvSpPr>
          <p:cNvPr id="45" name="Rectangle 44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4340" y="6483096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9938BB8-2425-650F-44FC-1A16207B7A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9488" y="2390201"/>
            <a:ext cx="1305348" cy="11148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FD2307-87AB-DF4C-6CED-46F3595598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1584" y="3999738"/>
            <a:ext cx="1272104" cy="888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5FBEE11-17BF-B88E-DFCC-1B86629DA5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4A33213-FC21-D06B-6734-ED14965DE48E}"/>
              </a:ext>
            </a:extLst>
          </p:cNvPr>
          <p:cNvSpPr/>
          <p:nvPr/>
        </p:nvSpPr>
        <p:spPr>
          <a:xfrm>
            <a:off x="3159252" y="1436894"/>
            <a:ext cx="6604000" cy="6604000"/>
          </a:xfrm>
          <a:prstGeom prst="ellipse">
            <a:avLst/>
          </a:prstGeom>
          <a:solidFill>
            <a:srgbClr val="F8FAFC">
              <a:alpha val="2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5C1F05B-035D-5C59-24FA-E47EBFB6E315}"/>
              </a:ext>
            </a:extLst>
          </p:cNvPr>
          <p:cNvSpPr txBox="1"/>
          <p:nvPr/>
        </p:nvSpPr>
        <p:spPr>
          <a:xfrm>
            <a:off x="736600" y="482600"/>
            <a:ext cx="787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 dirty="0">
                <a:solidFill>
                  <a:srgbClr val="0F4272"/>
                </a:solidFill>
                <a:latin typeface="Aptos" panose="020B0004020202020204" pitchFamily="34" charset="0"/>
              </a:rPr>
              <a:t>DÉMONSTRATION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7E7A8-36B9-A4E0-6F40-5267DC3CD35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DAD39A9-9EFF-10CD-6329-5F73C0FD9766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60F70830-A789-A977-3A8B-264EF010625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304152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9607FFD-D2E0-FE34-0EA5-D010A643BB2A}"/>
              </a:ext>
            </a:extLst>
          </p:cNvPr>
          <p:cNvSpPr txBox="1"/>
          <p:nvPr/>
        </p:nvSpPr>
        <p:spPr>
          <a:xfrm>
            <a:off x="11023600" y="6477000"/>
            <a:ext cx="489204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2000" b="1" dirty="0">
                <a:solidFill>
                  <a:srgbClr val="304152"/>
                </a:solidFill>
                <a:latin typeface="Aptos" panose="020B0004020202020204" pitchFamily="34" charset="0"/>
              </a:rPr>
              <a:t>10 / 13</a:t>
            </a:r>
          </a:p>
        </p:txBody>
      </p:sp>
      <p:pic>
        <p:nvPicPr>
          <p:cNvPr id="21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7671DBA6-268E-2522-1A08-EE1043862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CB0193D-B7C3-C014-659F-73765B54102F}"/>
              </a:ext>
            </a:extLst>
          </p:cNvPr>
          <p:cNvSpPr txBox="1"/>
          <p:nvPr/>
        </p:nvSpPr>
        <p:spPr>
          <a:xfrm>
            <a:off x="1409700" y="1298395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b="1" dirty="0">
                <a:solidFill>
                  <a:srgbClr val="304152"/>
                </a:solidFill>
                <a:latin typeface="Aptos" panose="020B0004020202020204" pitchFamily="34" charset="0"/>
              </a:rPr>
              <a:t>Mobile enseignant et interface web administrateur pendant la démonstration.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0EDE91E6-1F75-8C77-AA8D-BEE78AE747C0}"/>
              </a:ext>
            </a:extLst>
          </p:cNvPr>
          <p:cNvSpPr/>
          <p:nvPr/>
        </p:nvSpPr>
        <p:spPr>
          <a:xfrm>
            <a:off x="4114800" y="3175000"/>
            <a:ext cx="635000" cy="1498600"/>
          </a:xfrm>
          <a:prstGeom prst="round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CB5654-6584-0CDA-B5DB-6E7E502EF8C6}"/>
              </a:ext>
            </a:extLst>
          </p:cNvPr>
          <p:cNvSpPr/>
          <p:nvPr/>
        </p:nvSpPr>
        <p:spPr>
          <a:xfrm>
            <a:off x="41529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E3ADCC-6956-7647-B17A-02B770C6C96C}"/>
              </a:ext>
            </a:extLst>
          </p:cNvPr>
          <p:cNvSpPr/>
          <p:nvPr/>
        </p:nvSpPr>
        <p:spPr>
          <a:xfrm>
            <a:off x="42672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151A43-70DD-7D4B-6DCC-EF5FEFBF49B6}"/>
              </a:ext>
            </a:extLst>
          </p:cNvPr>
          <p:cNvSpPr/>
          <p:nvPr/>
        </p:nvSpPr>
        <p:spPr>
          <a:xfrm>
            <a:off x="43815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D2D262-8EA9-AC21-FD36-0A1DC685EA05}"/>
              </a:ext>
            </a:extLst>
          </p:cNvPr>
          <p:cNvSpPr/>
          <p:nvPr/>
        </p:nvSpPr>
        <p:spPr>
          <a:xfrm>
            <a:off x="46101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277FBF-E136-ABAB-7AF1-8C134A206916}"/>
              </a:ext>
            </a:extLst>
          </p:cNvPr>
          <p:cNvSpPr/>
          <p:nvPr/>
        </p:nvSpPr>
        <p:spPr>
          <a:xfrm>
            <a:off x="41529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2784CE-CF35-279E-DDD9-6EC5567A77B9}"/>
              </a:ext>
            </a:extLst>
          </p:cNvPr>
          <p:cNvSpPr/>
          <p:nvPr/>
        </p:nvSpPr>
        <p:spPr>
          <a:xfrm>
            <a:off x="43815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CB8A71-3752-63DD-A188-6AFA15CF9B81}"/>
              </a:ext>
            </a:extLst>
          </p:cNvPr>
          <p:cNvSpPr/>
          <p:nvPr/>
        </p:nvSpPr>
        <p:spPr>
          <a:xfrm>
            <a:off x="41529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31074B-6C1B-CA84-D36A-01406297A10D}"/>
              </a:ext>
            </a:extLst>
          </p:cNvPr>
          <p:cNvSpPr/>
          <p:nvPr/>
        </p:nvSpPr>
        <p:spPr>
          <a:xfrm>
            <a:off x="43815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824D08-E438-8093-5C28-7E9ED02EABA6}"/>
              </a:ext>
            </a:extLst>
          </p:cNvPr>
          <p:cNvSpPr/>
          <p:nvPr/>
        </p:nvSpPr>
        <p:spPr>
          <a:xfrm>
            <a:off x="44958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EEDA38-FC14-3642-651A-4C97C871284E}"/>
              </a:ext>
            </a:extLst>
          </p:cNvPr>
          <p:cNvSpPr/>
          <p:nvPr/>
        </p:nvSpPr>
        <p:spPr>
          <a:xfrm>
            <a:off x="46101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7D8E05-E0CA-16FB-C337-69C3AC6B6B8E}"/>
              </a:ext>
            </a:extLst>
          </p:cNvPr>
          <p:cNvSpPr/>
          <p:nvPr/>
        </p:nvSpPr>
        <p:spPr>
          <a:xfrm>
            <a:off x="42672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03B30B-6280-DA39-2F7F-940B7BDDDF5D}"/>
              </a:ext>
            </a:extLst>
          </p:cNvPr>
          <p:cNvSpPr/>
          <p:nvPr/>
        </p:nvSpPr>
        <p:spPr>
          <a:xfrm>
            <a:off x="44958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F0FF23-79EF-2F98-7B7D-ED288E0F6D61}"/>
              </a:ext>
            </a:extLst>
          </p:cNvPr>
          <p:cNvSpPr/>
          <p:nvPr/>
        </p:nvSpPr>
        <p:spPr>
          <a:xfrm>
            <a:off x="46101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51A5B0-3265-EB1C-0DED-C7E1156C10FE}"/>
              </a:ext>
            </a:extLst>
          </p:cNvPr>
          <p:cNvSpPr/>
          <p:nvPr/>
        </p:nvSpPr>
        <p:spPr>
          <a:xfrm>
            <a:off x="43815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FC195F-A04A-3F35-B7A7-CBB43F7383AF}"/>
              </a:ext>
            </a:extLst>
          </p:cNvPr>
          <p:cNvSpPr/>
          <p:nvPr/>
        </p:nvSpPr>
        <p:spPr>
          <a:xfrm>
            <a:off x="46101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79904067-202A-E3C4-F012-7DC73409BCB8}"/>
              </a:ext>
            </a:extLst>
          </p:cNvPr>
          <p:cNvSpPr/>
          <p:nvPr/>
        </p:nvSpPr>
        <p:spPr>
          <a:xfrm>
            <a:off x="66675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A0E070B2-B428-068D-3662-6FA951F7DEC1}"/>
              </a:ext>
            </a:extLst>
          </p:cNvPr>
          <p:cNvSpPr/>
          <p:nvPr/>
        </p:nvSpPr>
        <p:spPr>
          <a:xfrm>
            <a:off x="68326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D91D1BAF-C429-C86E-A17C-F1C372EA36B9}"/>
              </a:ext>
            </a:extLst>
          </p:cNvPr>
          <p:cNvSpPr/>
          <p:nvPr/>
        </p:nvSpPr>
        <p:spPr>
          <a:xfrm>
            <a:off x="69977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34D102B1-3389-A615-4CD0-15D8D95BC2F3}"/>
              </a:ext>
            </a:extLst>
          </p:cNvPr>
          <p:cNvCxnSpPr>
            <a:cxnSpLocks/>
          </p:cNvCxnSpPr>
          <p:nvPr/>
        </p:nvCxnSpPr>
        <p:spPr>
          <a:xfrm flipH="1">
            <a:off x="3498850" y="4109679"/>
            <a:ext cx="1625600" cy="0"/>
          </a:xfrm>
          <a:prstGeom prst="line">
            <a:avLst/>
          </a:prstGeom>
          <a:ln w="3048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AF6B023-7290-D059-A22A-180211FFFCEE}"/>
              </a:ext>
            </a:extLst>
          </p:cNvPr>
          <p:cNvSpPr txBox="1"/>
          <p:nvPr/>
        </p:nvSpPr>
        <p:spPr>
          <a:xfrm>
            <a:off x="4584700" y="4247101"/>
            <a:ext cx="4826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600" b="1" dirty="0">
                <a:solidFill>
                  <a:srgbClr val="304152"/>
                </a:solidFill>
                <a:latin typeface="Aptos" panose="020B0004020202020204" pitchFamily="34" charset="0"/>
              </a:rPr>
              <a:t>API</a:t>
            </a:r>
          </a:p>
        </p:txBody>
      </p:sp>
      <p:sp>
        <p:nvSpPr>
          <p:cNvPr id="85" name="Rectangle : coins arrondis 84">
            <a:extLst>
              <a:ext uri="{FF2B5EF4-FFF2-40B4-BE49-F238E27FC236}">
                <a16:creationId xmlns:a16="http://schemas.microsoft.com/office/drawing/2014/main" id="{94B1F0D5-2515-3569-B456-9E3E679BBA7E}"/>
              </a:ext>
            </a:extLst>
          </p:cNvPr>
          <p:cNvSpPr/>
          <p:nvPr/>
        </p:nvSpPr>
        <p:spPr>
          <a:xfrm>
            <a:off x="2387600" y="5689600"/>
            <a:ext cx="7429500" cy="457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56DC26CF-9897-91D3-21BF-C9E39F109D29}"/>
              </a:ext>
            </a:extLst>
          </p:cNvPr>
          <p:cNvSpPr txBox="1"/>
          <p:nvPr/>
        </p:nvSpPr>
        <p:spPr>
          <a:xfrm>
            <a:off x="2667000" y="5829300"/>
            <a:ext cx="685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100" b="1">
                <a:solidFill>
                  <a:srgbClr val="304152"/>
                </a:solidFill>
                <a:latin typeface="Aptos" panose="020B0004020202020204" pitchFamily="34" charset="0"/>
              </a:rPr>
              <a:t>Parcours : connexion -&gt; planning -&gt; scan QR -&gt; fiche -&gt; honoraires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41706" y="6383293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9EDBC73C-F4A6-3B21-410B-2FD8D9C8F624}"/>
              </a:ext>
            </a:extLst>
          </p:cNvPr>
          <p:cNvSpPr/>
          <p:nvPr/>
        </p:nvSpPr>
        <p:spPr>
          <a:xfrm>
            <a:off x="6159500" y="1951080"/>
            <a:ext cx="5668920" cy="3382920"/>
          </a:xfrm>
          <a:prstGeom prst="roundRect">
            <a:avLst>
              <a:gd name="adj" fmla="val 1351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50254D91-ACD4-38D8-DEAD-BF657E9D95BE}"/>
              </a:ext>
            </a:extLst>
          </p:cNvPr>
          <p:cNvSpPr/>
          <p:nvPr/>
        </p:nvSpPr>
        <p:spPr>
          <a:xfrm>
            <a:off x="1022800" y="1864589"/>
            <a:ext cx="1737000" cy="3657240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" name="Picture 7" descr="arrow_right.png">
            <a:extLst>
              <a:ext uri="{FF2B5EF4-FFF2-40B4-BE49-F238E27FC236}">
                <a16:creationId xmlns:a16="http://schemas.microsoft.com/office/drawing/2014/main" id="{11C8A91D-2CBB-6A21-8326-7E53E16E5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68" y="3226479"/>
            <a:ext cx="2491684" cy="421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2CB397-7B45-2E40-421A-D8E409375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290" y="1954405"/>
            <a:ext cx="1686020" cy="3501487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5CE95D23-44FC-7A4D-EAB9-674C078C8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650" y="2015052"/>
            <a:ext cx="5569965" cy="33022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Résultats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99870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 err="1">
                <a:solidFill>
                  <a:srgbClr val="657A8C"/>
                </a:solidFill>
                <a:latin typeface="Aptos"/>
              </a:rPr>
              <a:t>Fonctionnalités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réalisées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bénéfices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observés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dans les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parcours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métier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Résultats fonctionnels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42032"/>
            <a:ext cx="3127247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Gestion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référentiels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emplois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du temps, séances, QR code,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émargements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fiches de progression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57400"/>
            <a:ext cx="420624" cy="420624"/>
          </a:xfrm>
          <a:prstGeom prst="ellipse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Résultats 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542032"/>
            <a:ext cx="3127247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Application web et mobile,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authentification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JWT,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contrôle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rôles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API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documentée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données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centralisées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94192" y="2057400"/>
            <a:ext cx="420624" cy="420624"/>
          </a:xfrm>
          <a:prstGeom prst="ellipse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Discussion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42032"/>
            <a:ext cx="3127247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Le lien séance →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émargement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→ fiche →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réduit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ruptures de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suivi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améliore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traçabilité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Conclusion &amp; perspectives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8 / 9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41248" y="3583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272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41248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984248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Suivi centralisé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984248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Données regroupées</a:t>
            </a:r>
            <a:endParaRPr lang="en-US" sz="1400" b="1" dirty="0"/>
          </a:p>
        </p:txBody>
      </p:sp>
      <p:sp>
        <p:nvSpPr>
          <p:cNvPr id="17" name="Shape 13"/>
          <p:cNvSpPr/>
          <p:nvPr/>
        </p:nvSpPr>
        <p:spPr>
          <a:xfrm>
            <a:off x="4416552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559552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Émargement fiable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559552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Émargement traçable</a:t>
            </a:r>
            <a:endParaRPr lang="en-US" sz="1400" b="1" dirty="0"/>
          </a:p>
        </p:txBody>
      </p:sp>
      <p:sp>
        <p:nvSpPr>
          <p:cNvPr id="21" name="Shape 16"/>
          <p:cNvSpPr/>
          <p:nvPr/>
        </p:nvSpPr>
        <p:spPr>
          <a:xfrm>
            <a:off x="7991856" y="4040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9134856" y="4278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134856" y="4644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Calcul automatisé</a:t>
            </a:r>
            <a:endParaRPr lang="en-US" sz="1400" b="1" dirty="0"/>
          </a:p>
        </p:txBody>
      </p:sp>
      <p:sp>
        <p:nvSpPr>
          <p:cNvPr id="25" name="Shape 19"/>
          <p:cNvSpPr/>
          <p:nvPr/>
        </p:nvSpPr>
        <p:spPr>
          <a:xfrm>
            <a:off x="841248" y="3154680"/>
            <a:ext cx="10561320" cy="32004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41248" y="113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272"/>
                </a:solidFill>
              </a:rPr>
              <a:t>Perspectives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841248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MEMOIRE/online_icons/studen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2416" y="1793240"/>
            <a:ext cx="786384" cy="7863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984248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Module étudiant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1984248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Espace dédié</a:t>
            </a:r>
            <a:endParaRPr lang="en-US" sz="1400" b="1" dirty="0"/>
          </a:p>
        </p:txBody>
      </p:sp>
      <p:sp>
        <p:nvSpPr>
          <p:cNvPr id="31" name="Shape 24"/>
          <p:cNvSpPr/>
          <p:nvPr/>
        </p:nvSpPr>
        <p:spPr>
          <a:xfrm>
            <a:off x="3639312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MEMOIRE/online_icons/gmai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40480" y="1793240"/>
            <a:ext cx="786384" cy="7863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82312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Notifications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4782312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Email / SMS</a:t>
            </a:r>
            <a:endParaRPr lang="en-US" sz="1400" b="1" dirty="0"/>
          </a:p>
        </p:txBody>
      </p:sp>
      <p:sp>
        <p:nvSpPr>
          <p:cNvPr id="35" name="Shape 27"/>
          <p:cNvSpPr/>
          <p:nvPr/>
        </p:nvSpPr>
        <p:spPr>
          <a:xfrm>
            <a:off x="6437376" y="1592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MEMOIRE/online_icons/strip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638544" y="1793240"/>
            <a:ext cx="786384" cy="7863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80376" y="1829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Paiement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7580376" y="2195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Mobile money</a:t>
            </a:r>
            <a:endParaRPr lang="en-US" sz="1400" b="1" dirty="0"/>
          </a:p>
        </p:txBody>
      </p:sp>
      <p:sp>
        <p:nvSpPr>
          <p:cNvPr id="39" name="Shape 30"/>
          <p:cNvSpPr/>
          <p:nvPr/>
        </p:nvSpPr>
        <p:spPr>
          <a:xfrm>
            <a:off x="9235440" y="1592072"/>
            <a:ext cx="2651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31"/>
          <p:cNvSpPr txBox="1"/>
          <p:nvPr/>
        </p:nvSpPr>
        <p:spPr>
          <a:xfrm>
            <a:off x="10378440" y="1829816"/>
            <a:ext cx="145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4272"/>
                </a:solidFill>
              </a:rPr>
              <a:t>Signature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10378440" y="2195576"/>
            <a:ext cx="145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Enseignants</a:t>
            </a:r>
          </a:p>
        </p:txBody>
      </p:sp>
      <p:pic>
        <p:nvPicPr>
          <p:cNvPr id="43" name="Picture 42" descr="clock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4241800"/>
            <a:ext cx="786384" cy="786384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608" y="1793240"/>
            <a:ext cx="786384" cy="786384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47472" y="6565392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A38882-F54D-624F-4A60-35780973EB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8808" y="4111625"/>
            <a:ext cx="1493127" cy="91363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19D6956-2873-5918-4FA0-F6CDB7E8C6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973" y="4092194"/>
            <a:ext cx="876989" cy="884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Oval 182"/>
          <p:cNvSpPr/>
          <p:nvPr/>
        </p:nvSpPr>
        <p:spPr>
          <a:xfrm>
            <a:off x="7772400" y="61331"/>
            <a:ext cx="3657600" cy="3657600"/>
          </a:xfrm>
          <a:prstGeom prst="ellipse">
            <a:avLst/>
          </a:prstGeom>
          <a:solidFill>
            <a:srgbClr val="0F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ounded Rectangle 183"/>
          <p:cNvSpPr/>
          <p:nvPr/>
        </p:nvSpPr>
        <p:spPr>
          <a:xfrm>
            <a:off x="338328" y="155448"/>
            <a:ext cx="1481328" cy="749808"/>
          </a:xfrm>
          <a:prstGeom prst="roundRect">
            <a:avLst>
              <a:gd name="adj" fmla="val 12000"/>
            </a:avLst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5" name="Picture 18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3464"/>
            <a:ext cx="1344168" cy="393192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384048" y="1315397"/>
            <a:ext cx="261796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1868AB"/>
                </a:solidFill>
                <a:latin typeface="Aptos"/>
              </a:rPr>
              <a:t>PROJET DE FIN DE CYCLE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84048" y="1737360"/>
            <a:ext cx="5532120" cy="1325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F4272"/>
                </a:solidFill>
                <a:latin typeface="Aptos Display"/>
              </a:rPr>
              <a:t>Merci pour</a:t>
            </a:r>
            <a:br/>
            <a:r>
              <a:rPr sz="3400" b="1">
                <a:solidFill>
                  <a:srgbClr val="0F4272"/>
                </a:solidFill>
                <a:latin typeface="Aptos Display"/>
              </a:rPr>
              <a:t>votre attention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84048" y="3246120"/>
            <a:ext cx="960120" cy="64008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384048" y="3529584"/>
            <a:ext cx="219456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1868AB"/>
                </a:solidFill>
                <a:latin typeface="Aptos Display"/>
              </a:rPr>
              <a:t>EduTrack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84048" y="4133754"/>
            <a:ext cx="3760260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>
                <a:solidFill>
                  <a:srgbClr val="304152"/>
                </a:solidFill>
                <a:latin typeface="Aptos"/>
              </a:rPr>
              <a:t>Une solution web et mobile pour un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suivi</a:t>
            </a:r>
            <a:br>
              <a:rPr b="1" dirty="0"/>
            </a:br>
            <a:r>
              <a:rPr sz="1600" b="1" dirty="0" err="1">
                <a:solidFill>
                  <a:srgbClr val="304152"/>
                </a:solidFill>
                <a:latin typeface="Aptos"/>
              </a:rPr>
              <a:t>pédagogique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 plus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fiable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 et plus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fluide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93776" y="5824728"/>
            <a:ext cx="31546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dirty="0">
                <a:solidFill>
                  <a:srgbClr val="FFFFFF"/>
                </a:solidFill>
                <a:latin typeface="Aptos"/>
              </a:rPr>
              <a:t>MOUSSA BALLA KEITA  ·  AYA BOURAMA</a:t>
            </a:r>
          </a:p>
        </p:txBody>
      </p:sp>
      <p:sp>
        <p:nvSpPr>
          <p:cNvPr id="196" name="Oval 195"/>
          <p:cNvSpPr/>
          <p:nvPr/>
        </p:nvSpPr>
        <p:spPr>
          <a:xfrm>
            <a:off x="4890030" y="2545937"/>
            <a:ext cx="2148840" cy="4160520"/>
          </a:xfrm>
          <a:prstGeom prst="ellipse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5A6E80"/>
                </a:solidFill>
                <a:latin typeface="Aptos"/>
              </a:rPr>
              <a:t>13 / 13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199632" y="5266944"/>
            <a:ext cx="416052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0F4272"/>
                </a:solidFill>
                <a:latin typeface="Aptos"/>
              </a:rPr>
              <a:t>Questions &amp; </a:t>
            </a:r>
            <a:r>
              <a:rPr sz="1400" b="1" dirty="0" err="1">
                <a:solidFill>
                  <a:srgbClr val="0F4272"/>
                </a:solidFill>
                <a:latin typeface="Aptos"/>
              </a:rPr>
              <a:t>échanges</a:t>
            </a:r>
            <a:r>
              <a:rPr sz="1400" b="1" dirty="0">
                <a:solidFill>
                  <a:srgbClr val="0F4272"/>
                </a:solidFill>
                <a:latin typeface="Aptos"/>
              </a:rPr>
              <a:t> — 30 minutes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682</Words>
  <Application>Microsoft Office PowerPoint</Application>
  <PresentationFormat>Widescreen</PresentationFormat>
  <Paragraphs>154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INTEC SUP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EduTrack soutenance 3</dc:title>
  <dc:subject>Soutenance EduTrack</dc:subject>
  <dc:creator>EduTrack</dc:creator>
  <cp:lastModifiedBy>Bourama Aya</cp:lastModifiedBy>
  <cp:revision>44</cp:revision>
  <dcterms:created xsi:type="dcterms:W3CDTF">2026-07-12T14:22:44Z</dcterms:created>
  <dcterms:modified xsi:type="dcterms:W3CDTF">2026-08-29T20:42:09Z</dcterms:modified>
</cp:coreProperties>
</file>