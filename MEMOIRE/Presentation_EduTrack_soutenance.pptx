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Shape 3"/>
          <p:cNvSpPr/>
          <p:nvPr/>
        </p:nvSpPr>
        <p:spPr>
          <a:xfrm>
            <a:off x="-1097280" y="-822960"/>
            <a:ext cx="3657240" cy="3657240"/>
          </a:xfrm>
          <a:prstGeom prst="roundRect">
            <a:avLst>
              <a:gd name="adj" fmla="val 16667"/>
            </a:avLst>
          </a:prstGeom>
          <a:solidFill>
            <a:srgbClr val="dbeafe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601200" y="5029200"/>
            <a:ext cx="2742840" cy="2742840"/>
          </a:xfrm>
          <a:prstGeom prst="roundRect">
            <a:avLst>
              <a:gd name="adj" fmla="val 16667"/>
            </a:avLst>
          </a:prstGeom>
          <a:solidFill>
            <a:srgbClr val="fef3c7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Shape 30"/>
          <p:cNvSpPr/>
          <p:nvPr/>
        </p:nvSpPr>
        <p:spPr>
          <a:xfrm>
            <a:off x="640080" y="594360"/>
            <a:ext cx="5394600" cy="530316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Shape 31"/>
          <p:cNvSpPr/>
          <p:nvPr/>
        </p:nvSpPr>
        <p:spPr>
          <a:xfrm>
            <a:off x="5577840" y="594360"/>
            <a:ext cx="5943240" cy="530316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Text 32"/>
          <p:cNvSpPr/>
          <p:nvPr/>
        </p:nvSpPr>
        <p:spPr>
          <a:xfrm>
            <a:off x="960120" y="960120"/>
            <a:ext cx="47088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4400" spc="-1" strike="noStrike">
                <a:solidFill>
                  <a:srgbClr val="ffffff"/>
                </a:solidFill>
                <a:latin typeface="Aptos"/>
              </a:rPr>
              <a:t>EduTrack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Text 33"/>
          <p:cNvSpPr/>
          <p:nvPr/>
        </p:nvSpPr>
        <p:spPr>
          <a:xfrm>
            <a:off x="987480" y="1755720"/>
            <a:ext cx="44802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800" spc="-1" strike="noStrike">
                <a:solidFill>
                  <a:srgbClr val="cbd5e1"/>
                </a:solidFill>
                <a:latin typeface="Aptos"/>
              </a:rPr>
              <a:t>Système de suivi pédagogique et de gestion automatisée des honoraires enseignants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Bullets 34"/>
          <p:cNvSpPr/>
          <p:nvPr/>
        </p:nvSpPr>
        <p:spPr>
          <a:xfrm>
            <a:off x="941760" y="2926080"/>
            <a:ext cx="46630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228600">
              <a:lnSpc>
                <a:spcPct val="100000"/>
              </a:lnSpc>
              <a:buClr>
                <a:srgbClr val="334155"/>
              </a:buClr>
              <a:buFont typeface="Symbol" charset="2"/>
              <a:buChar char=""/>
            </a:pPr>
            <a:r>
              <a:rPr b="0" lang="fr-FR" sz="1500" spc="-1" strike="noStrike">
                <a:solidFill>
                  <a:srgbClr val="334155"/>
                </a:solidFill>
                <a:latin typeface="Aptos"/>
              </a:rPr>
              <a:t>Application web pour l’administration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-228600">
              <a:lnSpc>
                <a:spcPct val="100000"/>
              </a:lnSpc>
              <a:buClr>
                <a:srgbClr val="334155"/>
              </a:buClr>
              <a:buFont typeface="Symbol" charset="2"/>
              <a:buChar char=""/>
            </a:pPr>
            <a:r>
              <a:rPr b="0" lang="fr-FR" sz="1500" spc="-1" strike="noStrike">
                <a:solidFill>
                  <a:srgbClr val="334155"/>
                </a:solidFill>
                <a:latin typeface="Aptos"/>
              </a:rPr>
              <a:t>Application mobile pour les enseignants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-228600">
              <a:lnSpc>
                <a:spcPct val="100000"/>
              </a:lnSpc>
              <a:buClr>
                <a:srgbClr val="334155"/>
              </a:buClr>
              <a:buFont typeface="Symbol" charset="2"/>
              <a:buChar char=""/>
            </a:pPr>
            <a:r>
              <a:rPr b="0" lang="fr-FR" sz="1500" spc="-1" strike="noStrike">
                <a:solidFill>
                  <a:srgbClr val="334155"/>
                </a:solidFill>
                <a:latin typeface="Aptos"/>
              </a:rPr>
              <a:t>Backend sécurisé avec QR Code et JWT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Shape 35"/>
          <p:cNvSpPr/>
          <p:nvPr/>
        </p:nvSpPr>
        <p:spPr>
          <a:xfrm>
            <a:off x="960120" y="5120640"/>
            <a:ext cx="2011320" cy="38376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Text 36"/>
          <p:cNvSpPr/>
          <p:nvPr/>
        </p:nvSpPr>
        <p:spPr>
          <a:xfrm>
            <a:off x="1078920" y="5193720"/>
            <a:ext cx="1828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100" spc="-1" strike="noStrike">
                <a:solidFill>
                  <a:srgbClr val="ffffff"/>
                </a:solidFill>
                <a:latin typeface="Aptos"/>
              </a:rPr>
              <a:t>Soutenance • 15 minutes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" name="logo_INTEC_nom_Horizon-1-3-1.png" descr=""/>
          <p:cNvPicPr/>
          <p:nvPr/>
        </p:nvPicPr>
        <p:blipFill>
          <a:blip r:embed="rId1"/>
          <a:stretch/>
        </p:blipFill>
        <p:spPr>
          <a:xfrm>
            <a:off x="6766560" y="1874520"/>
            <a:ext cx="3200040" cy="1416960"/>
          </a:xfrm>
          <a:prstGeom prst="rect">
            <a:avLst/>
          </a:prstGeom>
          <a:ln w="0">
            <a:noFill/>
          </a:ln>
        </p:spPr>
      </p:pic>
      <p:sp>
        <p:nvSpPr>
          <p:cNvPr id="15" name="Text 38"/>
          <p:cNvSpPr/>
          <p:nvPr/>
        </p:nvSpPr>
        <p:spPr>
          <a:xfrm>
            <a:off x="6400800" y="3703320"/>
            <a:ext cx="42058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fr-FR" sz="2000" spc="-1" strike="noStrike">
                <a:solidFill>
                  <a:srgbClr val="0f172a"/>
                </a:solidFill>
                <a:latin typeface="Aptos"/>
              </a:rPr>
              <a:t>Une solution simple pour suivre les cours, les présences et les paiements.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Text 900"/>
          <p:cNvSpPr/>
          <p:nvPr/>
        </p:nvSpPr>
        <p:spPr>
          <a:xfrm>
            <a:off x="10012680" y="6336720"/>
            <a:ext cx="1005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fr-FR" sz="900" spc="-1" strike="noStrike">
                <a:solidFill>
                  <a:srgbClr val="64748b"/>
                </a:solidFill>
                <a:latin typeface="Aptos"/>
              </a:rPr>
              <a:t>1/12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4000">
        <p:wheel spokes="1"/>
      </p:transition>
    </mc:Choice>
    <mc:Fallback>
      <p:transition spd="slow">
        <p:wheel spokes="1"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Shape 3"/>
          <p:cNvSpPr/>
          <p:nvPr/>
        </p:nvSpPr>
        <p:spPr>
          <a:xfrm>
            <a:off x="-1097280" y="-822960"/>
            <a:ext cx="3657240" cy="3657240"/>
          </a:xfrm>
          <a:prstGeom prst="roundRect">
            <a:avLst>
              <a:gd name="adj" fmla="val 16667"/>
            </a:avLst>
          </a:prstGeom>
          <a:solidFill>
            <a:srgbClr val="dbeafe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Shape 4"/>
          <p:cNvSpPr/>
          <p:nvPr/>
        </p:nvSpPr>
        <p:spPr>
          <a:xfrm>
            <a:off x="9601200" y="5029200"/>
            <a:ext cx="2742840" cy="2742840"/>
          </a:xfrm>
          <a:prstGeom prst="roundRect">
            <a:avLst>
              <a:gd name="adj" fmla="val 16667"/>
            </a:avLst>
          </a:prstGeom>
          <a:solidFill>
            <a:srgbClr val="fef3c7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594360" y="320040"/>
            <a:ext cx="8046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3000" spc="-1" strike="noStrike">
                <a:solidFill>
                  <a:srgbClr val="0f172a"/>
                </a:solidFill>
                <a:latin typeface="Aptos"/>
              </a:rPr>
              <a:t>1. Le problème constaté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621720" y="841320"/>
            <a:ext cx="95094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Dans beaucoup d’établissements, le suivi pédagogique reste difficile à contrôler.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Shape 12"/>
          <p:cNvSpPr/>
          <p:nvPr/>
        </p:nvSpPr>
        <p:spPr>
          <a:xfrm>
            <a:off x="621720" y="1261800"/>
            <a:ext cx="959760" cy="45360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960" bIns="-396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30"/>
          <p:cNvSpPr/>
          <p:nvPr/>
        </p:nvSpPr>
        <p:spPr>
          <a:xfrm>
            <a:off x="685800" y="1600200"/>
            <a:ext cx="498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Shape 31"/>
          <p:cNvSpPr/>
          <p:nvPr/>
        </p:nvSpPr>
        <p:spPr>
          <a:xfrm>
            <a:off x="685800" y="1600200"/>
            <a:ext cx="72720" cy="111528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 32"/>
          <p:cNvSpPr/>
          <p:nvPr/>
        </p:nvSpPr>
        <p:spPr>
          <a:xfrm>
            <a:off x="887040" y="1764720"/>
            <a:ext cx="461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Présences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Text 33"/>
          <p:cNvSpPr/>
          <p:nvPr/>
        </p:nvSpPr>
        <p:spPr>
          <a:xfrm>
            <a:off x="887040" y="2167200"/>
            <a:ext cx="459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Les émargements sont souvent manuels ou difficiles à vérifier.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Shape 34"/>
          <p:cNvSpPr/>
          <p:nvPr/>
        </p:nvSpPr>
        <p:spPr>
          <a:xfrm>
            <a:off x="6016680" y="1600200"/>
            <a:ext cx="498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Shape 35"/>
          <p:cNvSpPr/>
          <p:nvPr/>
        </p:nvSpPr>
        <p:spPr>
          <a:xfrm>
            <a:off x="6016680" y="1600200"/>
            <a:ext cx="72720" cy="1115280"/>
          </a:xfrm>
          <a:prstGeom prst="rect">
            <a:avLst/>
          </a:prstGeom>
          <a:solidFill>
            <a:srgbClr val="16a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Text 36"/>
          <p:cNvSpPr/>
          <p:nvPr/>
        </p:nvSpPr>
        <p:spPr>
          <a:xfrm>
            <a:off x="6217920" y="1764720"/>
            <a:ext cx="461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Fiche de progression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37"/>
          <p:cNvSpPr/>
          <p:nvPr/>
        </p:nvSpPr>
        <p:spPr>
          <a:xfrm>
            <a:off x="6217920" y="2167200"/>
            <a:ext cx="459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Les contenus réalisés en classe ne sont pas toujours centralisés.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38"/>
          <p:cNvSpPr/>
          <p:nvPr/>
        </p:nvSpPr>
        <p:spPr>
          <a:xfrm>
            <a:off x="685800" y="3035880"/>
            <a:ext cx="498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Shape 39"/>
          <p:cNvSpPr/>
          <p:nvPr/>
        </p:nvSpPr>
        <p:spPr>
          <a:xfrm>
            <a:off x="685800" y="3035880"/>
            <a:ext cx="72720" cy="11152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40"/>
          <p:cNvSpPr/>
          <p:nvPr/>
        </p:nvSpPr>
        <p:spPr>
          <a:xfrm>
            <a:off x="887040" y="3200400"/>
            <a:ext cx="461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Honoraires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 41"/>
          <p:cNvSpPr/>
          <p:nvPr/>
        </p:nvSpPr>
        <p:spPr>
          <a:xfrm>
            <a:off x="887040" y="3602880"/>
            <a:ext cx="459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Le calcul des heures et des montants prend du temps.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Shape 42"/>
          <p:cNvSpPr/>
          <p:nvPr/>
        </p:nvSpPr>
        <p:spPr>
          <a:xfrm>
            <a:off x="6016680" y="3035880"/>
            <a:ext cx="498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Shape 43"/>
          <p:cNvSpPr/>
          <p:nvPr/>
        </p:nvSpPr>
        <p:spPr>
          <a:xfrm>
            <a:off x="6016680" y="3035880"/>
            <a:ext cx="72720" cy="111528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Text 44"/>
          <p:cNvSpPr/>
          <p:nvPr/>
        </p:nvSpPr>
        <p:spPr>
          <a:xfrm>
            <a:off x="6217920" y="3200400"/>
            <a:ext cx="461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Contrôle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 45"/>
          <p:cNvSpPr/>
          <p:nvPr/>
        </p:nvSpPr>
        <p:spPr>
          <a:xfrm>
            <a:off x="6217920" y="3602880"/>
            <a:ext cx="459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Il manque une vue claire pour l’administration.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900"/>
          <p:cNvSpPr/>
          <p:nvPr/>
        </p:nvSpPr>
        <p:spPr>
          <a:xfrm>
            <a:off x="10012680" y="6336720"/>
            <a:ext cx="1005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fr-FR" sz="900" spc="-1" strike="noStrike">
                <a:solidFill>
                  <a:srgbClr val="64748b"/>
                </a:solidFill>
                <a:latin typeface="Aptos"/>
              </a:rPr>
              <a:t>2/12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>
        <p:pull dir="d"/>
      </p:transition>
    </mc:Choice>
    <mc:Fallback>
      <p:transition spd="slow">
        <p:pull dir="d"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Shape 3"/>
          <p:cNvSpPr/>
          <p:nvPr/>
        </p:nvSpPr>
        <p:spPr>
          <a:xfrm>
            <a:off x="-1097280" y="-822960"/>
            <a:ext cx="3657240" cy="3657240"/>
          </a:xfrm>
          <a:prstGeom prst="roundRect">
            <a:avLst>
              <a:gd name="adj" fmla="val 16667"/>
            </a:avLst>
          </a:prstGeom>
          <a:solidFill>
            <a:srgbClr val="dbeafe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4"/>
          <p:cNvSpPr/>
          <p:nvPr/>
        </p:nvSpPr>
        <p:spPr>
          <a:xfrm>
            <a:off x="9601200" y="5029200"/>
            <a:ext cx="2742840" cy="2742840"/>
          </a:xfrm>
          <a:prstGeom prst="roundRect">
            <a:avLst>
              <a:gd name="adj" fmla="val 16667"/>
            </a:avLst>
          </a:prstGeom>
          <a:solidFill>
            <a:srgbClr val="fef3c7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10"/>
          <p:cNvSpPr/>
          <p:nvPr/>
        </p:nvSpPr>
        <p:spPr>
          <a:xfrm>
            <a:off x="594360" y="320040"/>
            <a:ext cx="8046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3000" spc="-1" strike="noStrike">
                <a:solidFill>
                  <a:srgbClr val="0f172a"/>
                </a:solidFill>
                <a:latin typeface="Aptos"/>
              </a:rPr>
              <a:t>2. Notre solution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11"/>
          <p:cNvSpPr/>
          <p:nvPr/>
        </p:nvSpPr>
        <p:spPr>
          <a:xfrm>
            <a:off x="621720" y="841320"/>
            <a:ext cx="95094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EduTrack centralise le suivi des cours, des présences et des paiements.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12"/>
          <p:cNvSpPr/>
          <p:nvPr/>
        </p:nvSpPr>
        <p:spPr>
          <a:xfrm>
            <a:off x="621720" y="1261800"/>
            <a:ext cx="959760" cy="45360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960" bIns="-396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Bullets 30"/>
          <p:cNvSpPr/>
          <p:nvPr/>
        </p:nvSpPr>
        <p:spPr>
          <a:xfrm>
            <a:off x="868680" y="1600200"/>
            <a:ext cx="6766200" cy="34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228600">
              <a:lnSpc>
                <a:spcPct val="100000"/>
              </a:lnSpc>
              <a:buClr>
                <a:srgbClr val="334155"/>
              </a:buClr>
              <a:buFont typeface="Symbol" charset="2"/>
              <a:buChar char=""/>
            </a:pPr>
            <a:r>
              <a:rPr b="0" lang="fr-FR" sz="2200" spc="-1" strike="noStrike">
                <a:solidFill>
                  <a:srgbClr val="334155"/>
                </a:solidFill>
                <a:latin typeface="Aptos"/>
              </a:rPr>
              <a:t>Un enseignant scanne un QR Code pour confirmer sa présence.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343080" indent="-228600">
              <a:lnSpc>
                <a:spcPct val="100000"/>
              </a:lnSpc>
              <a:buClr>
                <a:srgbClr val="334155"/>
              </a:buClr>
              <a:buFont typeface="Symbol" charset="2"/>
              <a:buChar char=""/>
            </a:pPr>
            <a:r>
              <a:rPr b="0" lang="fr-FR" sz="2200" spc="-1" strike="noStrike">
                <a:solidFill>
                  <a:srgbClr val="334155"/>
                </a:solidFill>
                <a:latin typeface="Aptos"/>
              </a:rPr>
              <a:t>Il remplit ensuite la fiche de progression du cours.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343080" indent="-228600">
              <a:lnSpc>
                <a:spcPct val="100000"/>
              </a:lnSpc>
              <a:buClr>
                <a:srgbClr val="334155"/>
              </a:buClr>
              <a:buFont typeface="Symbol" charset="2"/>
              <a:buChar char=""/>
            </a:pPr>
            <a:r>
              <a:rPr b="0" lang="fr-FR" sz="2200" spc="-1" strike="noStrike">
                <a:solidFill>
                  <a:srgbClr val="334155"/>
                </a:solidFill>
                <a:latin typeface="Aptos"/>
              </a:rPr>
              <a:t>L’administration suit les présences et valide les informations.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343080" indent="-228600">
              <a:lnSpc>
                <a:spcPct val="100000"/>
              </a:lnSpc>
              <a:buClr>
                <a:srgbClr val="334155"/>
              </a:buClr>
              <a:buFont typeface="Symbol" charset="2"/>
              <a:buChar char=""/>
            </a:pPr>
            <a:r>
              <a:rPr b="0" lang="fr-FR" sz="2200" spc="-1" strike="noStrike">
                <a:solidFill>
                  <a:srgbClr val="334155"/>
                </a:solidFill>
                <a:latin typeface="Aptos"/>
              </a:rPr>
              <a:t>Le système calcule les honoraires à partir des séances réellement effectuées.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 900"/>
          <p:cNvSpPr/>
          <p:nvPr/>
        </p:nvSpPr>
        <p:spPr>
          <a:xfrm>
            <a:off x="10012680" y="6336720"/>
            <a:ext cx="1005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fr-FR" sz="900" spc="-1" strike="noStrike">
                <a:solidFill>
                  <a:srgbClr val="64748b"/>
                </a:solidFill>
                <a:latin typeface="Aptos"/>
              </a:rPr>
              <a:t>3/12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>
        <p:wipe dir="u"/>
      </p:transition>
    </mc:Choice>
    <mc:Fallback>
      <p:transition spd="slow">
        <p:wipe dir="u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Shape 3"/>
          <p:cNvSpPr/>
          <p:nvPr/>
        </p:nvSpPr>
        <p:spPr>
          <a:xfrm>
            <a:off x="-1097280" y="-822960"/>
            <a:ext cx="3657240" cy="3657240"/>
          </a:xfrm>
          <a:prstGeom prst="roundRect">
            <a:avLst>
              <a:gd name="adj" fmla="val 16667"/>
            </a:avLst>
          </a:prstGeom>
          <a:solidFill>
            <a:srgbClr val="dbeafe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9601200" y="5029200"/>
            <a:ext cx="2742840" cy="2742840"/>
          </a:xfrm>
          <a:prstGeom prst="roundRect">
            <a:avLst>
              <a:gd name="adj" fmla="val 16667"/>
            </a:avLst>
          </a:prstGeom>
          <a:solidFill>
            <a:srgbClr val="fef3c7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10"/>
          <p:cNvSpPr/>
          <p:nvPr/>
        </p:nvSpPr>
        <p:spPr>
          <a:xfrm>
            <a:off x="594360" y="320040"/>
            <a:ext cx="8046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3000" spc="-1" strike="noStrike">
                <a:solidFill>
                  <a:srgbClr val="0f172a"/>
                </a:solidFill>
                <a:latin typeface="Aptos"/>
              </a:rPr>
              <a:t>3. Les acteurs du système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1"/>
          <p:cNvSpPr/>
          <p:nvPr/>
        </p:nvSpPr>
        <p:spPr>
          <a:xfrm>
            <a:off x="621720" y="841320"/>
            <a:ext cx="95094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Deux profils principaux utilisent EduTrack.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hape 12"/>
          <p:cNvSpPr/>
          <p:nvPr/>
        </p:nvSpPr>
        <p:spPr>
          <a:xfrm>
            <a:off x="621720" y="1261800"/>
            <a:ext cx="959760" cy="45360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960" bIns="-396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4" name="Diagramme_cas_utilisation_vf_png.png" descr=""/>
          <p:cNvPicPr/>
          <p:nvPr/>
        </p:nvPicPr>
        <p:blipFill>
          <a:blip r:embed="rId1"/>
          <a:stretch/>
        </p:blipFill>
        <p:spPr>
          <a:xfrm>
            <a:off x="2856600" y="1505520"/>
            <a:ext cx="7223400" cy="4434480"/>
          </a:xfrm>
          <a:prstGeom prst="rect">
            <a:avLst/>
          </a:prstGeom>
          <a:ln w="0">
            <a:noFill/>
          </a:ln>
        </p:spPr>
      </p:pic>
      <p:sp>
        <p:nvSpPr>
          <p:cNvPr id="55" name="Text 31"/>
          <p:cNvSpPr/>
          <p:nvPr/>
        </p:nvSpPr>
        <p:spPr>
          <a:xfrm>
            <a:off x="841320" y="5870520"/>
            <a:ext cx="10058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fr-FR" sz="1200" spc="-1" strike="noStrike">
                <a:solidFill>
                  <a:srgbClr val="64748b"/>
                </a:solidFill>
                <a:latin typeface="Aptos"/>
              </a:rPr>
              <a:t>Administrateur : gère les données et supervise. Enseignant : consulte, émarge et remplit sa Fiche de progression.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900"/>
          <p:cNvSpPr/>
          <p:nvPr/>
        </p:nvSpPr>
        <p:spPr>
          <a:xfrm>
            <a:off x="10012680" y="6336720"/>
            <a:ext cx="1005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fr-FR" sz="900" spc="-1" strike="noStrike">
                <a:solidFill>
                  <a:srgbClr val="64748b"/>
                </a:solidFill>
                <a:latin typeface="Aptos"/>
              </a:rPr>
              <a:t>4/12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>
        <p:wedge/>
      </p:transition>
    </mc:Choice>
    <mc:Fallback>
      <p:transition spd="slow">
        <p:wedg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3"/>
          <p:cNvSpPr/>
          <p:nvPr/>
        </p:nvSpPr>
        <p:spPr>
          <a:xfrm>
            <a:off x="-1097280" y="-822960"/>
            <a:ext cx="3657240" cy="3657240"/>
          </a:xfrm>
          <a:prstGeom prst="roundRect">
            <a:avLst>
              <a:gd name="adj" fmla="val 16667"/>
            </a:avLst>
          </a:prstGeom>
          <a:solidFill>
            <a:srgbClr val="dbeafe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4"/>
          <p:cNvSpPr/>
          <p:nvPr/>
        </p:nvSpPr>
        <p:spPr>
          <a:xfrm>
            <a:off x="9601200" y="5029200"/>
            <a:ext cx="2742840" cy="2742840"/>
          </a:xfrm>
          <a:prstGeom prst="roundRect">
            <a:avLst>
              <a:gd name="adj" fmla="val 16667"/>
            </a:avLst>
          </a:prstGeom>
          <a:solidFill>
            <a:srgbClr val="fef3c7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10"/>
          <p:cNvSpPr/>
          <p:nvPr/>
        </p:nvSpPr>
        <p:spPr>
          <a:xfrm>
            <a:off x="594360" y="320040"/>
            <a:ext cx="8046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3000" spc="-1" strike="noStrike">
                <a:solidFill>
                  <a:srgbClr val="0f172a"/>
                </a:solidFill>
                <a:latin typeface="Aptos"/>
              </a:rPr>
              <a:t>4. Ce que fait l’administrateur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11"/>
          <p:cNvSpPr/>
          <p:nvPr/>
        </p:nvSpPr>
        <p:spPr>
          <a:xfrm>
            <a:off x="621720" y="841320"/>
            <a:ext cx="95094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L’interface web permet de piloter tout le système.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12"/>
          <p:cNvSpPr/>
          <p:nvPr/>
        </p:nvSpPr>
        <p:spPr>
          <a:xfrm>
            <a:off x="621720" y="1261800"/>
            <a:ext cx="959760" cy="45360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960" bIns="-396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Shape 30"/>
          <p:cNvSpPr/>
          <p:nvPr/>
        </p:nvSpPr>
        <p:spPr>
          <a:xfrm>
            <a:off x="685800" y="1600200"/>
            <a:ext cx="327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31"/>
          <p:cNvSpPr/>
          <p:nvPr/>
        </p:nvSpPr>
        <p:spPr>
          <a:xfrm>
            <a:off x="685800" y="1600200"/>
            <a:ext cx="72720" cy="111528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32"/>
          <p:cNvSpPr/>
          <p:nvPr/>
        </p:nvSpPr>
        <p:spPr>
          <a:xfrm>
            <a:off x="887040" y="1764720"/>
            <a:ext cx="290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Utilisateurs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33"/>
          <p:cNvSpPr/>
          <p:nvPr/>
        </p:nvSpPr>
        <p:spPr>
          <a:xfrm>
            <a:off x="887040" y="2167200"/>
            <a:ext cx="288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Créer et modifier les enseignants et administrateurs.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34"/>
          <p:cNvSpPr/>
          <p:nvPr/>
        </p:nvSpPr>
        <p:spPr>
          <a:xfrm>
            <a:off x="4306680" y="1600200"/>
            <a:ext cx="327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35"/>
          <p:cNvSpPr/>
          <p:nvPr/>
        </p:nvSpPr>
        <p:spPr>
          <a:xfrm>
            <a:off x="4306680" y="1600200"/>
            <a:ext cx="72720" cy="1115280"/>
          </a:xfrm>
          <a:prstGeom prst="rect">
            <a:avLst/>
          </a:prstGeom>
          <a:solidFill>
            <a:srgbClr val="16a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 36"/>
          <p:cNvSpPr/>
          <p:nvPr/>
        </p:nvSpPr>
        <p:spPr>
          <a:xfrm>
            <a:off x="4507920" y="1764720"/>
            <a:ext cx="290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Référentiel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37"/>
          <p:cNvSpPr/>
          <p:nvPr/>
        </p:nvSpPr>
        <p:spPr>
          <a:xfrm>
            <a:off x="4507920" y="2167200"/>
            <a:ext cx="288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Gérer départements, filières, classes, matières et salles.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38"/>
          <p:cNvSpPr/>
          <p:nvPr/>
        </p:nvSpPr>
        <p:spPr>
          <a:xfrm>
            <a:off x="7927920" y="1600200"/>
            <a:ext cx="327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39"/>
          <p:cNvSpPr/>
          <p:nvPr/>
        </p:nvSpPr>
        <p:spPr>
          <a:xfrm>
            <a:off x="7927920" y="1600200"/>
            <a:ext cx="72720" cy="11152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40"/>
          <p:cNvSpPr/>
          <p:nvPr/>
        </p:nvSpPr>
        <p:spPr>
          <a:xfrm>
            <a:off x="8129160" y="1764720"/>
            <a:ext cx="290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Planning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41"/>
          <p:cNvSpPr/>
          <p:nvPr/>
        </p:nvSpPr>
        <p:spPr>
          <a:xfrm>
            <a:off x="8129160" y="2167200"/>
            <a:ext cx="288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Planifier les cours et générer les séances.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42"/>
          <p:cNvSpPr/>
          <p:nvPr/>
        </p:nvSpPr>
        <p:spPr>
          <a:xfrm>
            <a:off x="685800" y="3035880"/>
            <a:ext cx="327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43"/>
          <p:cNvSpPr/>
          <p:nvPr/>
        </p:nvSpPr>
        <p:spPr>
          <a:xfrm>
            <a:off x="685800" y="3035880"/>
            <a:ext cx="72720" cy="111528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44"/>
          <p:cNvSpPr/>
          <p:nvPr/>
        </p:nvSpPr>
        <p:spPr>
          <a:xfrm>
            <a:off x="887040" y="3200400"/>
            <a:ext cx="290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QR Code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45"/>
          <p:cNvSpPr/>
          <p:nvPr/>
        </p:nvSpPr>
        <p:spPr>
          <a:xfrm>
            <a:off x="887040" y="3602880"/>
            <a:ext cx="288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Générer et afficher les QR Codes pour les émargements.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46"/>
          <p:cNvSpPr/>
          <p:nvPr/>
        </p:nvSpPr>
        <p:spPr>
          <a:xfrm>
            <a:off x="4306680" y="3035880"/>
            <a:ext cx="327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47"/>
          <p:cNvSpPr/>
          <p:nvPr/>
        </p:nvSpPr>
        <p:spPr>
          <a:xfrm>
            <a:off x="4306680" y="3035880"/>
            <a:ext cx="72720" cy="111528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 48"/>
          <p:cNvSpPr/>
          <p:nvPr/>
        </p:nvSpPr>
        <p:spPr>
          <a:xfrm>
            <a:off x="4507920" y="3200400"/>
            <a:ext cx="290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Suivi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49"/>
          <p:cNvSpPr/>
          <p:nvPr/>
        </p:nvSpPr>
        <p:spPr>
          <a:xfrm>
            <a:off x="4507920" y="3602880"/>
            <a:ext cx="288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Consulter les présences et les fiches pédagogiques.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50"/>
          <p:cNvSpPr/>
          <p:nvPr/>
        </p:nvSpPr>
        <p:spPr>
          <a:xfrm>
            <a:off x="7927920" y="3035880"/>
            <a:ext cx="327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51"/>
          <p:cNvSpPr/>
          <p:nvPr/>
        </p:nvSpPr>
        <p:spPr>
          <a:xfrm>
            <a:off x="7927920" y="3035880"/>
            <a:ext cx="72720" cy="1115280"/>
          </a:xfrm>
          <a:prstGeom prst="rect">
            <a:avLst/>
          </a:prstGeom>
          <a:solidFill>
            <a:srgbClr val="dc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 52"/>
          <p:cNvSpPr/>
          <p:nvPr/>
        </p:nvSpPr>
        <p:spPr>
          <a:xfrm>
            <a:off x="8129160" y="3200400"/>
            <a:ext cx="290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Honoraires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53"/>
          <p:cNvSpPr/>
          <p:nvPr/>
        </p:nvSpPr>
        <p:spPr>
          <a:xfrm>
            <a:off x="8129160" y="3602880"/>
            <a:ext cx="288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Calculer, valider et exporter les paiements.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900"/>
          <p:cNvSpPr/>
          <p:nvPr/>
        </p:nvSpPr>
        <p:spPr>
          <a:xfrm>
            <a:off x="10012680" y="6336720"/>
            <a:ext cx="1005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fr-FR" sz="900" spc="-1" strike="noStrike">
                <a:solidFill>
                  <a:srgbClr val="64748b"/>
                </a:solidFill>
                <a:latin typeface="Aptos"/>
              </a:rPr>
              <a:t>5/12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>
        <p14:honeycomb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"/>
          <p:cNvSpPr/>
          <p:nvPr/>
        </p:nvSpPr>
        <p:spPr>
          <a:xfrm>
            <a:off x="-1097280" y="-822960"/>
            <a:ext cx="3657240" cy="3657240"/>
          </a:xfrm>
          <a:prstGeom prst="roundRect">
            <a:avLst>
              <a:gd name="adj" fmla="val 16667"/>
            </a:avLst>
          </a:prstGeom>
          <a:solidFill>
            <a:srgbClr val="dbeafe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4"/>
          <p:cNvSpPr/>
          <p:nvPr/>
        </p:nvSpPr>
        <p:spPr>
          <a:xfrm>
            <a:off x="9601200" y="5029200"/>
            <a:ext cx="2742840" cy="2742840"/>
          </a:xfrm>
          <a:prstGeom prst="roundRect">
            <a:avLst>
              <a:gd name="adj" fmla="val 16667"/>
            </a:avLst>
          </a:prstGeom>
          <a:solidFill>
            <a:srgbClr val="fef3c7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10"/>
          <p:cNvSpPr/>
          <p:nvPr/>
        </p:nvSpPr>
        <p:spPr>
          <a:xfrm>
            <a:off x="594360" y="320040"/>
            <a:ext cx="8046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3000" spc="-1" strike="noStrike">
                <a:solidFill>
                  <a:srgbClr val="0f172a"/>
                </a:solidFill>
                <a:latin typeface="Aptos"/>
              </a:rPr>
              <a:t>5. Ce que fait l’enseignant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11"/>
          <p:cNvSpPr/>
          <p:nvPr/>
        </p:nvSpPr>
        <p:spPr>
          <a:xfrm>
            <a:off x="621720" y="841320"/>
            <a:ext cx="95094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L’application mobile simplifie le travail quotidien de l’enseignant.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12"/>
          <p:cNvSpPr/>
          <p:nvPr/>
        </p:nvSpPr>
        <p:spPr>
          <a:xfrm>
            <a:off x="621720" y="1261800"/>
            <a:ext cx="959760" cy="45360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960" bIns="-396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Bullets 30"/>
          <p:cNvSpPr/>
          <p:nvPr/>
        </p:nvSpPr>
        <p:spPr>
          <a:xfrm>
            <a:off x="868680" y="1600200"/>
            <a:ext cx="6766200" cy="34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228600">
              <a:lnSpc>
                <a:spcPct val="100000"/>
              </a:lnSpc>
              <a:buClr>
                <a:srgbClr val="334155"/>
              </a:buClr>
              <a:buFont typeface="Symbol" charset="2"/>
              <a:buChar char=""/>
            </a:pPr>
            <a:r>
              <a:rPr b="0" lang="fr-FR" sz="2200" spc="-1" strike="noStrike">
                <a:solidFill>
                  <a:srgbClr val="334155"/>
                </a:solidFill>
                <a:latin typeface="Aptos"/>
              </a:rPr>
              <a:t>Se connecter avec son compte enseignant.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343080" indent="-228600">
              <a:lnSpc>
                <a:spcPct val="100000"/>
              </a:lnSpc>
              <a:buClr>
                <a:srgbClr val="334155"/>
              </a:buClr>
              <a:buFont typeface="Symbol" charset="2"/>
              <a:buChar char=""/>
            </a:pPr>
            <a:r>
              <a:rPr b="0" lang="fr-FR" sz="2200" spc="-1" strike="noStrike">
                <a:solidFill>
                  <a:srgbClr val="334155"/>
                </a:solidFill>
                <a:latin typeface="Aptos"/>
              </a:rPr>
              <a:t>Consulter son planning de cours.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343080" indent="-228600">
              <a:lnSpc>
                <a:spcPct val="100000"/>
              </a:lnSpc>
              <a:buClr>
                <a:srgbClr val="334155"/>
              </a:buClr>
              <a:buFont typeface="Symbol" charset="2"/>
              <a:buChar char=""/>
            </a:pPr>
            <a:r>
              <a:rPr b="0" lang="fr-FR" sz="2200" spc="-1" strike="noStrike">
                <a:solidFill>
                  <a:srgbClr val="334155"/>
                </a:solidFill>
                <a:latin typeface="Aptos"/>
              </a:rPr>
              <a:t>Scanner le QR Code de la séance.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343080" indent="-228600">
              <a:lnSpc>
                <a:spcPct val="100000"/>
              </a:lnSpc>
              <a:buClr>
                <a:srgbClr val="334155"/>
              </a:buClr>
              <a:buFont typeface="Symbol" charset="2"/>
              <a:buChar char=""/>
            </a:pPr>
            <a:r>
              <a:rPr b="0" lang="fr-FR" sz="2200" spc="-1" strike="noStrike">
                <a:solidFill>
                  <a:srgbClr val="334155"/>
                </a:solidFill>
                <a:latin typeface="Aptos"/>
              </a:rPr>
              <a:t>Remplir la fiche de progression après le cours.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343080" indent="-228600">
              <a:lnSpc>
                <a:spcPct val="100000"/>
              </a:lnSpc>
              <a:buClr>
                <a:srgbClr val="334155"/>
              </a:buClr>
              <a:buFont typeface="Symbol" charset="2"/>
              <a:buChar char=""/>
            </a:pPr>
            <a:r>
              <a:rPr b="0" lang="fr-FR" sz="2200" spc="-1" strike="noStrike">
                <a:solidFill>
                  <a:srgbClr val="334155"/>
                </a:solidFill>
                <a:latin typeface="Aptos"/>
              </a:rPr>
              <a:t>Consulter ses honoraires et son profil.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900"/>
          <p:cNvSpPr/>
          <p:nvPr/>
        </p:nvSpPr>
        <p:spPr>
          <a:xfrm>
            <a:off x="10012680" y="6336720"/>
            <a:ext cx="1005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fr-FR" sz="900" spc="-1" strike="noStrike">
                <a:solidFill>
                  <a:srgbClr val="64748b"/>
                </a:solidFill>
                <a:latin typeface="Aptos"/>
              </a:rPr>
              <a:t>6/12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>
        <p:checker dir="vert"/>
      </p:transition>
    </mc:Choice>
    <mc:Fallback>
      <p:transition spd="slow">
        <p:checker dir="vert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2"/>
          <p:cNvSpPr/>
          <p:nvPr/>
        </p:nvSpPr>
        <p:spPr>
          <a:xfrm>
            <a:off x="360" y="-1764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3"/>
          <p:cNvSpPr/>
          <p:nvPr/>
        </p:nvSpPr>
        <p:spPr>
          <a:xfrm>
            <a:off x="-1097280" y="-822960"/>
            <a:ext cx="3657240" cy="3657240"/>
          </a:xfrm>
          <a:prstGeom prst="roundRect">
            <a:avLst>
              <a:gd name="adj" fmla="val 16667"/>
            </a:avLst>
          </a:prstGeom>
          <a:solidFill>
            <a:srgbClr val="dbeafe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4"/>
          <p:cNvSpPr/>
          <p:nvPr/>
        </p:nvSpPr>
        <p:spPr>
          <a:xfrm>
            <a:off x="9601200" y="5029200"/>
            <a:ext cx="2742840" cy="2742840"/>
          </a:xfrm>
          <a:prstGeom prst="roundRect">
            <a:avLst>
              <a:gd name="adj" fmla="val 16667"/>
            </a:avLst>
          </a:prstGeom>
          <a:solidFill>
            <a:srgbClr val="fef3c7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10"/>
          <p:cNvSpPr/>
          <p:nvPr/>
        </p:nvSpPr>
        <p:spPr>
          <a:xfrm>
            <a:off x="594360" y="320040"/>
            <a:ext cx="8046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3000" spc="-1" strike="noStrike">
                <a:solidFill>
                  <a:srgbClr val="0f172a"/>
                </a:solidFill>
                <a:latin typeface="Aptos"/>
              </a:rPr>
              <a:t>6. 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11"/>
          <p:cNvSpPr/>
          <p:nvPr/>
        </p:nvSpPr>
        <p:spPr>
          <a:xfrm>
            <a:off x="621720" y="841320"/>
            <a:ext cx="95094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Le système est séparé en trois couches simples.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12"/>
          <p:cNvSpPr/>
          <p:nvPr/>
        </p:nvSpPr>
        <p:spPr>
          <a:xfrm>
            <a:off x="621720" y="1261800"/>
            <a:ext cx="959760" cy="45360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960" bIns="-396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2" name="image4.png" descr=""/>
          <p:cNvPicPr/>
          <p:nvPr/>
        </p:nvPicPr>
        <p:blipFill>
          <a:blip r:embed="rId1"/>
          <a:stretch/>
        </p:blipFill>
        <p:spPr>
          <a:xfrm>
            <a:off x="360000" y="1527480"/>
            <a:ext cx="10286640" cy="4343040"/>
          </a:xfrm>
          <a:prstGeom prst="rect">
            <a:avLst/>
          </a:prstGeom>
          <a:ln w="0">
            <a:noFill/>
          </a:ln>
        </p:spPr>
      </p:pic>
      <p:sp>
        <p:nvSpPr>
          <p:cNvPr id="103" name="Text 31"/>
          <p:cNvSpPr/>
          <p:nvPr/>
        </p:nvSpPr>
        <p:spPr>
          <a:xfrm>
            <a:off x="841320" y="5870520"/>
            <a:ext cx="10058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fr-FR" sz="1200" spc="-1" strike="noStrike">
                <a:solidFill>
                  <a:srgbClr val="64748b"/>
                </a:solidFill>
                <a:latin typeface="Aptos"/>
              </a:rPr>
              <a:t>Frontend web, application mobile, backend Spring Boot, base PostgreSQL.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900"/>
          <p:cNvSpPr/>
          <p:nvPr/>
        </p:nvSpPr>
        <p:spPr>
          <a:xfrm>
            <a:off x="10012680" y="6336720"/>
            <a:ext cx="1005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fr-FR" sz="900" spc="-1" strike="noStrike">
                <a:solidFill>
                  <a:srgbClr val="64748b"/>
                </a:solidFill>
                <a:latin typeface="Aptos"/>
              </a:rPr>
              <a:t>7/12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>
        <p14:vortex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Shape 3"/>
          <p:cNvSpPr/>
          <p:nvPr/>
        </p:nvSpPr>
        <p:spPr>
          <a:xfrm>
            <a:off x="-1097280" y="-822960"/>
            <a:ext cx="3657240" cy="3657240"/>
          </a:xfrm>
          <a:prstGeom prst="roundRect">
            <a:avLst>
              <a:gd name="adj" fmla="val 16667"/>
            </a:avLst>
          </a:prstGeom>
          <a:solidFill>
            <a:srgbClr val="dbeafe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4"/>
          <p:cNvSpPr/>
          <p:nvPr/>
        </p:nvSpPr>
        <p:spPr>
          <a:xfrm>
            <a:off x="9601200" y="5029200"/>
            <a:ext cx="2742840" cy="2742840"/>
          </a:xfrm>
          <a:prstGeom prst="roundRect">
            <a:avLst>
              <a:gd name="adj" fmla="val 16667"/>
            </a:avLst>
          </a:prstGeom>
          <a:solidFill>
            <a:srgbClr val="fef3c7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10"/>
          <p:cNvSpPr/>
          <p:nvPr/>
        </p:nvSpPr>
        <p:spPr>
          <a:xfrm>
            <a:off x="594360" y="320040"/>
            <a:ext cx="8046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3000" spc="-1" strike="noStrike">
                <a:solidFill>
                  <a:srgbClr val="0f172a"/>
                </a:solidFill>
                <a:latin typeface="Aptos"/>
              </a:rPr>
              <a:t>7. Backend et sécurité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11"/>
          <p:cNvSpPr/>
          <p:nvPr/>
        </p:nvSpPr>
        <p:spPr>
          <a:xfrm>
            <a:off x="621720" y="841320"/>
            <a:ext cx="95094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Le backend est le cœur du système.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Shape 12"/>
          <p:cNvSpPr/>
          <p:nvPr/>
        </p:nvSpPr>
        <p:spPr>
          <a:xfrm>
            <a:off x="621720" y="1261800"/>
            <a:ext cx="959760" cy="45360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960" bIns="-396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Shape 30"/>
          <p:cNvSpPr/>
          <p:nvPr/>
        </p:nvSpPr>
        <p:spPr>
          <a:xfrm>
            <a:off x="685800" y="1600200"/>
            <a:ext cx="327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31"/>
          <p:cNvSpPr/>
          <p:nvPr/>
        </p:nvSpPr>
        <p:spPr>
          <a:xfrm>
            <a:off x="685800" y="1600200"/>
            <a:ext cx="72720" cy="111528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32"/>
          <p:cNvSpPr/>
          <p:nvPr/>
        </p:nvSpPr>
        <p:spPr>
          <a:xfrm>
            <a:off x="887040" y="1764720"/>
            <a:ext cx="290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Spring Boot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33"/>
          <p:cNvSpPr/>
          <p:nvPr/>
        </p:nvSpPr>
        <p:spPr>
          <a:xfrm>
            <a:off x="887040" y="2167200"/>
            <a:ext cx="288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Expose les API REST utilisées par le web et le mobile.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34"/>
          <p:cNvSpPr/>
          <p:nvPr/>
        </p:nvSpPr>
        <p:spPr>
          <a:xfrm>
            <a:off x="4306680" y="1600200"/>
            <a:ext cx="327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35"/>
          <p:cNvSpPr/>
          <p:nvPr/>
        </p:nvSpPr>
        <p:spPr>
          <a:xfrm>
            <a:off x="4306680" y="1600200"/>
            <a:ext cx="72720" cy="1115280"/>
          </a:xfrm>
          <a:prstGeom prst="rect">
            <a:avLst/>
          </a:prstGeom>
          <a:solidFill>
            <a:srgbClr val="16a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36"/>
          <p:cNvSpPr/>
          <p:nvPr/>
        </p:nvSpPr>
        <p:spPr>
          <a:xfrm>
            <a:off x="4507920" y="1764720"/>
            <a:ext cx="290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JWT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37"/>
          <p:cNvSpPr/>
          <p:nvPr/>
        </p:nvSpPr>
        <p:spPr>
          <a:xfrm>
            <a:off x="4507920" y="2167200"/>
            <a:ext cx="288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Protège les routes avec un token après connexion.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38"/>
          <p:cNvSpPr/>
          <p:nvPr/>
        </p:nvSpPr>
        <p:spPr>
          <a:xfrm>
            <a:off x="7927920" y="1600200"/>
            <a:ext cx="327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39"/>
          <p:cNvSpPr/>
          <p:nvPr/>
        </p:nvSpPr>
        <p:spPr>
          <a:xfrm>
            <a:off x="7927920" y="1600200"/>
            <a:ext cx="72720" cy="11152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40"/>
          <p:cNvSpPr/>
          <p:nvPr/>
        </p:nvSpPr>
        <p:spPr>
          <a:xfrm>
            <a:off x="8129160" y="1764720"/>
            <a:ext cx="290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PostgreSQL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41"/>
          <p:cNvSpPr/>
          <p:nvPr/>
        </p:nvSpPr>
        <p:spPr>
          <a:xfrm>
            <a:off x="8129160" y="2167200"/>
            <a:ext cx="288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Stocke les utilisateurs, séances, émargements et honoraires.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42"/>
          <p:cNvSpPr/>
          <p:nvPr/>
        </p:nvSpPr>
        <p:spPr>
          <a:xfrm>
            <a:off x="685800" y="3035880"/>
            <a:ext cx="327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43"/>
          <p:cNvSpPr/>
          <p:nvPr/>
        </p:nvSpPr>
        <p:spPr>
          <a:xfrm>
            <a:off x="685800" y="3035880"/>
            <a:ext cx="72720" cy="111528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 44"/>
          <p:cNvSpPr/>
          <p:nvPr/>
        </p:nvSpPr>
        <p:spPr>
          <a:xfrm>
            <a:off x="887040" y="3200400"/>
            <a:ext cx="290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Swagger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45"/>
          <p:cNvSpPr/>
          <p:nvPr/>
        </p:nvSpPr>
        <p:spPr>
          <a:xfrm>
            <a:off x="887040" y="3602880"/>
            <a:ext cx="288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Permet de tester et documenter les endpoints.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46"/>
          <p:cNvSpPr/>
          <p:nvPr/>
        </p:nvSpPr>
        <p:spPr>
          <a:xfrm>
            <a:off x="4306680" y="3035880"/>
            <a:ext cx="327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47"/>
          <p:cNvSpPr/>
          <p:nvPr/>
        </p:nvSpPr>
        <p:spPr>
          <a:xfrm>
            <a:off x="4306680" y="3035880"/>
            <a:ext cx="72720" cy="111528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48"/>
          <p:cNvSpPr/>
          <p:nvPr/>
        </p:nvSpPr>
        <p:spPr>
          <a:xfrm>
            <a:off x="4507920" y="3200400"/>
            <a:ext cx="290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Rôles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49"/>
          <p:cNvSpPr/>
          <p:nvPr/>
        </p:nvSpPr>
        <p:spPr>
          <a:xfrm>
            <a:off x="4507920" y="3602880"/>
            <a:ext cx="288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Administrateur et enseignant ont des accès différents.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50"/>
          <p:cNvSpPr/>
          <p:nvPr/>
        </p:nvSpPr>
        <p:spPr>
          <a:xfrm>
            <a:off x="7927920" y="3035880"/>
            <a:ext cx="327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51"/>
          <p:cNvSpPr/>
          <p:nvPr/>
        </p:nvSpPr>
        <p:spPr>
          <a:xfrm>
            <a:off x="7927920" y="3035880"/>
            <a:ext cx="72720" cy="1115280"/>
          </a:xfrm>
          <a:prstGeom prst="rect">
            <a:avLst/>
          </a:prstGeom>
          <a:solidFill>
            <a:srgbClr val="dc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52"/>
          <p:cNvSpPr/>
          <p:nvPr/>
        </p:nvSpPr>
        <p:spPr>
          <a:xfrm>
            <a:off x="8129160" y="3200400"/>
            <a:ext cx="290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Exports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53"/>
          <p:cNvSpPr/>
          <p:nvPr/>
        </p:nvSpPr>
        <p:spPr>
          <a:xfrm>
            <a:off x="8129160" y="3602880"/>
            <a:ext cx="288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Génération Excel et PDF pour les rapports.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900"/>
          <p:cNvSpPr/>
          <p:nvPr/>
        </p:nvSpPr>
        <p:spPr>
          <a:xfrm>
            <a:off x="10012680" y="6336720"/>
            <a:ext cx="1005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fr-FR" sz="900" spc="-1" strike="noStrike">
                <a:solidFill>
                  <a:srgbClr val="64748b"/>
                </a:solidFill>
                <a:latin typeface="Aptos"/>
              </a:rPr>
              <a:t>8/12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>
        <p14:prism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3"/>
          <p:cNvSpPr/>
          <p:nvPr/>
        </p:nvSpPr>
        <p:spPr>
          <a:xfrm>
            <a:off x="-1097280" y="-822960"/>
            <a:ext cx="3657240" cy="3657240"/>
          </a:xfrm>
          <a:prstGeom prst="roundRect">
            <a:avLst>
              <a:gd name="adj" fmla="val 16667"/>
            </a:avLst>
          </a:prstGeom>
          <a:solidFill>
            <a:srgbClr val="dbeafe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4"/>
          <p:cNvSpPr/>
          <p:nvPr/>
        </p:nvSpPr>
        <p:spPr>
          <a:xfrm>
            <a:off x="9601200" y="5029200"/>
            <a:ext cx="2742840" cy="2742840"/>
          </a:xfrm>
          <a:prstGeom prst="roundRect">
            <a:avLst>
              <a:gd name="adj" fmla="val 16667"/>
            </a:avLst>
          </a:prstGeom>
          <a:solidFill>
            <a:srgbClr val="fef3c7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10"/>
          <p:cNvSpPr/>
          <p:nvPr/>
        </p:nvSpPr>
        <p:spPr>
          <a:xfrm>
            <a:off x="594360" y="320040"/>
            <a:ext cx="8046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3000" spc="-1" strike="noStrike">
                <a:solidFill>
                  <a:srgbClr val="0f172a"/>
                </a:solidFill>
                <a:latin typeface="Aptos"/>
              </a:rPr>
              <a:t>8. Exemple : émargement par QR Code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11"/>
          <p:cNvSpPr/>
          <p:nvPr/>
        </p:nvSpPr>
        <p:spPr>
          <a:xfrm>
            <a:off x="621720" y="841320"/>
            <a:ext cx="95094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Le QR Code permet de rendre la présence plus fiable.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12"/>
          <p:cNvSpPr/>
          <p:nvPr/>
        </p:nvSpPr>
        <p:spPr>
          <a:xfrm>
            <a:off x="621720" y="1261800"/>
            <a:ext cx="959760" cy="45360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960" bIns="-396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2" name="image2.png" descr=""/>
          <p:cNvPicPr/>
          <p:nvPr/>
        </p:nvPicPr>
        <p:blipFill>
          <a:blip r:embed="rId1"/>
          <a:stretch/>
        </p:blipFill>
        <p:spPr>
          <a:xfrm>
            <a:off x="822960" y="1481400"/>
            <a:ext cx="10286640" cy="4343040"/>
          </a:xfrm>
          <a:prstGeom prst="rect">
            <a:avLst/>
          </a:prstGeom>
          <a:ln w="0">
            <a:noFill/>
          </a:ln>
        </p:spPr>
      </p:pic>
      <p:sp>
        <p:nvSpPr>
          <p:cNvPr id="143" name="Text 31"/>
          <p:cNvSpPr/>
          <p:nvPr/>
        </p:nvSpPr>
        <p:spPr>
          <a:xfrm>
            <a:off x="841320" y="5870520"/>
            <a:ext cx="10058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fr-FR" sz="1200" spc="-1" strike="noStrike">
                <a:solidFill>
                  <a:srgbClr val="64748b"/>
                </a:solidFill>
                <a:latin typeface="Aptos"/>
              </a:rPr>
              <a:t>Le mobile scanne, le backend vérifie, puis la base enregistre l’émargement.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900"/>
          <p:cNvSpPr/>
          <p:nvPr/>
        </p:nvSpPr>
        <p:spPr>
          <a:xfrm>
            <a:off x="10012680" y="6336720"/>
            <a:ext cx="1005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fr-FR" sz="900" spc="-1" strike="noStrike">
                <a:solidFill>
                  <a:srgbClr val="64748b"/>
                </a:solidFill>
                <a:latin typeface="Aptos"/>
              </a:rPr>
              <a:t>9/12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>
        <p14:rippl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3"/>
          <p:cNvSpPr/>
          <p:nvPr/>
        </p:nvSpPr>
        <p:spPr>
          <a:xfrm>
            <a:off x="-1097280" y="-822960"/>
            <a:ext cx="3657240" cy="3657240"/>
          </a:xfrm>
          <a:prstGeom prst="roundRect">
            <a:avLst>
              <a:gd name="adj" fmla="val 16667"/>
            </a:avLst>
          </a:prstGeom>
          <a:solidFill>
            <a:srgbClr val="dbeafe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4"/>
          <p:cNvSpPr/>
          <p:nvPr/>
        </p:nvSpPr>
        <p:spPr>
          <a:xfrm>
            <a:off x="9601200" y="5029200"/>
            <a:ext cx="2742840" cy="2742840"/>
          </a:xfrm>
          <a:prstGeom prst="roundRect">
            <a:avLst>
              <a:gd name="adj" fmla="val 16667"/>
            </a:avLst>
          </a:prstGeom>
          <a:solidFill>
            <a:srgbClr val="fef3c7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10"/>
          <p:cNvSpPr/>
          <p:nvPr/>
        </p:nvSpPr>
        <p:spPr>
          <a:xfrm>
            <a:off x="594360" y="320040"/>
            <a:ext cx="8046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3000" spc="-1" strike="noStrike">
                <a:solidFill>
                  <a:srgbClr val="0f172a"/>
                </a:solidFill>
                <a:latin typeface="Aptos"/>
              </a:rPr>
              <a:t>9. Démonstration pratique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11"/>
          <p:cNvSpPr/>
          <p:nvPr/>
        </p:nvSpPr>
        <p:spPr>
          <a:xfrm>
            <a:off x="621720" y="841320"/>
            <a:ext cx="95094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Objectif : montrer rapidement le fonctionnement réel du projet.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12"/>
          <p:cNvSpPr/>
          <p:nvPr/>
        </p:nvSpPr>
        <p:spPr>
          <a:xfrm>
            <a:off x="621720" y="1261800"/>
            <a:ext cx="959760" cy="45360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960" bIns="-396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Shape 30"/>
          <p:cNvSpPr/>
          <p:nvPr/>
        </p:nvSpPr>
        <p:spPr>
          <a:xfrm>
            <a:off x="914400" y="1600200"/>
            <a:ext cx="914040" cy="438480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Text 31"/>
          <p:cNvSpPr/>
          <p:nvPr/>
        </p:nvSpPr>
        <p:spPr>
          <a:xfrm>
            <a:off x="914400" y="167328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fr-FR" sz="1300" spc="-1" strike="noStrike">
                <a:solidFill>
                  <a:srgbClr val="ffffff"/>
                </a:solidFill>
                <a:latin typeface="Aptos"/>
              </a:rPr>
              <a:t>1 min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 32"/>
          <p:cNvSpPr/>
          <p:nvPr/>
        </p:nvSpPr>
        <p:spPr>
          <a:xfrm>
            <a:off x="2057400" y="1636920"/>
            <a:ext cx="7497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2100" spc="-1" strike="noStrike">
                <a:solidFill>
                  <a:srgbClr val="0f172a"/>
                </a:solidFill>
                <a:latin typeface="Aptos"/>
              </a:rPr>
              <a:t>Connexion administrateur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33"/>
          <p:cNvSpPr/>
          <p:nvPr/>
        </p:nvSpPr>
        <p:spPr>
          <a:xfrm>
            <a:off x="914400" y="2350080"/>
            <a:ext cx="914040" cy="438480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34"/>
          <p:cNvSpPr/>
          <p:nvPr/>
        </p:nvSpPr>
        <p:spPr>
          <a:xfrm>
            <a:off x="914400" y="242316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fr-FR" sz="1300" spc="-1" strike="noStrike">
                <a:solidFill>
                  <a:srgbClr val="ffffff"/>
                </a:solidFill>
                <a:latin typeface="Aptos"/>
              </a:rPr>
              <a:t>1 min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35"/>
          <p:cNvSpPr/>
          <p:nvPr/>
        </p:nvSpPr>
        <p:spPr>
          <a:xfrm>
            <a:off x="2057400" y="2386440"/>
            <a:ext cx="7497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2100" spc="-1" strike="noStrike">
                <a:solidFill>
                  <a:srgbClr val="0f172a"/>
                </a:solidFill>
                <a:latin typeface="Aptos"/>
              </a:rPr>
              <a:t>Création ou consultation d’un enseignant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36"/>
          <p:cNvSpPr/>
          <p:nvPr/>
        </p:nvSpPr>
        <p:spPr>
          <a:xfrm>
            <a:off x="914400" y="3099960"/>
            <a:ext cx="914040" cy="438480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 37"/>
          <p:cNvSpPr/>
          <p:nvPr/>
        </p:nvSpPr>
        <p:spPr>
          <a:xfrm>
            <a:off x="914400" y="317304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fr-FR" sz="1300" spc="-1" strike="noStrike">
                <a:solidFill>
                  <a:srgbClr val="ffffff"/>
                </a:solidFill>
                <a:latin typeface="Aptos"/>
              </a:rPr>
              <a:t>1 min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38"/>
          <p:cNvSpPr/>
          <p:nvPr/>
        </p:nvSpPr>
        <p:spPr>
          <a:xfrm>
            <a:off x="2057400" y="3136320"/>
            <a:ext cx="7497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2100" spc="-1" strike="noStrike">
                <a:solidFill>
                  <a:srgbClr val="0f172a"/>
                </a:solidFill>
                <a:latin typeface="Aptos"/>
              </a:rPr>
              <a:t>Planning et génération QR Code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39"/>
          <p:cNvSpPr/>
          <p:nvPr/>
        </p:nvSpPr>
        <p:spPr>
          <a:xfrm>
            <a:off x="914400" y="3849480"/>
            <a:ext cx="914040" cy="438480"/>
          </a:xfrm>
          <a:prstGeom prst="roundRect">
            <a:avLst>
              <a:gd name="adj" fmla="val 16667"/>
            </a:avLst>
          </a:prstGeom>
          <a:solidFill>
            <a:srgbClr val="16a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40"/>
          <p:cNvSpPr/>
          <p:nvPr/>
        </p:nvSpPr>
        <p:spPr>
          <a:xfrm>
            <a:off x="914400" y="392292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fr-FR" sz="1300" spc="-1" strike="noStrike">
                <a:solidFill>
                  <a:srgbClr val="ffffff"/>
                </a:solidFill>
                <a:latin typeface="Aptos"/>
              </a:rPr>
              <a:t>1 min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41"/>
          <p:cNvSpPr/>
          <p:nvPr/>
        </p:nvSpPr>
        <p:spPr>
          <a:xfrm>
            <a:off x="2057400" y="3886200"/>
            <a:ext cx="7497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2100" spc="-1" strike="noStrike">
                <a:solidFill>
                  <a:srgbClr val="0f172a"/>
                </a:solidFill>
                <a:latin typeface="Aptos"/>
              </a:rPr>
              <a:t>Scan côté mobile enseignant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42"/>
          <p:cNvSpPr/>
          <p:nvPr/>
        </p:nvSpPr>
        <p:spPr>
          <a:xfrm>
            <a:off x="914400" y="4599360"/>
            <a:ext cx="914040" cy="438480"/>
          </a:xfrm>
          <a:prstGeom prst="roundRect">
            <a:avLst>
              <a:gd name="adj" fmla="val 16667"/>
            </a:avLst>
          </a:prstGeom>
          <a:solidFill>
            <a:srgbClr val="16a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43"/>
          <p:cNvSpPr/>
          <p:nvPr/>
        </p:nvSpPr>
        <p:spPr>
          <a:xfrm>
            <a:off x="914400" y="467244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fr-FR" sz="1300" spc="-1" strike="noStrike">
                <a:solidFill>
                  <a:srgbClr val="ffffff"/>
                </a:solidFill>
                <a:latin typeface="Aptos"/>
              </a:rPr>
              <a:t>1 min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44"/>
          <p:cNvSpPr/>
          <p:nvPr/>
        </p:nvSpPr>
        <p:spPr>
          <a:xfrm>
            <a:off x="2057400" y="4636080"/>
            <a:ext cx="7497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2100" spc="-1" strike="noStrike">
                <a:solidFill>
                  <a:srgbClr val="0f172a"/>
                </a:solidFill>
                <a:latin typeface="Aptos"/>
              </a:rPr>
              <a:t>Fiche de progression + suivi des honoraires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900"/>
          <p:cNvSpPr/>
          <p:nvPr/>
        </p:nvSpPr>
        <p:spPr>
          <a:xfrm>
            <a:off x="10012680" y="6336720"/>
            <a:ext cx="1005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fr-FR" sz="900" spc="-1" strike="noStrike">
                <a:solidFill>
                  <a:srgbClr val="64748b"/>
                </a:solidFill>
                <a:latin typeface="Aptos"/>
              </a:rPr>
              <a:t>10/12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Shape 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Shape 3"/>
          <p:cNvSpPr/>
          <p:nvPr/>
        </p:nvSpPr>
        <p:spPr>
          <a:xfrm>
            <a:off x="-1097280" y="-822960"/>
            <a:ext cx="3657240" cy="3657240"/>
          </a:xfrm>
          <a:prstGeom prst="roundRect">
            <a:avLst>
              <a:gd name="adj" fmla="val 16667"/>
            </a:avLst>
          </a:prstGeom>
          <a:solidFill>
            <a:srgbClr val="dbeafe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Shape 4"/>
          <p:cNvSpPr/>
          <p:nvPr/>
        </p:nvSpPr>
        <p:spPr>
          <a:xfrm>
            <a:off x="9601200" y="5029200"/>
            <a:ext cx="2742840" cy="2742840"/>
          </a:xfrm>
          <a:prstGeom prst="roundRect">
            <a:avLst>
              <a:gd name="adj" fmla="val 16667"/>
            </a:avLst>
          </a:prstGeom>
          <a:solidFill>
            <a:srgbClr val="fef3c7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10"/>
          <p:cNvSpPr/>
          <p:nvPr/>
        </p:nvSpPr>
        <p:spPr>
          <a:xfrm>
            <a:off x="594360" y="320040"/>
            <a:ext cx="8046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3000" spc="-1" strike="noStrike">
                <a:solidFill>
                  <a:srgbClr val="0f172a"/>
                </a:solidFill>
                <a:latin typeface="Aptos"/>
              </a:rPr>
              <a:t>10. Résultats obtenus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11"/>
          <p:cNvSpPr/>
          <p:nvPr/>
        </p:nvSpPr>
        <p:spPr>
          <a:xfrm>
            <a:off x="621720" y="841320"/>
            <a:ext cx="95094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Le projet répond aux besoins principaux du suivi pédagogique.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12"/>
          <p:cNvSpPr/>
          <p:nvPr/>
        </p:nvSpPr>
        <p:spPr>
          <a:xfrm>
            <a:off x="621720" y="1261800"/>
            <a:ext cx="959760" cy="45360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960" bIns="-396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Shape 30"/>
          <p:cNvSpPr/>
          <p:nvPr/>
        </p:nvSpPr>
        <p:spPr>
          <a:xfrm>
            <a:off x="685800" y="1600200"/>
            <a:ext cx="498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31"/>
          <p:cNvSpPr/>
          <p:nvPr/>
        </p:nvSpPr>
        <p:spPr>
          <a:xfrm>
            <a:off x="685800" y="1600200"/>
            <a:ext cx="72720" cy="111528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32"/>
          <p:cNvSpPr/>
          <p:nvPr/>
        </p:nvSpPr>
        <p:spPr>
          <a:xfrm>
            <a:off x="887040" y="1764720"/>
            <a:ext cx="461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Gain de temps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33"/>
          <p:cNvSpPr/>
          <p:nvPr/>
        </p:nvSpPr>
        <p:spPr>
          <a:xfrm>
            <a:off x="887040" y="2167200"/>
            <a:ext cx="459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Moins de calculs manuels pour les honoraires.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34"/>
          <p:cNvSpPr/>
          <p:nvPr/>
        </p:nvSpPr>
        <p:spPr>
          <a:xfrm>
            <a:off x="6016680" y="1600200"/>
            <a:ext cx="498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35"/>
          <p:cNvSpPr/>
          <p:nvPr/>
        </p:nvSpPr>
        <p:spPr>
          <a:xfrm>
            <a:off x="6016680" y="1600200"/>
            <a:ext cx="72720" cy="1115280"/>
          </a:xfrm>
          <a:prstGeom prst="rect">
            <a:avLst/>
          </a:prstGeom>
          <a:solidFill>
            <a:srgbClr val="16a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36"/>
          <p:cNvSpPr/>
          <p:nvPr/>
        </p:nvSpPr>
        <p:spPr>
          <a:xfrm>
            <a:off x="6217920" y="1764720"/>
            <a:ext cx="461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Traçabilité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37"/>
          <p:cNvSpPr/>
          <p:nvPr/>
        </p:nvSpPr>
        <p:spPr>
          <a:xfrm>
            <a:off x="6217920" y="2167200"/>
            <a:ext cx="459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Chaque présence est liée à une séance et un enseignant.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38"/>
          <p:cNvSpPr/>
          <p:nvPr/>
        </p:nvSpPr>
        <p:spPr>
          <a:xfrm>
            <a:off x="685800" y="3035880"/>
            <a:ext cx="498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39"/>
          <p:cNvSpPr/>
          <p:nvPr/>
        </p:nvSpPr>
        <p:spPr>
          <a:xfrm>
            <a:off x="685800" y="3035880"/>
            <a:ext cx="72720" cy="11152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40"/>
          <p:cNvSpPr/>
          <p:nvPr/>
        </p:nvSpPr>
        <p:spPr>
          <a:xfrm>
            <a:off x="887040" y="3200400"/>
            <a:ext cx="461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Centralisation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 41"/>
          <p:cNvSpPr/>
          <p:nvPr/>
        </p:nvSpPr>
        <p:spPr>
          <a:xfrm>
            <a:off x="887040" y="3602880"/>
            <a:ext cx="459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Les données pédagogiques sont dans une seule plateforme.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42"/>
          <p:cNvSpPr/>
          <p:nvPr/>
        </p:nvSpPr>
        <p:spPr>
          <a:xfrm>
            <a:off x="6016680" y="3035880"/>
            <a:ext cx="498312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43"/>
          <p:cNvSpPr/>
          <p:nvPr/>
        </p:nvSpPr>
        <p:spPr>
          <a:xfrm>
            <a:off x="6016680" y="3035880"/>
            <a:ext cx="72720" cy="111528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 44"/>
          <p:cNvSpPr/>
          <p:nvPr/>
        </p:nvSpPr>
        <p:spPr>
          <a:xfrm>
            <a:off x="6217920" y="3200400"/>
            <a:ext cx="4617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1700" spc="-1" strike="noStrike">
                <a:solidFill>
                  <a:srgbClr val="0f172a"/>
                </a:solidFill>
                <a:latin typeface="Aptos"/>
              </a:rPr>
              <a:t>Contrôle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45"/>
          <p:cNvSpPr/>
          <p:nvPr/>
        </p:nvSpPr>
        <p:spPr>
          <a:xfrm>
            <a:off x="6217920" y="3602880"/>
            <a:ext cx="45990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L’administration dispose d’une meilleure visibilité.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900"/>
          <p:cNvSpPr/>
          <p:nvPr/>
        </p:nvSpPr>
        <p:spPr>
          <a:xfrm>
            <a:off x="10012680" y="6336720"/>
            <a:ext cx="1005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fr-FR" sz="900" spc="-1" strike="noStrike">
                <a:solidFill>
                  <a:srgbClr val="64748b"/>
                </a:solidFill>
                <a:latin typeface="Aptos"/>
              </a:rPr>
              <a:t>11/12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2"/>
          <p:cNvSpPr/>
          <p:nvPr/>
        </p:nvSpPr>
        <p:spPr>
          <a:xfrm>
            <a:off x="180000" y="-180000"/>
            <a:ext cx="12191760" cy="685764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3"/>
          <p:cNvSpPr/>
          <p:nvPr/>
        </p:nvSpPr>
        <p:spPr>
          <a:xfrm>
            <a:off x="-1097280" y="-822960"/>
            <a:ext cx="3657240" cy="3657240"/>
          </a:xfrm>
          <a:prstGeom prst="roundRect">
            <a:avLst>
              <a:gd name="adj" fmla="val 16667"/>
            </a:avLst>
          </a:prstGeom>
          <a:solidFill>
            <a:srgbClr val="dbeafe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4"/>
          <p:cNvSpPr/>
          <p:nvPr/>
        </p:nvSpPr>
        <p:spPr>
          <a:xfrm>
            <a:off x="9601200" y="5029200"/>
            <a:ext cx="2742840" cy="2742840"/>
          </a:xfrm>
          <a:prstGeom prst="roundRect">
            <a:avLst>
              <a:gd name="adj" fmla="val 16667"/>
            </a:avLst>
          </a:prstGeom>
          <a:solidFill>
            <a:srgbClr val="fef3c7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10"/>
          <p:cNvSpPr/>
          <p:nvPr/>
        </p:nvSpPr>
        <p:spPr>
          <a:xfrm>
            <a:off x="594360" y="320040"/>
            <a:ext cx="8046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fr-FR" sz="3000" spc="-1" strike="noStrike">
                <a:solidFill>
                  <a:srgbClr val="0f172a"/>
                </a:solidFill>
                <a:latin typeface="Aptos"/>
              </a:rPr>
              <a:t>Conclusion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11"/>
          <p:cNvSpPr/>
          <p:nvPr/>
        </p:nvSpPr>
        <p:spPr>
          <a:xfrm>
            <a:off x="621720" y="841320"/>
            <a:ext cx="95094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fr-FR" sz="1300" spc="-1" strike="noStrike">
                <a:solidFill>
                  <a:srgbClr val="64748b"/>
                </a:solidFill>
                <a:latin typeface="Aptos"/>
              </a:rPr>
              <a:t>EduTrack est une solution complète, moderne et évolutive.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12"/>
          <p:cNvSpPr/>
          <p:nvPr/>
        </p:nvSpPr>
        <p:spPr>
          <a:xfrm>
            <a:off x="621720" y="1261800"/>
            <a:ext cx="959760" cy="45360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960" bIns="-396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Bullets 30"/>
          <p:cNvSpPr/>
          <p:nvPr/>
        </p:nvSpPr>
        <p:spPr>
          <a:xfrm>
            <a:off x="868680" y="1600200"/>
            <a:ext cx="6766200" cy="34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228600">
              <a:lnSpc>
                <a:spcPct val="100000"/>
              </a:lnSpc>
              <a:buClr>
                <a:srgbClr val="334155"/>
              </a:buClr>
              <a:buFont typeface="Symbol" charset="2"/>
              <a:buChar char=""/>
            </a:pPr>
            <a:r>
              <a:rPr b="0" lang="fr-FR" sz="2200" spc="-1" strike="noStrike">
                <a:solidFill>
                  <a:srgbClr val="334155"/>
                </a:solidFill>
                <a:latin typeface="Aptos"/>
              </a:rPr>
              <a:t>Le projet combine web, mobile et backend sécurisé.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343080" indent="-228600">
              <a:lnSpc>
                <a:spcPct val="100000"/>
              </a:lnSpc>
              <a:buClr>
                <a:srgbClr val="334155"/>
              </a:buClr>
              <a:buFont typeface="Symbol" charset="2"/>
              <a:buChar char=""/>
            </a:pPr>
            <a:r>
              <a:rPr b="0" lang="fr-FR" sz="2200" spc="-1" strike="noStrike">
                <a:solidFill>
                  <a:srgbClr val="334155"/>
                </a:solidFill>
                <a:latin typeface="Aptos"/>
              </a:rPr>
              <a:t>Il simplifie le suivi pédagogique et la gestion des honoraires.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343080" indent="-228600">
              <a:lnSpc>
                <a:spcPct val="100000"/>
              </a:lnSpc>
              <a:buClr>
                <a:srgbClr val="334155"/>
              </a:buClr>
              <a:buFont typeface="Symbol" charset="2"/>
              <a:buChar char=""/>
            </a:pPr>
            <a:r>
              <a:rPr b="0" lang="fr-FR" sz="2200" spc="-1" strike="noStrike">
                <a:solidFill>
                  <a:srgbClr val="334155"/>
                </a:solidFill>
                <a:latin typeface="Aptos"/>
              </a:rPr>
              <a:t>Il peut évoluer vers les notifications, statistiques avancées et déploiement cloud.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343080" indent="-228600">
              <a:lnSpc>
                <a:spcPct val="100000"/>
              </a:lnSpc>
              <a:buClr>
                <a:srgbClr val="334155"/>
              </a:buClr>
              <a:buFont typeface="Symbol" charset="2"/>
              <a:buChar char=""/>
            </a:pPr>
            <a:r>
              <a:rPr b="0" lang="fr-FR" sz="2200" spc="-1" strike="noStrike">
                <a:solidFill>
                  <a:srgbClr val="334155"/>
                </a:solidFill>
                <a:latin typeface="Aptos"/>
              </a:rPr>
              <a:t>Merci pour votre attention.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900"/>
          <p:cNvSpPr/>
          <p:nvPr/>
        </p:nvSpPr>
        <p:spPr>
          <a:xfrm>
            <a:off x="10012680" y="6336720"/>
            <a:ext cx="1005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fr-FR" sz="900" spc="-1" strike="noStrike">
                <a:solidFill>
                  <a:srgbClr val="64748b"/>
                </a:solidFill>
                <a:latin typeface="Aptos"/>
              </a:rPr>
              <a:t>12/12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>
        <p:random/>
      </p:transition>
    </mc:Choice>
    <mc:Fallback>
      <p:transition spd="slow">
        <p:random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EduTrack">
  <a:themeElements>
    <a:clrScheme name="EduTrack">
      <a:dk1>
        <a:srgbClr val="0f172a"/>
      </a:dk1>
      <a:lt1>
        <a:srgbClr val="ffffff"/>
      </a:lt1>
      <a:dk2>
        <a:srgbClr val="334155"/>
      </a:dk2>
      <a:lt2>
        <a:srgbClr val="f8fafc"/>
      </a:lt2>
      <a:accent1>
        <a:srgbClr val="2563eb"/>
      </a:accent1>
      <a:accent2>
        <a:srgbClr val="16a34a"/>
      </a:accent2>
      <a:accent3>
        <a:srgbClr val="f59e0b"/>
      </a:accent3>
      <a:accent4>
        <a:srgbClr val="7c3aed"/>
      </a:accent4>
      <a:accent5>
        <a:srgbClr val="0891b2"/>
      </a:accent5>
      <a:accent6>
        <a:srgbClr val="dc2626"/>
      </a:accent6>
      <a:hlink>
        <a:srgbClr val="2563eb"/>
      </a:hlink>
      <a:folHlink>
        <a:srgbClr val="7c3aed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EduTrack</dc:creator>
  <dc:description/>
  <dc:language>fr-FR</dc:language>
  <cp:lastModifiedBy/>
  <dcterms:modified xsi:type="dcterms:W3CDTF">2026-06-26T20:51:09Z</dcterms:modified>
  <cp:revision>3</cp:revision>
  <dc:subject/>
  <dc:title>Présentation EduTrack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</vt:lpwstr>
  </property>
  <property fmtid="{D5CDD505-2E9C-101B-9397-08002B2CF9AE}" pid="3" name="Slides">
    <vt:r8>12</vt:r8>
  </property>
</Properties>
</file>