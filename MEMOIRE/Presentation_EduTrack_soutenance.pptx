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image" Target="../media/image-6-4.png"/><Relationship Id="rId5" Type="http://schemas.openxmlformats.org/officeDocument/2006/relationships/image" Target="../media/image-6-5.svg"/><Relationship Id="rId6" Type="http://schemas.openxmlformats.org/officeDocument/2006/relationships/image" Target="../media/image-6-6.png"/><Relationship Id="rId7" Type="http://schemas.openxmlformats.org/officeDocument/2006/relationships/image" Target="../media/image-6-7.svg"/><Relationship Id="rId8" Type="http://schemas.openxmlformats.org/officeDocument/2006/relationships/image" Target="../media/image-6-8.png"/><Relationship Id="rId9" Type="http://schemas.openxmlformats.org/officeDocument/2006/relationships/image" Target="../media/image-6-9.svg"/><Relationship Id="rId10" Type="http://schemas.openxmlformats.org/officeDocument/2006/relationships/image" Target="../media/image-6-10.png"/><Relationship Id="rId11" Type="http://schemas.openxmlformats.org/officeDocument/2006/relationships/image" Target="../media/image-6-11.sv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5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64592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</a:rPr>
              <a:t>PROJET DE FIN DE CYCLE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192024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</a:rPr>
              <a:t>EduTrack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960120" y="30175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CONCEPTION ET DÉVELOPPEMENT D'UNE APPLICATION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WEB ET MOBILE DE SUIVI PÉDAGOGIQUE ET DE CALCUL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DES HONORAIRES DES ENSEIGNANTS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914400" y="5029200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51663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Présenté par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097280" y="5394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Moussa Balla KEITA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Aya BOURAMA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303520" y="5029200"/>
            <a:ext cx="4114800" cy="1097280"/>
          </a:xfrm>
          <a:prstGeom prst="roundRect">
            <a:avLst>
              <a:gd name="adj" fmla="val 833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0" y="51663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Sous la direction de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0" y="5394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M. Mouhamoud Dembele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INTEC SUP - 2025/2026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Problématique &amp; Objectifs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2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64592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1828800"/>
            <a:ext cx="73152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1783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Le Constat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85800" y="219456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La gestion des activités pédagogiques repose encore largement sur des fichiers Excel et des formulaires papier, fragmentant l’information.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343400" y="164592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43400" y="1828800"/>
            <a:ext cx="73152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572000" y="1783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Le Problème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572000" y="219456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Ces méthodes manuelles engendrent 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• Des erreurs de saisie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• Un manque de traçabilité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• Une complexité pour calculer les honoraires des enseignants.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229600" y="164592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229600" y="1828800"/>
            <a:ext cx="73152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1" name="Text 18"/>
          <p:cNvSpPr/>
          <p:nvPr/>
        </p:nvSpPr>
        <p:spPr>
          <a:xfrm>
            <a:off x="8458200" y="1783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Notre Objectif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458200" y="219456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Créer un écosystème numérique (Web &amp; Mobile) capable de centraliser les emplois du temps, fiabiliser l’émargement et automatiser le calcul financier.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 Solution : EduTrack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3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5120640" y="1463040"/>
            <a:ext cx="6492240" cy="4663440"/>
          </a:xfrm>
          <a:prstGeom prst="rect">
            <a:avLst/>
          </a:prstGeom>
          <a:solidFill>
            <a:srgbClr val="000000">
              <a:alpha val="40000"/>
            </a:srgbClr>
          </a:solidFill>
          <a:ln/>
        </p:spPr>
      </p:sp>
      <p:pic>
        <p:nvPicPr>
          <p:cNvPr id="12" name="Image 1" descr="MEMOIRE/Capture d'ecran application web et mobile/Capture d'écran 2026-07-02 21362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6492240" cy="4663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57200" y="137160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57200" y="1554480"/>
            <a:ext cx="73152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1"/>
          <p:cNvSpPr/>
          <p:nvPr/>
        </p:nvSpPr>
        <p:spPr>
          <a:xfrm>
            <a:off x="685800" y="15087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Espace Web (Admin)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685800" y="1920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Gestion des classes, matières et planification des emplois du temps.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57200" y="256032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7200" y="2743200"/>
            <a:ext cx="73152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9" name="Text 15"/>
          <p:cNvSpPr/>
          <p:nvPr/>
        </p:nvSpPr>
        <p:spPr>
          <a:xfrm>
            <a:off x="68580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Technologie QR Code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85800" y="3108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Génération d’un QR Code unique pour chaque séance planifiée.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457200" y="374904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57200" y="393192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19"/>
          <p:cNvSpPr/>
          <p:nvPr/>
        </p:nvSpPr>
        <p:spPr>
          <a:xfrm>
            <a:off x="685800" y="38862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Espace Mobile (Enseignant)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685800" y="42976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Émargement rapide, remplissage de la fiche de progression et suivi.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457200" y="4937760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120640"/>
            <a:ext cx="73152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3"/>
          <p:cNvSpPr/>
          <p:nvPr/>
        </p:nvSpPr>
        <p:spPr>
          <a:xfrm>
            <a:off x="685800" y="5074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Module Honoraires</a:t>
            </a:r>
            <a:endParaRPr lang="en-US" sz="1800" dirty="0"/>
          </a:p>
        </p:txBody>
      </p:sp>
      <p:sp>
        <p:nvSpPr>
          <p:cNvPr id="28" name="Text 24"/>
          <p:cNvSpPr/>
          <p:nvPr/>
        </p:nvSpPr>
        <p:spPr>
          <a:xfrm>
            <a:off x="685800" y="5486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Calcul automatisé basé sur la présence réelle validée.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Fonctionnement du système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4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43000" y="1645920"/>
            <a:ext cx="731520" cy="73152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0"/>
          <p:cNvSpPr/>
          <p:nvPr/>
        </p:nvSpPr>
        <p:spPr>
          <a:xfrm>
            <a:off x="114300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720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Planification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4864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L’admin crée une séance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78892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74720" y="1645920"/>
            <a:ext cx="731520" cy="73152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5"/>
          <p:cNvSpPr/>
          <p:nvPr/>
        </p:nvSpPr>
        <p:spPr>
          <a:xfrm>
            <a:off x="347472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278892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Génération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288036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Un QR Code est généré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12064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806440" y="1645920"/>
            <a:ext cx="731520" cy="73152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580644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512064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Émargement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21208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L’enseignant scanne le code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45236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38160" y="1645920"/>
            <a:ext cx="731520" cy="7315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8" name="Text 25"/>
          <p:cNvSpPr/>
          <p:nvPr/>
        </p:nvSpPr>
        <p:spPr>
          <a:xfrm>
            <a:off x="813816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sp>
        <p:nvSpPr>
          <p:cNvPr id="29" name="Text 26"/>
          <p:cNvSpPr/>
          <p:nvPr/>
        </p:nvSpPr>
        <p:spPr>
          <a:xfrm>
            <a:off x="745236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Validation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754380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Il remplit la fiche de suivi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9784080" y="2560320"/>
            <a:ext cx="2103120" cy="2286000"/>
          </a:xfrm>
          <a:prstGeom prst="roundRect">
            <a:avLst>
              <a:gd name="adj" fmla="val 4348"/>
            </a:avLst>
          </a:prstGeom>
          <a:solidFill>
            <a:srgbClr val="172033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469880" y="1645920"/>
            <a:ext cx="731520" cy="7315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3" name="Text 30"/>
          <p:cNvSpPr/>
          <p:nvPr/>
        </p:nvSpPr>
        <p:spPr>
          <a:xfrm>
            <a:off x="10469880" y="1645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34" name="Text 31"/>
          <p:cNvSpPr/>
          <p:nvPr/>
        </p:nvSpPr>
        <p:spPr>
          <a:xfrm>
            <a:off x="9784080" y="29260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Calcul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9875520" y="33832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Honoraires mis à jour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Architecture Technique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5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280160"/>
            <a:ext cx="11274552" cy="5029200"/>
          </a:xfrm>
          <a:prstGeom prst="roundRect">
            <a:avLst>
              <a:gd name="adj" fmla="val 909"/>
            </a:avLst>
          </a:prstGeom>
          <a:solidFill>
            <a:srgbClr val="FFFFFF">
              <a:alpha val="90000"/>
            </a:srgbClr>
          </a:solidFill>
          <a:ln/>
        </p:spPr>
      </p:sp>
      <p:pic>
        <p:nvPicPr>
          <p:cNvPr id="12" name="Image 1" descr="MEMOIRE/generated_schemas/architecture_systeme_edutrack_simple_P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371600"/>
            <a:ext cx="1109167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Technologies &amp; Frameworks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6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731520" y="164592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2" name="Image 1" descr="MEMOIRE/logos/spring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r="0" t="0" b="0"/>
          <a:stretch/>
        </p:blipFill>
        <p:spPr>
          <a:xfrm>
            <a:off x="1005840" y="1920240"/>
            <a:ext cx="731520" cy="7315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920240" y="19202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Spring Boot 3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731520" y="320040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5" name="Image 2" descr="MEMOIRE/logos/java.sv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0" r="0" t="0" b="0"/>
          <a:stretch/>
        </p:blipFill>
        <p:spPr>
          <a:xfrm>
            <a:off x="1005840" y="3474720"/>
            <a:ext cx="731520" cy="7315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20240" y="34747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Java 17</a:t>
            </a:r>
            <a:endParaRPr lang="en-US" sz="2400" dirty="0"/>
          </a:p>
        </p:txBody>
      </p:sp>
      <p:sp>
        <p:nvSpPr>
          <p:cNvPr id="17" name="Shape 12"/>
          <p:cNvSpPr/>
          <p:nvPr/>
        </p:nvSpPr>
        <p:spPr>
          <a:xfrm>
            <a:off x="731520" y="475488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8" name="Image 3" descr="MEMOIRE/logos/postgresql.sv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0" r="0" t="0" b="0"/>
          <a:stretch/>
        </p:blipFill>
        <p:spPr>
          <a:xfrm>
            <a:off x="1005840" y="5029200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920240" y="50292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PostgreSQL</a:t>
            </a:r>
            <a:endParaRPr lang="en-US" sz="2400" dirty="0"/>
          </a:p>
        </p:txBody>
      </p:sp>
      <p:sp>
        <p:nvSpPr>
          <p:cNvPr id="20" name="Shape 14"/>
          <p:cNvSpPr/>
          <p:nvPr/>
        </p:nvSpPr>
        <p:spPr>
          <a:xfrm>
            <a:off x="6400800" y="164592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1" name="Image 4" descr="MEMOIRE/logos/angular.sv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0" r="0" t="0" b="0"/>
          <a:stretch/>
        </p:blipFill>
        <p:spPr>
          <a:xfrm>
            <a:off x="6675120" y="1920240"/>
            <a:ext cx="731520" cy="7315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589520" y="19202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Angular 21</a:t>
            </a:r>
            <a:endParaRPr lang="en-US" sz="2400" dirty="0"/>
          </a:p>
        </p:txBody>
      </p:sp>
      <p:sp>
        <p:nvSpPr>
          <p:cNvPr id="23" name="Shape 16"/>
          <p:cNvSpPr/>
          <p:nvPr/>
        </p:nvSpPr>
        <p:spPr>
          <a:xfrm>
            <a:off x="6400800" y="320040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4" name="Image 5" descr="MEMOIRE/logos/ionic.sv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0" r="0" t="0" b="0"/>
          <a:stretch/>
        </p:blipFill>
        <p:spPr>
          <a:xfrm>
            <a:off x="6675120" y="347472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589520" y="347472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Ionic 8</a:t>
            </a:r>
            <a:endParaRPr lang="en-US" sz="2400" dirty="0"/>
          </a:p>
        </p:txBody>
      </p:sp>
      <p:sp>
        <p:nvSpPr>
          <p:cNvPr id="26" name="Shape 18"/>
          <p:cNvSpPr/>
          <p:nvPr/>
        </p:nvSpPr>
        <p:spPr>
          <a:xfrm>
            <a:off x="6400800" y="475488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6583680" y="484632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Spring Security + JWT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</a:rPr>
              <a:t>Swagger OpenAPI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Espace Mobile Enseignant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7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91440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2" name="Image 1" descr="MEMOIRE/Capture d'ecran application web et mobile/Screenshot_20260702_213134_mobile-ioni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05840" y="1554480"/>
            <a:ext cx="1828800" cy="42062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1440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Accueil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356616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5" name="Image 2" descr="MEMOIRE/Capture d'ecran application web et mobile/Screenshot_20260702_213120_mobile-ioni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57600" y="1554480"/>
            <a:ext cx="1828800" cy="42062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56616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Planning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21792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18" name="Image 3" descr="MEMOIRE/Capture d'ecran application web et mobile/Screenshot_20260702_213143_mobile-ionic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09360" y="1554480"/>
            <a:ext cx="1828800" cy="42062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21792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Progression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8869680" y="1463040"/>
            <a:ext cx="2011680" cy="4389120"/>
          </a:xfrm>
          <a:prstGeom prst="roundRect">
            <a:avLst>
              <a:gd name="adj" fmla="val 6818"/>
            </a:avLst>
          </a:prstGeom>
          <a:solidFill>
            <a:srgbClr val="000000"/>
          </a:solidFill>
          <a:ln w="25400">
            <a:solidFill>
              <a:srgbClr val="334155"/>
            </a:solidFill>
            <a:prstDash val="solid"/>
          </a:ln>
        </p:spPr>
      </p:sp>
      <p:pic>
        <p:nvPicPr>
          <p:cNvPr id="21" name="Image 4" descr="MEMOIRE/Capture d'ecran application web et mobile/Screenshot_20260702_213212_mobile-ionic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961120" y="1554480"/>
            <a:ext cx="1828800" cy="420624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869680" y="5943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</a:rPr>
              <a:t>Honoraires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Perspectives d'évolution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37160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7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EduTrack — Projet de Licence 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537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6B6D4"/>
                </a:solidFill>
              </a:rPr>
              <a:t>8 / 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6446520"/>
            <a:ext cx="1124712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1" name="Shape 8"/>
          <p:cNvSpPr/>
          <p:nvPr/>
        </p:nvSpPr>
        <p:spPr>
          <a:xfrm>
            <a:off x="731520" y="164592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1828800"/>
            <a:ext cx="73152" cy="3657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Text 10"/>
          <p:cNvSpPr/>
          <p:nvPr/>
        </p:nvSpPr>
        <p:spPr>
          <a:xfrm>
            <a:off x="96012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Module Étudiant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60120" y="21945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Développement d’un portail dédié aux étudiants pour consulter leurs notes, emplois du temps et absences.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0" y="164592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0" y="1828800"/>
            <a:ext cx="73152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662940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Paiement Électronique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629400" y="219456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Intégration d’une API bancaire ou mobile money pour automatiser le versement direct des honoraires.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" y="384048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4023360"/>
            <a:ext cx="73152" cy="3657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8"/>
          <p:cNvSpPr/>
          <p:nvPr/>
        </p:nvSpPr>
        <p:spPr>
          <a:xfrm>
            <a:off x="960120" y="3977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Notifications Intelligentes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960120" y="43891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Alertes par SMS et Email en cas de retard, d'absence ou de modification de planning.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00800" y="384048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172033">
              <a:alpha val="9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00800" y="4023360"/>
            <a:ext cx="73152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3977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Déploiement Cloud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629400" y="43891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Mise en production sécurisée sur un serveur dédié avec intégration continue.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06B6D4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228600"/>
            <a:ext cx="164592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5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332720" y="320040"/>
            <a:ext cx="146304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MERCI POUR VOTRE ATTENTION</a:t>
            </a:r>
            <a:endParaRPr lang="en-US" sz="5600" dirty="0"/>
          </a:p>
        </p:txBody>
      </p:sp>
      <p:sp>
        <p:nvSpPr>
          <p:cNvPr id="7" name="Shape 4"/>
          <p:cNvSpPr/>
          <p:nvPr/>
        </p:nvSpPr>
        <p:spPr>
          <a:xfrm>
            <a:off x="4206240" y="3657600"/>
            <a:ext cx="374904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6B6D4"/>
                </a:solidFill>
              </a:rPr>
              <a:t>Nous sommes à votre disposition pour répondre à vos questions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EduTrack soutenance</dc:title>
  <dc:subject>PptxGenJS Presentation</dc:subject>
  <dc:creator>EduTrack</dc:creator>
  <cp:lastModifiedBy>EduTrack</cp:lastModifiedBy>
  <cp:revision>1</cp:revision>
  <dcterms:created xsi:type="dcterms:W3CDTF">2026-07-04T03:39:30Z</dcterms:created>
  <dcterms:modified xsi:type="dcterms:W3CDTF">2026-07-04T03:39:30Z</dcterms:modified>
</cp:coreProperties>
</file>