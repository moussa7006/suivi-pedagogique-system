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svg"/><Relationship Id="rId4" Type="http://schemas.openxmlformats.org/officeDocument/2006/relationships/image" Target="../media/image-7-4.png"/><Relationship Id="rId5" Type="http://schemas.openxmlformats.org/officeDocument/2006/relationships/image" Target="../media/image-7-5.svg"/><Relationship Id="rId6" Type="http://schemas.openxmlformats.org/officeDocument/2006/relationships/image" Target="../media/image-7-6.png"/><Relationship Id="rId7" Type="http://schemas.openxmlformats.org/officeDocument/2006/relationships/image" Target="../media/image-7-7.svg"/><Relationship Id="rId8" Type="http://schemas.openxmlformats.org/officeDocument/2006/relationships/image" Target="../media/image-7-8.png"/><Relationship Id="rId9" Type="http://schemas.openxmlformats.org/officeDocument/2006/relationships/image" Target="../media/image-7-9.svg"/><Relationship Id="rId10" Type="http://schemas.openxmlformats.org/officeDocument/2006/relationships/image" Target="../media/image-7-10.png"/><Relationship Id="rId11" Type="http://schemas.openxmlformats.org/officeDocument/2006/relationships/image" Target="../media/image-7-11.svg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jpg"/><Relationship Id="rId3" Type="http://schemas.openxmlformats.org/officeDocument/2006/relationships/image" Target="../media/image-8-3.jpg"/><Relationship Id="rId4" Type="http://schemas.openxmlformats.org/officeDocument/2006/relationships/image" Target="../media/image-8-4.jpg"/><Relationship Id="rId5" Type="http://schemas.openxmlformats.org/officeDocument/2006/relationships/image" Target="../media/image-8-5.jp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1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-1828800"/>
            <a:ext cx="5486400" cy="5486400"/>
          </a:xfrm>
          <a:prstGeom prst="ellipse">
            <a:avLst/>
          </a:prstGeom>
          <a:solidFill>
            <a:srgbClr val="3B82F6">
              <a:alpha val="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9144000" y="3657600"/>
            <a:ext cx="5486400" cy="5486400"/>
          </a:xfrm>
          <a:prstGeom prst="ellipse">
            <a:avLst/>
          </a:prstGeom>
          <a:solidFill>
            <a:srgbClr val="06B6D4">
              <a:alpha val="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4114800" cy="6858000"/>
          </a:xfrm>
          <a:prstGeom prst="rect">
            <a:avLst/>
          </a:prstGeom>
          <a:solidFill>
            <a:srgbClr val="06B6D4">
              <a:alpha val="15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640080" y="457200"/>
            <a:ext cx="2743200" cy="914400"/>
          </a:xfrm>
          <a:prstGeom prst="roundRect">
            <a:avLst>
              <a:gd name="adj" fmla="val 10000"/>
            </a:avLst>
          </a:prstGeom>
          <a:solidFill>
            <a:srgbClr val="FFFFFF">
              <a:alpha val="90000"/>
            </a:srgbClr>
          </a:solidFill>
          <a:ln w="12700">
            <a:solidFill>
              <a:srgbClr val="FFFFFF">
                <a:alpha val="20000"/>
              </a:srgbClr>
            </a:solidFill>
            <a:prstDash val="solid"/>
          </a:ln>
        </p:spPr>
      </p:sp>
      <p:pic>
        <p:nvPicPr>
          <p:cNvPr id="6" name="Image 0" descr="backend/edutrack/src/main/resources/images/logo_INTEC_nom_Horizon-1-3-1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31520" y="548640"/>
            <a:ext cx="2560320" cy="7315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48640" y="2286000"/>
            <a:ext cx="7315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0" b="1" dirty="0">
                <a:solidFill>
                  <a:srgbClr val="FFFFFF"/>
                </a:solidFill>
              </a:rPr>
              <a:t>BIENVENUE</a:t>
            </a:r>
            <a:endParaRPr lang="en-US" sz="7500" dirty="0"/>
          </a:p>
        </p:txBody>
      </p:sp>
      <p:sp>
        <p:nvSpPr>
          <p:cNvPr id="8" name="Text 5"/>
          <p:cNvSpPr/>
          <p:nvPr/>
        </p:nvSpPr>
        <p:spPr>
          <a:xfrm>
            <a:off x="640080" y="35661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6B6D4"/>
                </a:solidFill>
              </a:rPr>
              <a:t>Soutenance de Projet de Licence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685800" y="4206240"/>
            <a:ext cx="2286000" cy="45720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10" name="Text 7"/>
          <p:cNvSpPr/>
          <p:nvPr/>
        </p:nvSpPr>
        <p:spPr>
          <a:xfrm>
            <a:off x="640080" y="44805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94A3B8"/>
                </a:solidFill>
              </a:rPr>
              <a:t>Présentation de la plateforme EduTrack</a:t>
            </a:r>
            <a:endParaRPr lang="en-US" sz="2000" dirty="0"/>
          </a:p>
        </p:txBody>
      </p:sp>
      <p:sp>
        <p:nvSpPr>
          <p:cNvPr id="11" name="Shape 8"/>
          <p:cNvSpPr/>
          <p:nvPr/>
        </p:nvSpPr>
        <p:spPr>
          <a:xfrm>
            <a:off x="5120640" y="1737360"/>
            <a:ext cx="5669280" cy="3383280"/>
          </a:xfrm>
          <a:prstGeom prst="roundRect">
            <a:avLst>
              <a:gd name="adj" fmla="val 1351"/>
            </a:avLst>
          </a:prstGeom>
          <a:solidFill>
            <a:srgbClr val="000000"/>
          </a:solidFill>
          <a:ln w="25400">
            <a:solidFill>
              <a:srgbClr val="334155"/>
            </a:solidFill>
            <a:prstDash val="solid"/>
          </a:ln>
        </p:spPr>
      </p:sp>
      <p:pic>
        <p:nvPicPr>
          <p:cNvPr id="12" name="Image 1" descr="MEMOIRE/Capture d'ecran application web et mobile/Capture d'écran 2026-07-02 213625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212080" y="1828800"/>
            <a:ext cx="5486400" cy="3200400"/>
          </a:xfrm>
          <a:prstGeom prst="rect">
            <a:avLst/>
          </a:prstGeom>
        </p:spPr>
      </p:pic>
      <p:sp>
        <p:nvSpPr>
          <p:cNvPr id="13" name="Shape 9"/>
          <p:cNvSpPr/>
          <p:nvPr/>
        </p:nvSpPr>
        <p:spPr>
          <a:xfrm>
            <a:off x="9601200" y="2560320"/>
            <a:ext cx="1737360" cy="3657600"/>
          </a:xfrm>
          <a:prstGeom prst="roundRect">
            <a:avLst>
              <a:gd name="adj" fmla="val 7895"/>
            </a:avLst>
          </a:prstGeom>
          <a:solidFill>
            <a:srgbClr val="000000"/>
          </a:solidFill>
          <a:ln w="25400">
            <a:solidFill>
              <a:srgbClr val="334155"/>
            </a:solidFill>
            <a:prstDash val="solid"/>
          </a:ln>
        </p:spPr>
      </p:sp>
      <p:pic>
        <p:nvPicPr>
          <p:cNvPr id="14" name="Image 2" descr="MEMOIRE/Capture d'ecran application web et mobile/Screenshot_20260702_213134_mobile-ionic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9692640" y="2651760"/>
            <a:ext cx="1554480" cy="34747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11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-1828800"/>
            <a:ext cx="5486400" cy="5486400"/>
          </a:xfrm>
          <a:prstGeom prst="ellipse">
            <a:avLst/>
          </a:prstGeom>
          <a:solidFill>
            <a:srgbClr val="3B82F6">
              <a:alpha val="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9144000" y="3657600"/>
            <a:ext cx="5486400" cy="5486400"/>
          </a:xfrm>
          <a:prstGeom prst="ellipse">
            <a:avLst/>
          </a:prstGeom>
          <a:solidFill>
            <a:srgbClr val="06B6D4">
              <a:alpha val="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0241280" y="228600"/>
            <a:ext cx="1645920" cy="548640"/>
          </a:xfrm>
          <a:prstGeom prst="roundRect">
            <a:avLst>
              <a:gd name="adj" fmla="val 16667"/>
            </a:avLst>
          </a:prstGeom>
          <a:solidFill>
            <a:srgbClr val="FFFFFF">
              <a:alpha val="95000"/>
            </a:srgbClr>
          </a:solidFill>
          <a:ln w="12700">
            <a:solidFill>
              <a:srgbClr val="FFFFFF">
                <a:alpha val="20000"/>
              </a:srgbClr>
            </a:solidFill>
            <a:prstDash val="solid"/>
          </a:ln>
        </p:spPr>
      </p:sp>
      <p:pic>
        <p:nvPicPr>
          <p:cNvPr id="5" name="Image 0" descr="backend/edutrack/src/main/resources/images/logo_INTEC_nom_Horizon-1-3-1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0332720" y="320040"/>
            <a:ext cx="1463040" cy="3657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914400" y="1645920"/>
            <a:ext cx="10332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6B6D4"/>
                </a:solidFill>
              </a:rPr>
              <a:t>PROJET DE FIN DE CYCLE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868680" y="1920240"/>
            <a:ext cx="10332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FFFFFF"/>
                </a:solidFill>
              </a:rPr>
              <a:t>EduTrack</a:t>
            </a:r>
            <a:endParaRPr lang="en-US" sz="7200" dirty="0"/>
          </a:p>
        </p:txBody>
      </p:sp>
      <p:sp>
        <p:nvSpPr>
          <p:cNvPr id="8" name="Text 5"/>
          <p:cNvSpPr/>
          <p:nvPr/>
        </p:nvSpPr>
        <p:spPr>
          <a:xfrm>
            <a:off x="960120" y="3017520"/>
            <a:ext cx="10058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2E8F0"/>
                </a:solidFill>
              </a:rPr>
              <a:t>CONCEPTION ET DÉVELOPPEMENT D'UNE APPLICATION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E2E8F0"/>
                </a:solidFill>
              </a:rPr>
              <a:t>WEB ET MOBILE DE SUIVI PÉDAGOGIQUE ET DE CALCUL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E2E8F0"/>
                </a:solidFill>
              </a:rPr>
              <a:t>DES HONORAIRES DES ENSEIGNANTS</a:t>
            </a:r>
            <a:endParaRPr lang="en-US" sz="2000" dirty="0"/>
          </a:p>
        </p:txBody>
      </p:sp>
      <p:sp>
        <p:nvSpPr>
          <p:cNvPr id="9" name="Shape 6"/>
          <p:cNvSpPr/>
          <p:nvPr/>
        </p:nvSpPr>
        <p:spPr>
          <a:xfrm>
            <a:off x="914400" y="5029200"/>
            <a:ext cx="4114800" cy="1097280"/>
          </a:xfrm>
          <a:prstGeom prst="roundRect">
            <a:avLst>
              <a:gd name="adj" fmla="val 8333"/>
            </a:avLst>
          </a:prstGeom>
          <a:solidFill>
            <a:srgbClr val="172033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1097280" y="5166360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</a:rPr>
              <a:t>Présenté par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097280" y="539496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Moussa Balla KEITA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Aya BOURAMA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5303520" y="5029200"/>
            <a:ext cx="4114800" cy="1097280"/>
          </a:xfrm>
          <a:prstGeom prst="roundRect">
            <a:avLst>
              <a:gd name="adj" fmla="val 8333"/>
            </a:avLst>
          </a:prstGeom>
          <a:solidFill>
            <a:srgbClr val="172033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486400" y="5166360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</a:rPr>
              <a:t>Sous la direction de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5486400" y="539496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M. Mouhamoud Dembele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INTEC SUP - 2025/2026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1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-1828800"/>
            <a:ext cx="5486400" cy="5486400"/>
          </a:xfrm>
          <a:prstGeom prst="ellipse">
            <a:avLst/>
          </a:prstGeom>
          <a:solidFill>
            <a:srgbClr val="3B82F6">
              <a:alpha val="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9144000" y="3657600"/>
            <a:ext cx="5486400" cy="5486400"/>
          </a:xfrm>
          <a:prstGeom prst="ellipse">
            <a:avLst/>
          </a:prstGeom>
          <a:solidFill>
            <a:srgbClr val="06B6D4">
              <a:alpha val="5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27432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Problématique &amp; Objectifs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457200" y="868680"/>
            <a:ext cx="1371600" cy="45720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6" name="Shape 4"/>
          <p:cNvSpPr/>
          <p:nvPr/>
        </p:nvSpPr>
        <p:spPr>
          <a:xfrm>
            <a:off x="10241280" y="228600"/>
            <a:ext cx="1645920" cy="548640"/>
          </a:xfrm>
          <a:prstGeom prst="roundRect">
            <a:avLst>
              <a:gd name="adj" fmla="val 16667"/>
            </a:avLst>
          </a:prstGeom>
          <a:solidFill>
            <a:srgbClr val="FFFFFF">
              <a:alpha val="95000"/>
            </a:srgbClr>
          </a:solidFill>
          <a:ln w="12700">
            <a:solidFill>
              <a:srgbClr val="FFFFFF">
                <a:alpha val="20000"/>
              </a:srgbClr>
            </a:solidFill>
            <a:prstDash val="solid"/>
          </a:ln>
        </p:spPr>
      </p:sp>
      <p:pic>
        <p:nvPicPr>
          <p:cNvPr id="7" name="Image 0" descr="backend/edutrack/src/main/resources/images/logo_INTEC_nom_Horizon-1-3-1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0332720" y="320040"/>
            <a:ext cx="1463040" cy="36576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53796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</a:rPr>
              <a:t>EduTrack — Projet de Licence 3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11247120" y="653796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6B6D4"/>
                </a:solidFill>
              </a:rPr>
              <a:t>2 / 9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457200" y="6446520"/>
            <a:ext cx="11247120" cy="9144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11" name="Shape 8"/>
          <p:cNvSpPr/>
          <p:nvPr/>
        </p:nvSpPr>
        <p:spPr>
          <a:xfrm>
            <a:off x="457200" y="1645920"/>
            <a:ext cx="3474720" cy="4114800"/>
          </a:xfrm>
          <a:prstGeom prst="roundRect">
            <a:avLst>
              <a:gd name="adj" fmla="val 2105"/>
            </a:avLst>
          </a:prstGeom>
          <a:solidFill>
            <a:srgbClr val="172033">
              <a:alpha val="90000"/>
            </a:srgbClr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57200" y="1828800"/>
            <a:ext cx="73152" cy="36576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13" name="Text 10"/>
          <p:cNvSpPr/>
          <p:nvPr/>
        </p:nvSpPr>
        <p:spPr>
          <a:xfrm>
            <a:off x="685800" y="178308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Le Constat</a:t>
            </a:r>
            <a:endParaRPr lang="en-US" sz="1800" dirty="0"/>
          </a:p>
        </p:txBody>
      </p:sp>
      <p:sp>
        <p:nvSpPr>
          <p:cNvPr id="14" name="Text 11"/>
          <p:cNvSpPr/>
          <p:nvPr/>
        </p:nvSpPr>
        <p:spPr>
          <a:xfrm>
            <a:off x="685800" y="2194560"/>
            <a:ext cx="310896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94A3B8"/>
                </a:solidFill>
              </a:rPr>
              <a:t>La gestion des activités pédagogiques repose encore largement sur des fichiers Excel et des formulaires papier, fragmentant l’information.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4343400" y="1645920"/>
            <a:ext cx="3474720" cy="4114800"/>
          </a:xfrm>
          <a:prstGeom prst="roundRect">
            <a:avLst>
              <a:gd name="adj" fmla="val 2105"/>
            </a:avLst>
          </a:prstGeom>
          <a:solidFill>
            <a:srgbClr val="172033">
              <a:alpha val="90000"/>
            </a:srgbClr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4343400" y="1828800"/>
            <a:ext cx="73152" cy="36576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7" name="Text 14"/>
          <p:cNvSpPr/>
          <p:nvPr/>
        </p:nvSpPr>
        <p:spPr>
          <a:xfrm>
            <a:off x="4572000" y="178308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Le Problème</a:t>
            </a:r>
            <a:endParaRPr lang="en-US" sz="1800" dirty="0"/>
          </a:p>
        </p:txBody>
      </p:sp>
      <p:sp>
        <p:nvSpPr>
          <p:cNvPr id="18" name="Text 15"/>
          <p:cNvSpPr/>
          <p:nvPr/>
        </p:nvSpPr>
        <p:spPr>
          <a:xfrm>
            <a:off x="4572000" y="2194560"/>
            <a:ext cx="310896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94A3B8"/>
                </a:solidFill>
              </a:rPr>
              <a:t>Ces méthodes manuelles engendrent :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94A3B8"/>
                </a:solidFill>
              </a:rPr>
              <a:t>• Des erreurs de saisie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94A3B8"/>
                </a:solidFill>
              </a:rPr>
              <a:t>• Un manque de traçabilité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94A3B8"/>
                </a:solidFill>
              </a:rPr>
              <a:t>• Une complexité pour calculer les honoraires des enseignants.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8229600" y="1645920"/>
            <a:ext cx="3474720" cy="4114800"/>
          </a:xfrm>
          <a:prstGeom prst="roundRect">
            <a:avLst>
              <a:gd name="adj" fmla="val 2105"/>
            </a:avLst>
          </a:prstGeom>
          <a:solidFill>
            <a:srgbClr val="172033">
              <a:alpha val="90000"/>
            </a:srgbClr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8229600" y="1828800"/>
            <a:ext cx="73152" cy="365760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1" name="Text 18"/>
          <p:cNvSpPr/>
          <p:nvPr/>
        </p:nvSpPr>
        <p:spPr>
          <a:xfrm>
            <a:off x="8458200" y="178308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Notre Objectif</a:t>
            </a:r>
            <a:endParaRPr lang="en-US" sz="1800" dirty="0"/>
          </a:p>
        </p:txBody>
      </p:sp>
      <p:sp>
        <p:nvSpPr>
          <p:cNvPr id="22" name="Text 19"/>
          <p:cNvSpPr/>
          <p:nvPr/>
        </p:nvSpPr>
        <p:spPr>
          <a:xfrm>
            <a:off x="8458200" y="2194560"/>
            <a:ext cx="310896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94A3B8"/>
                </a:solidFill>
              </a:rPr>
              <a:t>Créer un écosystème numérique (Web &amp; Mobile) capable de centraliser les emplois du temps, fiabiliser l’émargement et automatiser le calcul financier.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11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-1828800"/>
            <a:ext cx="5486400" cy="5486400"/>
          </a:xfrm>
          <a:prstGeom prst="ellipse">
            <a:avLst/>
          </a:prstGeom>
          <a:solidFill>
            <a:srgbClr val="3B82F6">
              <a:alpha val="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9144000" y="3657600"/>
            <a:ext cx="5486400" cy="5486400"/>
          </a:xfrm>
          <a:prstGeom prst="ellipse">
            <a:avLst/>
          </a:prstGeom>
          <a:solidFill>
            <a:srgbClr val="06B6D4">
              <a:alpha val="5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27432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La Solution : EduTrack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457200" y="868680"/>
            <a:ext cx="1371600" cy="45720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6" name="Shape 4"/>
          <p:cNvSpPr/>
          <p:nvPr/>
        </p:nvSpPr>
        <p:spPr>
          <a:xfrm>
            <a:off x="10241280" y="228600"/>
            <a:ext cx="1645920" cy="548640"/>
          </a:xfrm>
          <a:prstGeom prst="roundRect">
            <a:avLst>
              <a:gd name="adj" fmla="val 16667"/>
            </a:avLst>
          </a:prstGeom>
          <a:solidFill>
            <a:srgbClr val="FFFFFF">
              <a:alpha val="95000"/>
            </a:srgbClr>
          </a:solidFill>
          <a:ln w="12700">
            <a:solidFill>
              <a:srgbClr val="FFFFFF">
                <a:alpha val="20000"/>
              </a:srgbClr>
            </a:solidFill>
            <a:prstDash val="solid"/>
          </a:ln>
        </p:spPr>
      </p:sp>
      <p:pic>
        <p:nvPicPr>
          <p:cNvPr id="7" name="Image 0" descr="backend/edutrack/src/main/resources/images/logo_INTEC_nom_Horizon-1-3-1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0332720" y="320040"/>
            <a:ext cx="1463040" cy="36576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53796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</a:rPr>
              <a:t>EduTrack — Projet de Licence 3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11247120" y="653796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6B6D4"/>
                </a:solidFill>
              </a:rPr>
              <a:t>3 / 9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457200" y="6446520"/>
            <a:ext cx="11247120" cy="9144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11" name="Shape 8"/>
          <p:cNvSpPr/>
          <p:nvPr/>
        </p:nvSpPr>
        <p:spPr>
          <a:xfrm>
            <a:off x="5120640" y="1463040"/>
            <a:ext cx="6492240" cy="4663440"/>
          </a:xfrm>
          <a:prstGeom prst="rect">
            <a:avLst/>
          </a:prstGeom>
          <a:solidFill>
            <a:srgbClr val="000000">
              <a:alpha val="40000"/>
            </a:srgbClr>
          </a:solidFill>
          <a:ln/>
        </p:spPr>
      </p:sp>
      <p:pic>
        <p:nvPicPr>
          <p:cNvPr id="12" name="Image 1" descr="MEMOIRE/Capture d'ecran application web et mobile/Capture d'écran 2026-07-02 213625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029200" y="1371600"/>
            <a:ext cx="6492240" cy="4663440"/>
          </a:xfrm>
          <a:prstGeom prst="rect">
            <a:avLst/>
          </a:prstGeom>
        </p:spPr>
      </p:pic>
      <p:sp>
        <p:nvSpPr>
          <p:cNvPr id="13" name="Shape 9"/>
          <p:cNvSpPr/>
          <p:nvPr/>
        </p:nvSpPr>
        <p:spPr>
          <a:xfrm>
            <a:off x="457200" y="1371600"/>
            <a:ext cx="4114800" cy="1005840"/>
          </a:xfrm>
          <a:prstGeom prst="roundRect">
            <a:avLst>
              <a:gd name="adj" fmla="val 7273"/>
            </a:avLst>
          </a:prstGeom>
          <a:solidFill>
            <a:srgbClr val="172033">
              <a:alpha val="90000"/>
            </a:srgbClr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457200" y="1554480"/>
            <a:ext cx="73152" cy="36576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15" name="Text 11"/>
          <p:cNvSpPr/>
          <p:nvPr/>
        </p:nvSpPr>
        <p:spPr>
          <a:xfrm>
            <a:off x="685800" y="150876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Espace Web (Admin)</a:t>
            </a:r>
            <a:endParaRPr lang="en-US" sz="1800" dirty="0"/>
          </a:p>
        </p:txBody>
      </p:sp>
      <p:sp>
        <p:nvSpPr>
          <p:cNvPr id="16" name="Text 12"/>
          <p:cNvSpPr/>
          <p:nvPr/>
        </p:nvSpPr>
        <p:spPr>
          <a:xfrm>
            <a:off x="685800" y="192024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94A3B8"/>
                </a:solidFill>
              </a:rPr>
              <a:t>Gestion des classes, matières et planification des emplois du temps.</a:t>
            </a:r>
            <a:endParaRPr lang="en-US" sz="1500" dirty="0"/>
          </a:p>
        </p:txBody>
      </p:sp>
      <p:sp>
        <p:nvSpPr>
          <p:cNvPr id="17" name="Shape 13"/>
          <p:cNvSpPr/>
          <p:nvPr/>
        </p:nvSpPr>
        <p:spPr>
          <a:xfrm>
            <a:off x="457200" y="2560320"/>
            <a:ext cx="4114800" cy="1005840"/>
          </a:xfrm>
          <a:prstGeom prst="roundRect">
            <a:avLst>
              <a:gd name="adj" fmla="val 7273"/>
            </a:avLst>
          </a:prstGeom>
          <a:solidFill>
            <a:srgbClr val="172033">
              <a:alpha val="90000"/>
            </a:srgbClr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457200" y="2743200"/>
            <a:ext cx="73152" cy="365760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19" name="Text 15"/>
          <p:cNvSpPr/>
          <p:nvPr/>
        </p:nvSpPr>
        <p:spPr>
          <a:xfrm>
            <a:off x="685800" y="269748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Technologie QR Code</a:t>
            </a:r>
            <a:endParaRPr lang="en-US" sz="1800" dirty="0"/>
          </a:p>
        </p:txBody>
      </p:sp>
      <p:sp>
        <p:nvSpPr>
          <p:cNvPr id="20" name="Text 16"/>
          <p:cNvSpPr/>
          <p:nvPr/>
        </p:nvSpPr>
        <p:spPr>
          <a:xfrm>
            <a:off x="685800" y="310896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94A3B8"/>
                </a:solidFill>
              </a:rPr>
              <a:t>Génération d’un QR Code unique pour chaque séance planifiée.</a:t>
            </a:r>
            <a:endParaRPr lang="en-US" sz="1500" dirty="0"/>
          </a:p>
        </p:txBody>
      </p:sp>
      <p:sp>
        <p:nvSpPr>
          <p:cNvPr id="21" name="Shape 17"/>
          <p:cNvSpPr/>
          <p:nvPr/>
        </p:nvSpPr>
        <p:spPr>
          <a:xfrm>
            <a:off x="457200" y="3749040"/>
            <a:ext cx="4114800" cy="1005840"/>
          </a:xfrm>
          <a:prstGeom prst="roundRect">
            <a:avLst>
              <a:gd name="adj" fmla="val 7273"/>
            </a:avLst>
          </a:prstGeom>
          <a:solidFill>
            <a:srgbClr val="172033">
              <a:alpha val="90000"/>
            </a:srgbClr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457200" y="3931920"/>
            <a:ext cx="73152" cy="36576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3" name="Text 19"/>
          <p:cNvSpPr/>
          <p:nvPr/>
        </p:nvSpPr>
        <p:spPr>
          <a:xfrm>
            <a:off x="685800" y="388620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Espace Mobile (Enseignant)</a:t>
            </a:r>
            <a:endParaRPr lang="en-US" sz="1800" dirty="0"/>
          </a:p>
        </p:txBody>
      </p:sp>
      <p:sp>
        <p:nvSpPr>
          <p:cNvPr id="24" name="Text 20"/>
          <p:cNvSpPr/>
          <p:nvPr/>
        </p:nvSpPr>
        <p:spPr>
          <a:xfrm>
            <a:off x="685800" y="429768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94A3B8"/>
                </a:solidFill>
              </a:rPr>
              <a:t>Émargement rapide, remplissage de la fiche de progression et suivi.</a:t>
            </a:r>
            <a:endParaRPr lang="en-US" sz="1500" dirty="0"/>
          </a:p>
        </p:txBody>
      </p:sp>
      <p:sp>
        <p:nvSpPr>
          <p:cNvPr id="25" name="Shape 21"/>
          <p:cNvSpPr/>
          <p:nvPr/>
        </p:nvSpPr>
        <p:spPr>
          <a:xfrm>
            <a:off x="457200" y="4937760"/>
            <a:ext cx="4114800" cy="1005840"/>
          </a:xfrm>
          <a:prstGeom prst="roundRect">
            <a:avLst>
              <a:gd name="adj" fmla="val 7273"/>
            </a:avLst>
          </a:prstGeom>
          <a:solidFill>
            <a:srgbClr val="172033">
              <a:alpha val="90000"/>
            </a:srgbClr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>
            <a:off x="457200" y="5120640"/>
            <a:ext cx="73152" cy="36576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7" name="Text 23"/>
          <p:cNvSpPr/>
          <p:nvPr/>
        </p:nvSpPr>
        <p:spPr>
          <a:xfrm>
            <a:off x="685800" y="507492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Module Honoraires</a:t>
            </a:r>
            <a:endParaRPr lang="en-US" sz="1800" dirty="0"/>
          </a:p>
        </p:txBody>
      </p:sp>
      <p:sp>
        <p:nvSpPr>
          <p:cNvPr id="28" name="Text 24"/>
          <p:cNvSpPr/>
          <p:nvPr/>
        </p:nvSpPr>
        <p:spPr>
          <a:xfrm>
            <a:off x="685800" y="548640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94A3B8"/>
                </a:solidFill>
              </a:rPr>
              <a:t>Calcul automatisé basé sur la présence réelle validée.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11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-1828800"/>
            <a:ext cx="5486400" cy="5486400"/>
          </a:xfrm>
          <a:prstGeom prst="ellipse">
            <a:avLst/>
          </a:prstGeom>
          <a:solidFill>
            <a:srgbClr val="3B82F6">
              <a:alpha val="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9144000" y="3657600"/>
            <a:ext cx="5486400" cy="5486400"/>
          </a:xfrm>
          <a:prstGeom prst="ellipse">
            <a:avLst/>
          </a:prstGeom>
          <a:solidFill>
            <a:srgbClr val="06B6D4">
              <a:alpha val="5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27432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Fonctionnement du système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457200" y="868680"/>
            <a:ext cx="1371600" cy="45720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6" name="Shape 4"/>
          <p:cNvSpPr/>
          <p:nvPr/>
        </p:nvSpPr>
        <p:spPr>
          <a:xfrm>
            <a:off x="10241280" y="228600"/>
            <a:ext cx="1645920" cy="548640"/>
          </a:xfrm>
          <a:prstGeom prst="roundRect">
            <a:avLst>
              <a:gd name="adj" fmla="val 16667"/>
            </a:avLst>
          </a:prstGeom>
          <a:solidFill>
            <a:srgbClr val="FFFFFF">
              <a:alpha val="95000"/>
            </a:srgbClr>
          </a:solidFill>
          <a:ln w="12700">
            <a:solidFill>
              <a:srgbClr val="FFFFFF">
                <a:alpha val="20000"/>
              </a:srgbClr>
            </a:solidFill>
            <a:prstDash val="solid"/>
          </a:ln>
        </p:spPr>
      </p:sp>
      <p:pic>
        <p:nvPicPr>
          <p:cNvPr id="7" name="Image 0" descr="backend/edutrack/src/main/resources/images/logo_INTEC_nom_Horizon-1-3-1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0332720" y="320040"/>
            <a:ext cx="1463040" cy="36576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53796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</a:rPr>
              <a:t>EduTrack — Projet de Licence 3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11247120" y="653796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6B6D4"/>
                </a:solidFill>
              </a:rPr>
              <a:t>4 / 9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457200" y="6446520"/>
            <a:ext cx="11247120" cy="9144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11" name="Shape 8"/>
          <p:cNvSpPr/>
          <p:nvPr/>
        </p:nvSpPr>
        <p:spPr>
          <a:xfrm>
            <a:off x="457200" y="2560320"/>
            <a:ext cx="2103120" cy="2286000"/>
          </a:xfrm>
          <a:prstGeom prst="roundRect">
            <a:avLst>
              <a:gd name="adj" fmla="val 4348"/>
            </a:avLst>
          </a:prstGeom>
          <a:solidFill>
            <a:srgbClr val="172033"/>
          </a:solidFill>
          <a:ln w="25400">
            <a:solidFill>
              <a:srgbClr val="3B82F6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143000" y="1645920"/>
            <a:ext cx="731520" cy="731520"/>
          </a:xfrm>
          <a:prstGeom prst="ellipse">
            <a:avLst/>
          </a:prstGeom>
          <a:solidFill>
            <a:srgbClr val="3B82F6"/>
          </a:solidFill>
          <a:ln/>
        </p:spPr>
      </p:sp>
      <p:sp>
        <p:nvSpPr>
          <p:cNvPr id="13" name="Text 10"/>
          <p:cNvSpPr/>
          <p:nvPr/>
        </p:nvSpPr>
        <p:spPr>
          <a:xfrm>
            <a:off x="1143000" y="164592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1</a:t>
            </a:r>
            <a:endParaRPr lang="en-US" sz="2800" dirty="0"/>
          </a:p>
        </p:txBody>
      </p:sp>
      <p:sp>
        <p:nvSpPr>
          <p:cNvPr id="14" name="Text 11"/>
          <p:cNvSpPr/>
          <p:nvPr/>
        </p:nvSpPr>
        <p:spPr>
          <a:xfrm>
            <a:off x="457200" y="29260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Planification</a:t>
            </a:r>
            <a:endParaRPr lang="en-US" sz="1800" dirty="0"/>
          </a:p>
        </p:txBody>
      </p:sp>
      <p:sp>
        <p:nvSpPr>
          <p:cNvPr id="15" name="Text 12"/>
          <p:cNvSpPr/>
          <p:nvPr/>
        </p:nvSpPr>
        <p:spPr>
          <a:xfrm>
            <a:off x="548640" y="3383280"/>
            <a:ext cx="192024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4A3B8"/>
                </a:solidFill>
              </a:rPr>
              <a:t>L’admin crée une séance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2788920" y="2560320"/>
            <a:ext cx="2103120" cy="2286000"/>
          </a:xfrm>
          <a:prstGeom prst="roundRect">
            <a:avLst>
              <a:gd name="adj" fmla="val 4348"/>
            </a:avLst>
          </a:prstGeom>
          <a:solidFill>
            <a:srgbClr val="172033"/>
          </a:solidFill>
          <a:ln w="25400">
            <a:solidFill>
              <a:srgbClr val="06B6D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3474720" y="1645920"/>
            <a:ext cx="731520" cy="73152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8" name="Text 15"/>
          <p:cNvSpPr/>
          <p:nvPr/>
        </p:nvSpPr>
        <p:spPr>
          <a:xfrm>
            <a:off x="3474720" y="164592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2</a:t>
            </a:r>
            <a:endParaRPr lang="en-US" sz="2800" dirty="0"/>
          </a:p>
        </p:txBody>
      </p:sp>
      <p:sp>
        <p:nvSpPr>
          <p:cNvPr id="19" name="Text 16"/>
          <p:cNvSpPr/>
          <p:nvPr/>
        </p:nvSpPr>
        <p:spPr>
          <a:xfrm>
            <a:off x="2788920" y="29260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Génération</a:t>
            </a:r>
            <a:endParaRPr lang="en-US" sz="1800" dirty="0"/>
          </a:p>
        </p:txBody>
      </p:sp>
      <p:sp>
        <p:nvSpPr>
          <p:cNvPr id="20" name="Text 17"/>
          <p:cNvSpPr/>
          <p:nvPr/>
        </p:nvSpPr>
        <p:spPr>
          <a:xfrm>
            <a:off x="2880360" y="3383280"/>
            <a:ext cx="192024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4A3B8"/>
                </a:solidFill>
              </a:rPr>
              <a:t>Un QR Code est généré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5120640" y="2560320"/>
            <a:ext cx="2103120" cy="2286000"/>
          </a:xfrm>
          <a:prstGeom prst="roundRect">
            <a:avLst>
              <a:gd name="adj" fmla="val 4348"/>
            </a:avLst>
          </a:prstGeom>
          <a:solidFill>
            <a:srgbClr val="172033"/>
          </a:solidFill>
          <a:ln w="25400">
            <a:solidFill>
              <a:srgbClr val="10B981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5806440" y="1645920"/>
            <a:ext cx="731520" cy="73152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23" name="Text 20"/>
          <p:cNvSpPr/>
          <p:nvPr/>
        </p:nvSpPr>
        <p:spPr>
          <a:xfrm>
            <a:off x="5806440" y="164592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3</a:t>
            </a:r>
            <a:endParaRPr lang="en-US" sz="2800" dirty="0"/>
          </a:p>
        </p:txBody>
      </p:sp>
      <p:sp>
        <p:nvSpPr>
          <p:cNvPr id="24" name="Text 21"/>
          <p:cNvSpPr/>
          <p:nvPr/>
        </p:nvSpPr>
        <p:spPr>
          <a:xfrm>
            <a:off x="5120640" y="29260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Émargement</a:t>
            </a:r>
            <a:endParaRPr lang="en-US" sz="1800" dirty="0"/>
          </a:p>
        </p:txBody>
      </p:sp>
      <p:sp>
        <p:nvSpPr>
          <p:cNvPr id="25" name="Text 22"/>
          <p:cNvSpPr/>
          <p:nvPr/>
        </p:nvSpPr>
        <p:spPr>
          <a:xfrm>
            <a:off x="5212080" y="3383280"/>
            <a:ext cx="192024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4A3B8"/>
                </a:solidFill>
              </a:rPr>
              <a:t>L’enseignant scanne le code</a:t>
            </a:r>
            <a:endParaRPr lang="en-US" sz="1400" dirty="0"/>
          </a:p>
        </p:txBody>
      </p:sp>
      <p:sp>
        <p:nvSpPr>
          <p:cNvPr id="26" name="Shape 23"/>
          <p:cNvSpPr/>
          <p:nvPr/>
        </p:nvSpPr>
        <p:spPr>
          <a:xfrm>
            <a:off x="7452360" y="2560320"/>
            <a:ext cx="2103120" cy="2286000"/>
          </a:xfrm>
          <a:prstGeom prst="roundRect">
            <a:avLst>
              <a:gd name="adj" fmla="val 4348"/>
            </a:avLst>
          </a:prstGeom>
          <a:solidFill>
            <a:srgbClr val="172033"/>
          </a:solidFill>
          <a:ln w="25400">
            <a:solidFill>
              <a:srgbClr val="F59E0B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8138160" y="1645920"/>
            <a:ext cx="731520" cy="73152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28" name="Text 25"/>
          <p:cNvSpPr/>
          <p:nvPr/>
        </p:nvSpPr>
        <p:spPr>
          <a:xfrm>
            <a:off x="8138160" y="164592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4</a:t>
            </a:r>
            <a:endParaRPr lang="en-US" sz="2800" dirty="0"/>
          </a:p>
        </p:txBody>
      </p:sp>
      <p:sp>
        <p:nvSpPr>
          <p:cNvPr id="29" name="Text 26"/>
          <p:cNvSpPr/>
          <p:nvPr/>
        </p:nvSpPr>
        <p:spPr>
          <a:xfrm>
            <a:off x="7452360" y="29260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Validation</a:t>
            </a:r>
            <a:endParaRPr lang="en-US" sz="1800" dirty="0"/>
          </a:p>
        </p:txBody>
      </p:sp>
      <p:sp>
        <p:nvSpPr>
          <p:cNvPr id="30" name="Text 27"/>
          <p:cNvSpPr/>
          <p:nvPr/>
        </p:nvSpPr>
        <p:spPr>
          <a:xfrm>
            <a:off x="7543800" y="3383280"/>
            <a:ext cx="192024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4A3B8"/>
                </a:solidFill>
              </a:rPr>
              <a:t>Il remplit la fiche de suivi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9784080" y="2560320"/>
            <a:ext cx="2103120" cy="2286000"/>
          </a:xfrm>
          <a:prstGeom prst="roundRect">
            <a:avLst>
              <a:gd name="adj" fmla="val 4348"/>
            </a:avLst>
          </a:prstGeom>
          <a:solidFill>
            <a:srgbClr val="172033"/>
          </a:solidFill>
          <a:ln w="25400">
            <a:solidFill>
              <a:srgbClr val="8B5CF6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10469880" y="1645920"/>
            <a:ext cx="731520" cy="73152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33" name="Text 30"/>
          <p:cNvSpPr/>
          <p:nvPr/>
        </p:nvSpPr>
        <p:spPr>
          <a:xfrm>
            <a:off x="10469880" y="164592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5</a:t>
            </a:r>
            <a:endParaRPr lang="en-US" sz="2800" dirty="0"/>
          </a:p>
        </p:txBody>
      </p:sp>
      <p:sp>
        <p:nvSpPr>
          <p:cNvPr id="34" name="Text 31"/>
          <p:cNvSpPr/>
          <p:nvPr/>
        </p:nvSpPr>
        <p:spPr>
          <a:xfrm>
            <a:off x="9784080" y="29260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Calcul</a:t>
            </a:r>
            <a:endParaRPr lang="en-US" sz="1800" dirty="0"/>
          </a:p>
        </p:txBody>
      </p:sp>
      <p:sp>
        <p:nvSpPr>
          <p:cNvPr id="35" name="Text 32"/>
          <p:cNvSpPr/>
          <p:nvPr/>
        </p:nvSpPr>
        <p:spPr>
          <a:xfrm>
            <a:off x="9875520" y="3383280"/>
            <a:ext cx="192024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4A3B8"/>
                </a:solidFill>
              </a:rPr>
              <a:t>Honoraires mis à jour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11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-1828800"/>
            <a:ext cx="5486400" cy="5486400"/>
          </a:xfrm>
          <a:prstGeom prst="ellipse">
            <a:avLst/>
          </a:prstGeom>
          <a:solidFill>
            <a:srgbClr val="3B82F6">
              <a:alpha val="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9144000" y="3657600"/>
            <a:ext cx="5486400" cy="5486400"/>
          </a:xfrm>
          <a:prstGeom prst="ellipse">
            <a:avLst/>
          </a:prstGeom>
          <a:solidFill>
            <a:srgbClr val="06B6D4">
              <a:alpha val="5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27432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Architecture Technique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457200" y="868680"/>
            <a:ext cx="1371600" cy="45720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6" name="Shape 4"/>
          <p:cNvSpPr/>
          <p:nvPr/>
        </p:nvSpPr>
        <p:spPr>
          <a:xfrm>
            <a:off x="10241280" y="228600"/>
            <a:ext cx="1645920" cy="548640"/>
          </a:xfrm>
          <a:prstGeom prst="roundRect">
            <a:avLst>
              <a:gd name="adj" fmla="val 16667"/>
            </a:avLst>
          </a:prstGeom>
          <a:solidFill>
            <a:srgbClr val="FFFFFF">
              <a:alpha val="95000"/>
            </a:srgbClr>
          </a:solidFill>
          <a:ln w="12700">
            <a:solidFill>
              <a:srgbClr val="FFFFFF">
                <a:alpha val="20000"/>
              </a:srgbClr>
            </a:solidFill>
            <a:prstDash val="solid"/>
          </a:ln>
        </p:spPr>
      </p:sp>
      <p:pic>
        <p:nvPicPr>
          <p:cNvPr id="7" name="Image 0" descr="backend/edutrack/src/main/resources/images/logo_INTEC_nom_Horizon-1-3-1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0332720" y="320040"/>
            <a:ext cx="1463040" cy="36576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53796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</a:rPr>
              <a:t>EduTrack — Projet de Licence 3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11247120" y="653796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6B6D4"/>
                </a:solidFill>
              </a:rPr>
              <a:t>5 / 9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457200" y="6446520"/>
            <a:ext cx="11247120" cy="9144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11" name="Shape 8"/>
          <p:cNvSpPr/>
          <p:nvPr/>
        </p:nvSpPr>
        <p:spPr>
          <a:xfrm>
            <a:off x="457200" y="1280160"/>
            <a:ext cx="11274552" cy="5029200"/>
          </a:xfrm>
          <a:prstGeom prst="roundRect">
            <a:avLst>
              <a:gd name="adj" fmla="val 909"/>
            </a:avLst>
          </a:prstGeom>
          <a:solidFill>
            <a:srgbClr val="FFFFFF">
              <a:alpha val="90000"/>
            </a:srgbClr>
          </a:solidFill>
          <a:ln/>
        </p:spPr>
      </p:sp>
      <p:pic>
        <p:nvPicPr>
          <p:cNvPr id="12" name="Image 1" descr="MEMOIRE/generated_schemas/architecture_systeme_edutrack_simple_PNG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48640" y="1371600"/>
            <a:ext cx="11091672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11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-1828800"/>
            <a:ext cx="5486400" cy="5486400"/>
          </a:xfrm>
          <a:prstGeom prst="ellipse">
            <a:avLst/>
          </a:prstGeom>
          <a:solidFill>
            <a:srgbClr val="3B82F6">
              <a:alpha val="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9144000" y="3657600"/>
            <a:ext cx="5486400" cy="5486400"/>
          </a:xfrm>
          <a:prstGeom prst="ellipse">
            <a:avLst/>
          </a:prstGeom>
          <a:solidFill>
            <a:srgbClr val="06B6D4">
              <a:alpha val="5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27432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Technologies &amp; Frameworks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457200" y="868680"/>
            <a:ext cx="1371600" cy="45720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6" name="Shape 4"/>
          <p:cNvSpPr/>
          <p:nvPr/>
        </p:nvSpPr>
        <p:spPr>
          <a:xfrm>
            <a:off x="10241280" y="228600"/>
            <a:ext cx="1645920" cy="548640"/>
          </a:xfrm>
          <a:prstGeom prst="roundRect">
            <a:avLst>
              <a:gd name="adj" fmla="val 16667"/>
            </a:avLst>
          </a:prstGeom>
          <a:solidFill>
            <a:srgbClr val="FFFFFF">
              <a:alpha val="95000"/>
            </a:srgbClr>
          </a:solidFill>
          <a:ln w="12700">
            <a:solidFill>
              <a:srgbClr val="FFFFFF">
                <a:alpha val="20000"/>
              </a:srgbClr>
            </a:solidFill>
            <a:prstDash val="solid"/>
          </a:ln>
        </p:spPr>
      </p:sp>
      <p:pic>
        <p:nvPicPr>
          <p:cNvPr id="7" name="Image 0" descr="backend/edutrack/src/main/resources/images/logo_INTEC_nom_Horizon-1-3-1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0332720" y="320040"/>
            <a:ext cx="1463040" cy="36576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53796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</a:rPr>
              <a:t>EduTrack — Projet de Licence 3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11247120" y="653796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6B6D4"/>
                </a:solidFill>
              </a:rPr>
              <a:t>6 / 9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457200" y="6446520"/>
            <a:ext cx="11247120" cy="9144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11" name="Shape 8"/>
          <p:cNvSpPr/>
          <p:nvPr/>
        </p:nvSpPr>
        <p:spPr>
          <a:xfrm>
            <a:off x="731520" y="1645920"/>
            <a:ext cx="5029200" cy="1280160"/>
          </a:xfrm>
          <a:prstGeom prst="roundRect">
            <a:avLst>
              <a:gd name="adj" fmla="val 7143"/>
            </a:avLst>
          </a:prstGeom>
          <a:solidFill>
            <a:srgbClr val="172033"/>
          </a:solidFill>
          <a:ln w="12700">
            <a:solidFill>
              <a:srgbClr val="334155"/>
            </a:solidFill>
            <a:prstDash val="solid"/>
          </a:ln>
        </p:spPr>
      </p:sp>
      <p:pic>
        <p:nvPicPr>
          <p:cNvPr id="12" name="Image 1" descr="MEMOIRE/logos/spring.svg">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0" r="0" t="0" b="0"/>
          <a:stretch/>
        </p:blipFill>
        <p:spPr>
          <a:xfrm>
            <a:off x="1005840" y="1920240"/>
            <a:ext cx="731520" cy="73152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1920240" y="1920240"/>
            <a:ext cx="3657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Spring Boot 3</a:t>
            </a:r>
            <a:endParaRPr lang="en-US" sz="2400" dirty="0"/>
          </a:p>
        </p:txBody>
      </p:sp>
      <p:sp>
        <p:nvSpPr>
          <p:cNvPr id="14" name="Shape 10"/>
          <p:cNvSpPr/>
          <p:nvPr/>
        </p:nvSpPr>
        <p:spPr>
          <a:xfrm>
            <a:off x="731520" y="3200400"/>
            <a:ext cx="5029200" cy="1280160"/>
          </a:xfrm>
          <a:prstGeom prst="roundRect">
            <a:avLst>
              <a:gd name="adj" fmla="val 7143"/>
            </a:avLst>
          </a:prstGeom>
          <a:solidFill>
            <a:srgbClr val="172033"/>
          </a:solidFill>
          <a:ln w="12700">
            <a:solidFill>
              <a:srgbClr val="334155"/>
            </a:solidFill>
            <a:prstDash val="solid"/>
          </a:ln>
        </p:spPr>
      </p:sp>
      <p:pic>
        <p:nvPicPr>
          <p:cNvPr id="15" name="Image 2" descr="MEMOIRE/logos/java.svg">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l="0" r="0" t="0" b="0"/>
          <a:stretch/>
        </p:blipFill>
        <p:spPr>
          <a:xfrm>
            <a:off x="1005840" y="3474720"/>
            <a:ext cx="731520" cy="73152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1920240" y="3474720"/>
            <a:ext cx="3657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Java 17</a:t>
            </a:r>
            <a:endParaRPr lang="en-US" sz="2400" dirty="0"/>
          </a:p>
        </p:txBody>
      </p:sp>
      <p:sp>
        <p:nvSpPr>
          <p:cNvPr id="17" name="Shape 12"/>
          <p:cNvSpPr/>
          <p:nvPr/>
        </p:nvSpPr>
        <p:spPr>
          <a:xfrm>
            <a:off x="731520" y="4754880"/>
            <a:ext cx="5029200" cy="1280160"/>
          </a:xfrm>
          <a:prstGeom prst="roundRect">
            <a:avLst>
              <a:gd name="adj" fmla="val 7143"/>
            </a:avLst>
          </a:prstGeom>
          <a:solidFill>
            <a:srgbClr val="172033"/>
          </a:solidFill>
          <a:ln w="12700">
            <a:solidFill>
              <a:srgbClr val="334155"/>
            </a:solidFill>
            <a:prstDash val="solid"/>
          </a:ln>
        </p:spPr>
      </p:sp>
      <p:pic>
        <p:nvPicPr>
          <p:cNvPr id="18" name="Image 3" descr="MEMOIRE/logos/postgresql.svg">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rcRect l="0" r="0" t="0" b="0"/>
          <a:stretch/>
        </p:blipFill>
        <p:spPr>
          <a:xfrm>
            <a:off x="1005840" y="5029200"/>
            <a:ext cx="731520" cy="731520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1920240" y="5029200"/>
            <a:ext cx="3657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PostgreSQL</a:t>
            </a:r>
            <a:endParaRPr lang="en-US" sz="2400" dirty="0"/>
          </a:p>
        </p:txBody>
      </p:sp>
      <p:sp>
        <p:nvSpPr>
          <p:cNvPr id="20" name="Shape 14"/>
          <p:cNvSpPr/>
          <p:nvPr/>
        </p:nvSpPr>
        <p:spPr>
          <a:xfrm>
            <a:off x="6400800" y="1645920"/>
            <a:ext cx="5029200" cy="1280160"/>
          </a:xfrm>
          <a:prstGeom prst="roundRect">
            <a:avLst>
              <a:gd name="adj" fmla="val 7143"/>
            </a:avLst>
          </a:prstGeom>
          <a:solidFill>
            <a:srgbClr val="172033"/>
          </a:solidFill>
          <a:ln w="12700">
            <a:solidFill>
              <a:srgbClr val="334155"/>
            </a:solidFill>
            <a:prstDash val="solid"/>
          </a:ln>
        </p:spPr>
      </p:sp>
      <p:pic>
        <p:nvPicPr>
          <p:cNvPr id="21" name="Image 4" descr="MEMOIRE/logos/angular.svg">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rcRect l="0" r="0" t="0" b="0"/>
          <a:stretch/>
        </p:blipFill>
        <p:spPr>
          <a:xfrm>
            <a:off x="6675120" y="1920240"/>
            <a:ext cx="731520" cy="731520"/>
          </a:xfrm>
          <a:prstGeom prst="rect">
            <a:avLst/>
          </a:prstGeom>
        </p:spPr>
      </p:pic>
      <p:sp>
        <p:nvSpPr>
          <p:cNvPr id="22" name="Text 15"/>
          <p:cNvSpPr/>
          <p:nvPr/>
        </p:nvSpPr>
        <p:spPr>
          <a:xfrm>
            <a:off x="7589520" y="1920240"/>
            <a:ext cx="3657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Angular 21</a:t>
            </a:r>
            <a:endParaRPr lang="en-US" sz="2400" dirty="0"/>
          </a:p>
        </p:txBody>
      </p:sp>
      <p:sp>
        <p:nvSpPr>
          <p:cNvPr id="23" name="Shape 16"/>
          <p:cNvSpPr/>
          <p:nvPr/>
        </p:nvSpPr>
        <p:spPr>
          <a:xfrm>
            <a:off x="6400800" y="3200400"/>
            <a:ext cx="5029200" cy="1280160"/>
          </a:xfrm>
          <a:prstGeom prst="roundRect">
            <a:avLst>
              <a:gd name="adj" fmla="val 7143"/>
            </a:avLst>
          </a:prstGeom>
          <a:solidFill>
            <a:srgbClr val="172033"/>
          </a:solidFill>
          <a:ln w="12700">
            <a:solidFill>
              <a:srgbClr val="334155"/>
            </a:solidFill>
            <a:prstDash val="solid"/>
          </a:ln>
        </p:spPr>
      </p:sp>
      <p:pic>
        <p:nvPicPr>
          <p:cNvPr id="24" name="Image 5" descr="MEMOIRE/logos/ionic.svg">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rcRect l="0" r="0" t="0" b="0"/>
          <a:stretch/>
        </p:blipFill>
        <p:spPr>
          <a:xfrm>
            <a:off x="6675120" y="3474720"/>
            <a:ext cx="731520" cy="73152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7589520" y="3474720"/>
            <a:ext cx="3657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Ionic 8</a:t>
            </a:r>
            <a:endParaRPr lang="en-US" sz="2400" dirty="0"/>
          </a:p>
        </p:txBody>
      </p:sp>
      <p:sp>
        <p:nvSpPr>
          <p:cNvPr id="26" name="Shape 18"/>
          <p:cNvSpPr/>
          <p:nvPr/>
        </p:nvSpPr>
        <p:spPr>
          <a:xfrm>
            <a:off x="6400800" y="4754880"/>
            <a:ext cx="5029200" cy="1280160"/>
          </a:xfrm>
          <a:prstGeom prst="roundRect">
            <a:avLst>
              <a:gd name="adj" fmla="val 7143"/>
            </a:avLst>
          </a:prstGeom>
          <a:solidFill>
            <a:srgbClr val="172033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27" name="Text 19"/>
          <p:cNvSpPr/>
          <p:nvPr/>
        </p:nvSpPr>
        <p:spPr>
          <a:xfrm>
            <a:off x="6583680" y="4846320"/>
            <a:ext cx="4663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6B6D4"/>
                </a:solidFill>
              </a:rPr>
              <a:t>Spring Security + JWT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b="1" dirty="0">
                <a:solidFill>
                  <a:srgbClr val="06B6D4"/>
                </a:solidFill>
              </a:rPr>
              <a:t>Swagger OpenAPI</a:t>
            </a:r>
            <a:endParaRPr lang="en-US" sz="2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11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-1828800"/>
            <a:ext cx="5486400" cy="5486400"/>
          </a:xfrm>
          <a:prstGeom prst="ellipse">
            <a:avLst/>
          </a:prstGeom>
          <a:solidFill>
            <a:srgbClr val="3B82F6">
              <a:alpha val="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9144000" y="3657600"/>
            <a:ext cx="5486400" cy="5486400"/>
          </a:xfrm>
          <a:prstGeom prst="ellipse">
            <a:avLst/>
          </a:prstGeom>
          <a:solidFill>
            <a:srgbClr val="06B6D4">
              <a:alpha val="5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27432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Espace Mobile Enseignant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457200" y="868680"/>
            <a:ext cx="1371600" cy="45720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6" name="Shape 4"/>
          <p:cNvSpPr/>
          <p:nvPr/>
        </p:nvSpPr>
        <p:spPr>
          <a:xfrm>
            <a:off x="10241280" y="228600"/>
            <a:ext cx="1645920" cy="548640"/>
          </a:xfrm>
          <a:prstGeom prst="roundRect">
            <a:avLst>
              <a:gd name="adj" fmla="val 16667"/>
            </a:avLst>
          </a:prstGeom>
          <a:solidFill>
            <a:srgbClr val="FFFFFF">
              <a:alpha val="95000"/>
            </a:srgbClr>
          </a:solidFill>
          <a:ln w="12700">
            <a:solidFill>
              <a:srgbClr val="FFFFFF">
                <a:alpha val="20000"/>
              </a:srgbClr>
            </a:solidFill>
            <a:prstDash val="solid"/>
          </a:ln>
        </p:spPr>
      </p:sp>
      <p:pic>
        <p:nvPicPr>
          <p:cNvPr id="7" name="Image 0" descr="backend/edutrack/src/main/resources/images/logo_INTEC_nom_Horizon-1-3-1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0332720" y="320040"/>
            <a:ext cx="1463040" cy="36576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53796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</a:rPr>
              <a:t>EduTrack — Projet de Licence 3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11247120" y="653796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6B6D4"/>
                </a:solidFill>
              </a:rPr>
              <a:t>7 / 9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457200" y="6446520"/>
            <a:ext cx="11247120" cy="9144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11" name="Shape 8"/>
          <p:cNvSpPr/>
          <p:nvPr/>
        </p:nvSpPr>
        <p:spPr>
          <a:xfrm>
            <a:off x="914400" y="1463040"/>
            <a:ext cx="2011680" cy="4389120"/>
          </a:xfrm>
          <a:prstGeom prst="roundRect">
            <a:avLst>
              <a:gd name="adj" fmla="val 6818"/>
            </a:avLst>
          </a:prstGeom>
          <a:solidFill>
            <a:srgbClr val="000000"/>
          </a:solidFill>
          <a:ln w="25400">
            <a:solidFill>
              <a:srgbClr val="334155"/>
            </a:solidFill>
            <a:prstDash val="solid"/>
          </a:ln>
        </p:spPr>
      </p:sp>
      <p:pic>
        <p:nvPicPr>
          <p:cNvPr id="12" name="Image 1" descr="MEMOIRE/Capture d'ecran application web et mobile/Screenshot_20260702_213134_mobile-ionic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1005840" y="1554480"/>
            <a:ext cx="1828800" cy="420624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914400" y="594360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6B6D4"/>
                </a:solidFill>
              </a:rPr>
              <a:t>Accueil</a:t>
            </a:r>
            <a:endParaRPr lang="en-US" sz="1800" dirty="0"/>
          </a:p>
        </p:txBody>
      </p:sp>
      <p:sp>
        <p:nvSpPr>
          <p:cNvPr id="14" name="Shape 10"/>
          <p:cNvSpPr/>
          <p:nvPr/>
        </p:nvSpPr>
        <p:spPr>
          <a:xfrm>
            <a:off x="3566160" y="1463040"/>
            <a:ext cx="2011680" cy="4389120"/>
          </a:xfrm>
          <a:prstGeom prst="roundRect">
            <a:avLst>
              <a:gd name="adj" fmla="val 6818"/>
            </a:avLst>
          </a:prstGeom>
          <a:solidFill>
            <a:srgbClr val="000000"/>
          </a:solidFill>
          <a:ln w="25400">
            <a:solidFill>
              <a:srgbClr val="334155"/>
            </a:solidFill>
            <a:prstDash val="solid"/>
          </a:ln>
        </p:spPr>
      </p:sp>
      <p:pic>
        <p:nvPicPr>
          <p:cNvPr id="15" name="Image 2" descr="MEMOIRE/Capture d'ecran application web et mobile/Screenshot_20260702_213120_mobile-ionic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3657600" y="1554480"/>
            <a:ext cx="1828800" cy="420624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3566160" y="594360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6B6D4"/>
                </a:solidFill>
              </a:rPr>
              <a:t>Planning</a:t>
            </a:r>
            <a:endParaRPr lang="en-US" sz="1800" dirty="0"/>
          </a:p>
        </p:txBody>
      </p:sp>
      <p:sp>
        <p:nvSpPr>
          <p:cNvPr id="17" name="Shape 12"/>
          <p:cNvSpPr/>
          <p:nvPr/>
        </p:nvSpPr>
        <p:spPr>
          <a:xfrm>
            <a:off x="6217920" y="1463040"/>
            <a:ext cx="2011680" cy="4389120"/>
          </a:xfrm>
          <a:prstGeom prst="roundRect">
            <a:avLst>
              <a:gd name="adj" fmla="val 6818"/>
            </a:avLst>
          </a:prstGeom>
          <a:solidFill>
            <a:srgbClr val="000000"/>
          </a:solidFill>
          <a:ln w="25400">
            <a:solidFill>
              <a:srgbClr val="334155"/>
            </a:solidFill>
            <a:prstDash val="solid"/>
          </a:ln>
        </p:spPr>
      </p:sp>
      <p:pic>
        <p:nvPicPr>
          <p:cNvPr id="18" name="Image 3" descr="MEMOIRE/Capture d'ecran application web et mobile/Screenshot_20260702_213143_mobile-ionic.jp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6309360" y="1554480"/>
            <a:ext cx="1828800" cy="4206240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6217920" y="594360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6B6D4"/>
                </a:solidFill>
              </a:rPr>
              <a:t>Progression</a:t>
            </a:r>
            <a:endParaRPr lang="en-US" sz="1800" dirty="0"/>
          </a:p>
        </p:txBody>
      </p:sp>
      <p:sp>
        <p:nvSpPr>
          <p:cNvPr id="20" name="Shape 14"/>
          <p:cNvSpPr/>
          <p:nvPr/>
        </p:nvSpPr>
        <p:spPr>
          <a:xfrm>
            <a:off x="8869680" y="1463040"/>
            <a:ext cx="2011680" cy="4389120"/>
          </a:xfrm>
          <a:prstGeom prst="roundRect">
            <a:avLst>
              <a:gd name="adj" fmla="val 6818"/>
            </a:avLst>
          </a:prstGeom>
          <a:solidFill>
            <a:srgbClr val="000000"/>
          </a:solidFill>
          <a:ln w="25400">
            <a:solidFill>
              <a:srgbClr val="334155"/>
            </a:solidFill>
            <a:prstDash val="solid"/>
          </a:ln>
        </p:spPr>
      </p:sp>
      <p:pic>
        <p:nvPicPr>
          <p:cNvPr id="21" name="Image 4" descr="MEMOIRE/Capture d'ecran application web et mobile/Screenshot_20260702_213212_mobile-ionic.jpg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8961120" y="1554480"/>
            <a:ext cx="1828800" cy="4206240"/>
          </a:xfrm>
          <a:prstGeom prst="rect">
            <a:avLst/>
          </a:prstGeom>
        </p:spPr>
      </p:pic>
      <p:sp>
        <p:nvSpPr>
          <p:cNvPr id="22" name="Text 15"/>
          <p:cNvSpPr/>
          <p:nvPr/>
        </p:nvSpPr>
        <p:spPr>
          <a:xfrm>
            <a:off x="8869680" y="594360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6B6D4"/>
                </a:solidFill>
              </a:rPr>
              <a:t>Honoraires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11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-1828800"/>
            <a:ext cx="5486400" cy="5486400"/>
          </a:xfrm>
          <a:prstGeom prst="ellipse">
            <a:avLst/>
          </a:prstGeom>
          <a:solidFill>
            <a:srgbClr val="3B82F6">
              <a:alpha val="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9144000" y="3657600"/>
            <a:ext cx="5486400" cy="5486400"/>
          </a:xfrm>
          <a:prstGeom prst="ellipse">
            <a:avLst/>
          </a:prstGeom>
          <a:solidFill>
            <a:srgbClr val="06B6D4">
              <a:alpha val="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0241280" y="228600"/>
            <a:ext cx="1645920" cy="548640"/>
          </a:xfrm>
          <a:prstGeom prst="roundRect">
            <a:avLst>
              <a:gd name="adj" fmla="val 16667"/>
            </a:avLst>
          </a:prstGeom>
          <a:solidFill>
            <a:srgbClr val="FFFFFF">
              <a:alpha val="95000"/>
            </a:srgbClr>
          </a:solidFill>
          <a:ln w="12700">
            <a:solidFill>
              <a:srgbClr val="FFFFFF">
                <a:alpha val="20000"/>
              </a:srgbClr>
            </a:solidFill>
            <a:prstDash val="solid"/>
          </a:ln>
        </p:spPr>
      </p:sp>
      <p:pic>
        <p:nvPicPr>
          <p:cNvPr id="5" name="Image 0" descr="backend/edutrack/src/main/resources/images/logo_INTEC_nom_Horizon-1-3-1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0332720" y="320040"/>
            <a:ext cx="1463040" cy="3657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914400" y="2286000"/>
            <a:ext cx="10332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FFFFF"/>
                </a:solidFill>
              </a:rPr>
              <a:t>DÉMONSTRATION</a:t>
            </a:r>
            <a:endParaRPr lang="en-US" sz="6000" dirty="0"/>
          </a:p>
        </p:txBody>
      </p:sp>
      <p:sp>
        <p:nvSpPr>
          <p:cNvPr id="7" name="Shape 4"/>
          <p:cNvSpPr/>
          <p:nvPr/>
        </p:nvSpPr>
        <p:spPr>
          <a:xfrm>
            <a:off x="4206240" y="3840480"/>
            <a:ext cx="3749040" cy="4572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8" name="Text 5"/>
          <p:cNvSpPr/>
          <p:nvPr/>
        </p:nvSpPr>
        <p:spPr>
          <a:xfrm>
            <a:off x="914400" y="4206240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10B981"/>
                </a:solidFill>
              </a:rPr>
              <a:t>Présentation en direct de l'application EduTrack</a:t>
            </a:r>
            <a:endParaRPr lang="en-US" sz="2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11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-1828800"/>
            <a:ext cx="5486400" cy="5486400"/>
          </a:xfrm>
          <a:prstGeom prst="ellipse">
            <a:avLst/>
          </a:prstGeom>
          <a:solidFill>
            <a:srgbClr val="3B82F6">
              <a:alpha val="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9144000" y="3657600"/>
            <a:ext cx="5486400" cy="5486400"/>
          </a:xfrm>
          <a:prstGeom prst="ellipse">
            <a:avLst/>
          </a:prstGeom>
          <a:solidFill>
            <a:srgbClr val="06B6D4">
              <a:alpha val="5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27432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Perspectives d'évolution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457200" y="868680"/>
            <a:ext cx="1371600" cy="45720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6" name="Shape 4"/>
          <p:cNvSpPr/>
          <p:nvPr/>
        </p:nvSpPr>
        <p:spPr>
          <a:xfrm>
            <a:off x="10241280" y="228600"/>
            <a:ext cx="1645920" cy="548640"/>
          </a:xfrm>
          <a:prstGeom prst="roundRect">
            <a:avLst>
              <a:gd name="adj" fmla="val 16667"/>
            </a:avLst>
          </a:prstGeom>
          <a:solidFill>
            <a:srgbClr val="FFFFFF">
              <a:alpha val="95000"/>
            </a:srgbClr>
          </a:solidFill>
          <a:ln w="12700">
            <a:solidFill>
              <a:srgbClr val="FFFFFF">
                <a:alpha val="20000"/>
              </a:srgbClr>
            </a:solidFill>
            <a:prstDash val="solid"/>
          </a:ln>
        </p:spPr>
      </p:sp>
      <p:pic>
        <p:nvPicPr>
          <p:cNvPr id="7" name="Image 0" descr="backend/edutrack/src/main/resources/images/logo_INTEC_nom_Horizon-1-3-1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0332720" y="320040"/>
            <a:ext cx="1463040" cy="36576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53796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</a:rPr>
              <a:t>EduTrack — Projet de Licence 3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11247120" y="653796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6B6D4"/>
                </a:solidFill>
              </a:rPr>
              <a:t>8 / 9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457200" y="6446520"/>
            <a:ext cx="11247120" cy="9144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11" name="Shape 8"/>
          <p:cNvSpPr/>
          <p:nvPr/>
        </p:nvSpPr>
        <p:spPr>
          <a:xfrm>
            <a:off x="731520" y="1645920"/>
            <a:ext cx="5029200" cy="1828800"/>
          </a:xfrm>
          <a:prstGeom prst="roundRect">
            <a:avLst>
              <a:gd name="adj" fmla="val 4000"/>
            </a:avLst>
          </a:prstGeom>
          <a:solidFill>
            <a:srgbClr val="172033">
              <a:alpha val="90000"/>
            </a:srgbClr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731520" y="1828800"/>
            <a:ext cx="73152" cy="365760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13" name="Text 10"/>
          <p:cNvSpPr/>
          <p:nvPr/>
        </p:nvSpPr>
        <p:spPr>
          <a:xfrm>
            <a:off x="960120" y="1783080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Module Étudiant</a:t>
            </a:r>
            <a:endParaRPr lang="en-US" sz="1800" dirty="0"/>
          </a:p>
        </p:txBody>
      </p:sp>
      <p:sp>
        <p:nvSpPr>
          <p:cNvPr id="14" name="Text 11"/>
          <p:cNvSpPr/>
          <p:nvPr/>
        </p:nvSpPr>
        <p:spPr>
          <a:xfrm>
            <a:off x="960120" y="2194560"/>
            <a:ext cx="4663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94A3B8"/>
                </a:solidFill>
              </a:rPr>
              <a:t>Développement d’un portail dédié aux étudiants pour consulter leurs notes, emplois du temps et absences.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6400800" y="1645920"/>
            <a:ext cx="5029200" cy="1828800"/>
          </a:xfrm>
          <a:prstGeom prst="roundRect">
            <a:avLst>
              <a:gd name="adj" fmla="val 4000"/>
            </a:avLst>
          </a:prstGeom>
          <a:solidFill>
            <a:srgbClr val="172033">
              <a:alpha val="90000"/>
            </a:srgbClr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6400800" y="1828800"/>
            <a:ext cx="73152" cy="36576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7" name="Text 14"/>
          <p:cNvSpPr/>
          <p:nvPr/>
        </p:nvSpPr>
        <p:spPr>
          <a:xfrm>
            <a:off x="6629400" y="1783080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Paiement Électronique</a:t>
            </a:r>
            <a:endParaRPr lang="en-US" sz="1800" dirty="0"/>
          </a:p>
        </p:txBody>
      </p:sp>
      <p:sp>
        <p:nvSpPr>
          <p:cNvPr id="18" name="Text 15"/>
          <p:cNvSpPr/>
          <p:nvPr/>
        </p:nvSpPr>
        <p:spPr>
          <a:xfrm>
            <a:off x="6629400" y="2194560"/>
            <a:ext cx="4663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94A3B8"/>
                </a:solidFill>
              </a:rPr>
              <a:t>Intégration d’une API bancaire ou mobile money pour automatiser le versement direct des honoraires.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731520" y="3840480"/>
            <a:ext cx="5029200" cy="1828800"/>
          </a:xfrm>
          <a:prstGeom prst="roundRect">
            <a:avLst>
              <a:gd name="adj" fmla="val 4000"/>
            </a:avLst>
          </a:prstGeom>
          <a:solidFill>
            <a:srgbClr val="172033">
              <a:alpha val="90000"/>
            </a:srgbClr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731520" y="4023360"/>
            <a:ext cx="73152" cy="36576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21" name="Text 18"/>
          <p:cNvSpPr/>
          <p:nvPr/>
        </p:nvSpPr>
        <p:spPr>
          <a:xfrm>
            <a:off x="960120" y="3977640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Notifications Intelligentes</a:t>
            </a:r>
            <a:endParaRPr lang="en-US" sz="1800" dirty="0"/>
          </a:p>
        </p:txBody>
      </p:sp>
      <p:sp>
        <p:nvSpPr>
          <p:cNvPr id="22" name="Text 19"/>
          <p:cNvSpPr/>
          <p:nvPr/>
        </p:nvSpPr>
        <p:spPr>
          <a:xfrm>
            <a:off x="960120" y="4389120"/>
            <a:ext cx="4663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94A3B8"/>
                </a:solidFill>
              </a:rPr>
              <a:t>Alertes par SMS et Email en cas de retard, d'absence ou de modification de planning.</a:t>
            </a:r>
            <a:endParaRPr lang="en-US" sz="1500" dirty="0"/>
          </a:p>
        </p:txBody>
      </p:sp>
      <p:sp>
        <p:nvSpPr>
          <p:cNvPr id="23" name="Shape 20"/>
          <p:cNvSpPr/>
          <p:nvPr/>
        </p:nvSpPr>
        <p:spPr>
          <a:xfrm>
            <a:off x="6400800" y="3840480"/>
            <a:ext cx="5029200" cy="1828800"/>
          </a:xfrm>
          <a:prstGeom prst="roundRect">
            <a:avLst>
              <a:gd name="adj" fmla="val 4000"/>
            </a:avLst>
          </a:prstGeom>
          <a:solidFill>
            <a:srgbClr val="172033">
              <a:alpha val="90000"/>
            </a:srgbClr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6400800" y="4023360"/>
            <a:ext cx="73152" cy="36576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5" name="Text 22"/>
          <p:cNvSpPr/>
          <p:nvPr/>
        </p:nvSpPr>
        <p:spPr>
          <a:xfrm>
            <a:off x="6629400" y="3977640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Déploiement Cloud</a:t>
            </a:r>
            <a:endParaRPr lang="en-US" sz="1800" dirty="0"/>
          </a:p>
        </p:txBody>
      </p:sp>
      <p:sp>
        <p:nvSpPr>
          <p:cNvPr id="26" name="Text 23"/>
          <p:cNvSpPr/>
          <p:nvPr/>
        </p:nvSpPr>
        <p:spPr>
          <a:xfrm>
            <a:off x="6629400" y="4389120"/>
            <a:ext cx="4663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94A3B8"/>
                </a:solidFill>
              </a:rPr>
              <a:t>Mise en production sécurisée sur un serveur dédié avec intégration continue.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11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-1828800"/>
            <a:ext cx="5486400" cy="5486400"/>
          </a:xfrm>
          <a:prstGeom prst="ellipse">
            <a:avLst/>
          </a:prstGeom>
          <a:solidFill>
            <a:srgbClr val="3B82F6">
              <a:alpha val="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9144000" y="3657600"/>
            <a:ext cx="5486400" cy="5486400"/>
          </a:xfrm>
          <a:prstGeom prst="ellipse">
            <a:avLst/>
          </a:prstGeom>
          <a:solidFill>
            <a:srgbClr val="06B6D4">
              <a:alpha val="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0241280" y="228600"/>
            <a:ext cx="1645920" cy="548640"/>
          </a:xfrm>
          <a:prstGeom prst="roundRect">
            <a:avLst>
              <a:gd name="adj" fmla="val 16667"/>
            </a:avLst>
          </a:prstGeom>
          <a:solidFill>
            <a:srgbClr val="FFFFFF">
              <a:alpha val="95000"/>
            </a:srgbClr>
          </a:solidFill>
          <a:ln w="12700">
            <a:solidFill>
              <a:srgbClr val="FFFFFF">
                <a:alpha val="20000"/>
              </a:srgbClr>
            </a:solidFill>
            <a:prstDash val="solid"/>
          </a:ln>
        </p:spPr>
      </p:sp>
      <p:pic>
        <p:nvPicPr>
          <p:cNvPr id="5" name="Image 0" descr="backend/edutrack/src/main/resources/images/logo_INTEC_nom_Horizon-1-3-1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0332720" y="320040"/>
            <a:ext cx="1463040" cy="3657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914400" y="2286000"/>
            <a:ext cx="10332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600" b="1" dirty="0">
                <a:solidFill>
                  <a:srgbClr val="FFFFFF"/>
                </a:solidFill>
              </a:rPr>
              <a:t>MERCI POUR VOTRE ATTENTION</a:t>
            </a:r>
            <a:endParaRPr lang="en-US" sz="5600" dirty="0"/>
          </a:p>
        </p:txBody>
      </p:sp>
      <p:sp>
        <p:nvSpPr>
          <p:cNvPr id="7" name="Shape 4"/>
          <p:cNvSpPr/>
          <p:nvPr/>
        </p:nvSpPr>
        <p:spPr>
          <a:xfrm>
            <a:off x="4206240" y="3657600"/>
            <a:ext cx="3749040" cy="45720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8" name="Text 5"/>
          <p:cNvSpPr/>
          <p:nvPr/>
        </p:nvSpPr>
        <p:spPr>
          <a:xfrm>
            <a:off x="914400" y="3931920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6B6D4"/>
                </a:solidFill>
              </a:rPr>
              <a:t>Nous sommes à votre disposition pour répondre à vos questions</a:t>
            </a:r>
            <a:endParaRPr lang="en-US" sz="2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 EduTrack soutenance</dc:title>
  <dc:subject>PptxGenJS Presentation</dc:subject>
  <dc:creator>EduTrack</dc:creator>
  <cp:lastModifiedBy>EduTrack</cp:lastModifiedBy>
  <cp:revision>1</cp:revision>
  <dcterms:created xsi:type="dcterms:W3CDTF">2026-07-04T03:53:42Z</dcterms:created>
  <dcterms:modified xsi:type="dcterms:W3CDTF">2026-07-04T03:53:42Z</dcterms:modified>
</cp:coreProperties>
</file>