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 type="wide"/>
  <p:notesSz cx="6858000" cy="9144000"/>
  <p:defaultTextStyle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Master" Type="http://schemas.openxmlformats.org/officeDocument/2006/relationships/slideMaster" Target="slideMasters/slideMaster1.xml"/><Relationship Id="rIdTheme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/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Logo1" Type="http://schemas.openxmlformats.org/officeDocument/2006/relationships/image" Target="../media/logo_INTEC_nom_Horizon-1-3-1.png"/></Relationships>
</file>

<file path=ppt/slides/_rels/slide2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Img4" Type="http://schemas.openxmlformats.org/officeDocument/2006/relationships/image" Target="../media/Diagramme_cas_utilisation_vf_png.png"/></Relationships>
</file>

<file path=ppt/slides/_rels/slide5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Img7" Type="http://schemas.openxmlformats.org/officeDocument/2006/relationships/image" Target="../media/image4.png"/></Relationships>
</file>

<file path=ppt/slides/_rels/slide8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Img9" Type="http://schemas.openxmlformats.org/officeDocument/2006/relationships/image" Target="../media/image2.png"/></Relationships>
</file>

<file path=ppt/slides/_rels/slide10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 3"/>
          <p:cNvSpPr/>
          <p:nvPr/>
        </p:nvSpPr>
        <p:spPr>
          <a:xfrm>
            <a:off x="-1097280" y="-822960"/>
            <a:ext cx="3657600" cy="3657600"/>
          </a:xfrm>
          <a:prstGeom prst="roundRect">
            <a:avLst/>
          </a:prstGeom>
          <a:solidFill>
            <a:srgbClr val="DBEAFE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9601200" y="5029200"/>
            <a:ext cx="2743200" cy="2743200"/>
          </a:xfrm>
          <a:prstGeom prst="roundRect">
            <a:avLst/>
          </a:prstGeom>
          <a:solidFill>
            <a:srgbClr val="FEF3C7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640080" y="594360"/>
            <a:ext cx="5394960" cy="5303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5577840" y="594360"/>
            <a:ext cx="5943600" cy="530352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 32"/>
          <p:cNvSpPr txBox="1"/>
          <p:nvPr/>
        </p:nvSpPr>
        <p:spPr>
          <a:xfrm>
            <a:off x="960120" y="960120"/>
            <a:ext cx="4709160" cy="7772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4400" b="1">
                <a:solidFill>
                  <a:srgbClr val="FFFFFF"/>
                </a:solidFill>
                <a:latin typeface="Aptos"/>
              </a:rPr>
              <a:t>EduTrack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987552" y="1755648"/>
            <a:ext cx="448056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800">
                <a:solidFill>
                  <a:srgbClr val="CBD5E1"/>
                </a:solidFill>
                <a:latin typeface="Aptos"/>
              </a:rPr>
              <a:t>Système de suivi pédagogique et de gestion automatisée des honoraires enseignants</a:t>
            </a:r>
          </a:p>
        </p:txBody>
      </p:sp>
      <p:sp>
        <p:nvSpPr>
          <p:cNvPr id="34" name="Bullets 34"/>
          <p:cNvSpPr txBox="1"/>
          <p:nvPr/>
        </p:nvSpPr>
        <p:spPr>
          <a:xfrm>
            <a:off x="941832" y="2926080"/>
            <a:ext cx="4663440" cy="1371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fr-FR" sz="1500">
                <a:solidFill>
                  <a:srgbClr val="334155"/>
                </a:solidFill>
                <a:latin typeface="Aptos"/>
              </a:rPr>
              <a:t>Application web pour l’administration</a:t>
            </a:r>
          </a:p>
          <a:p>
            <a:pPr marL="342900" indent="-228600">
              <a:buChar char="•"/>
            </a:pPr>
            <a:r>
              <a:rPr lang="fr-FR" sz="1500">
                <a:solidFill>
                  <a:srgbClr val="334155"/>
                </a:solidFill>
                <a:latin typeface="Aptos"/>
              </a:rPr>
              <a:t>Application mobile pour les enseignants</a:t>
            </a:r>
          </a:p>
          <a:p>
            <a:pPr marL="342900" indent="-228600">
              <a:buChar char="•"/>
            </a:pPr>
            <a:r>
              <a:rPr lang="fr-FR" sz="1500">
                <a:solidFill>
                  <a:srgbClr val="334155"/>
                </a:solidFill>
                <a:latin typeface="Aptos"/>
              </a:rPr>
              <a:t>Backend sécurisé avec QR Code et JWT</a:t>
            </a:r>
          </a:p>
        </p:txBody>
      </p:sp>
      <p:sp>
        <p:nvSpPr>
          <p:cNvPr id="35" name="Shape 35"/>
          <p:cNvSpPr/>
          <p:nvPr/>
        </p:nvSpPr>
        <p:spPr>
          <a:xfrm>
            <a:off x="960120" y="5120640"/>
            <a:ext cx="2011680" cy="38404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ext 36"/>
          <p:cNvSpPr txBox="1"/>
          <p:nvPr/>
        </p:nvSpPr>
        <p:spPr>
          <a:xfrm>
            <a:off x="1078992" y="5193792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100" b="1">
                <a:solidFill>
                  <a:srgbClr val="FFFFFF"/>
                </a:solidFill>
                <a:latin typeface="Aptos"/>
              </a:rPr>
              <a:t>Soutenance • 15 minutes</a:t>
            </a:r>
          </a:p>
        </p:txBody>
      </p:sp>
      <p:pic>
        <p:nvPicPr>
          <p:cNvPr id="37" name="logo_INTEC_nom_Horizon-1-3-1.png"/>
          <p:cNvPicPr>
            <a:picLocks noChangeAspect="1"/>
          </p:cNvPicPr>
          <p:nvPr/>
        </p:nvPicPr>
        <p:blipFill>
          <a:blip r:embed="rIdLogo1"/>
          <a:stretch>
            <a:fillRect/>
          </a:stretch>
        </p:blipFill>
        <p:spPr>
          <a:xfrm>
            <a:off x="6766560" y="1874519"/>
            <a:ext cx="3200400" cy="1417320"/>
          </a:xfrm>
          <a:prstGeom prst="rect">
            <a:avLst/>
          </a:prstGeom>
        </p:spPr>
      </p:pic>
      <p:sp>
        <p:nvSpPr>
          <p:cNvPr id="38" name="Text 38"/>
          <p:cNvSpPr txBox="1"/>
          <p:nvPr/>
        </p:nvSpPr>
        <p:spPr>
          <a:xfrm>
            <a:off x="6400800" y="370332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fr-FR" sz="2000" b="1">
                <a:solidFill>
                  <a:srgbClr val="0F172A"/>
                </a:solidFill>
                <a:latin typeface="Aptos"/>
              </a:rPr>
              <a:t>Une solution simple pour suivre les cours, les présences et les paiements.</a:t>
            </a:r>
          </a:p>
        </p:txBody>
      </p:sp>
      <p:sp>
        <p:nvSpPr>
          <p:cNvPr id="900" name="Text 900"/>
          <p:cNvSpPr txBox="1"/>
          <p:nvPr/>
        </p:nvSpPr>
        <p:spPr>
          <a:xfrm>
            <a:off x="10012680" y="633679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fr-FR" sz="900">
                <a:solidFill>
                  <a:srgbClr val="64748B"/>
                </a:solidFill>
                <a:latin typeface="Aptos"/>
              </a:rPr>
              <a:t>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 3"/>
          <p:cNvSpPr/>
          <p:nvPr/>
        </p:nvSpPr>
        <p:spPr>
          <a:xfrm>
            <a:off x="-1097280" y="-822960"/>
            <a:ext cx="3657600" cy="3657600"/>
          </a:xfrm>
          <a:prstGeom prst="roundRect">
            <a:avLst/>
          </a:prstGeom>
          <a:solidFill>
            <a:srgbClr val="DBEAFE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9601200" y="5029200"/>
            <a:ext cx="2743200" cy="2743200"/>
          </a:xfrm>
          <a:prstGeom prst="roundRect">
            <a:avLst/>
          </a:prstGeom>
          <a:solidFill>
            <a:srgbClr val="FEF3C7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94360" y="32004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3000" b="1">
                <a:solidFill>
                  <a:srgbClr val="0F172A"/>
                </a:solidFill>
                <a:latin typeface="Aptos"/>
              </a:rPr>
              <a:t>1. Le problème constaté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21792" y="841248"/>
            <a:ext cx="9509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Dans beaucoup d’établissements, le suivi pédagogique reste difficile à contrôler.</a:t>
            </a:r>
          </a:p>
        </p:txBody>
      </p:sp>
      <p:sp>
        <p:nvSpPr>
          <p:cNvPr id="12" name="Shape 12"/>
          <p:cNvSpPr/>
          <p:nvPr/>
        </p:nvSpPr>
        <p:spPr>
          <a:xfrm>
            <a:off x="621792" y="1261872"/>
            <a:ext cx="96012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685800" y="1600200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685800" y="1600200"/>
            <a:ext cx="73152" cy="11155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 32"/>
          <p:cNvSpPr txBox="1"/>
          <p:nvPr/>
        </p:nvSpPr>
        <p:spPr>
          <a:xfrm>
            <a:off x="886968" y="1764792"/>
            <a:ext cx="46177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Présences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886968" y="2167128"/>
            <a:ext cx="4599432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Les émargements sont souvent manuels ou difficiles à vérifier.</a:t>
            </a:r>
          </a:p>
        </p:txBody>
      </p:sp>
      <p:sp>
        <p:nvSpPr>
          <p:cNvPr id="34" name="Shape 34"/>
          <p:cNvSpPr/>
          <p:nvPr/>
        </p:nvSpPr>
        <p:spPr>
          <a:xfrm>
            <a:off x="6016752" y="1600200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5" name="Shape 35"/>
          <p:cNvSpPr/>
          <p:nvPr/>
        </p:nvSpPr>
        <p:spPr>
          <a:xfrm>
            <a:off x="6016752" y="1600200"/>
            <a:ext cx="73152" cy="11155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ext 36"/>
          <p:cNvSpPr txBox="1"/>
          <p:nvPr/>
        </p:nvSpPr>
        <p:spPr>
          <a:xfrm>
            <a:off x="6217920" y="1764792"/>
            <a:ext cx="46177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Cahier de textes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6217920" y="2167128"/>
            <a:ext cx="4599432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Les contenus réalisés en classe ne sont pas toujours centralisés.</a:t>
            </a:r>
          </a:p>
        </p:txBody>
      </p:sp>
      <p:sp>
        <p:nvSpPr>
          <p:cNvPr id="38" name="Shape 38"/>
          <p:cNvSpPr/>
          <p:nvPr/>
        </p:nvSpPr>
        <p:spPr>
          <a:xfrm>
            <a:off x="685800" y="3035808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9" name="Shape 39"/>
          <p:cNvSpPr/>
          <p:nvPr/>
        </p:nvSpPr>
        <p:spPr>
          <a:xfrm>
            <a:off x="685800" y="3035808"/>
            <a:ext cx="73152" cy="11155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ext 40"/>
          <p:cNvSpPr txBox="1"/>
          <p:nvPr/>
        </p:nvSpPr>
        <p:spPr>
          <a:xfrm>
            <a:off x="886968" y="3200400"/>
            <a:ext cx="46177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Honoraires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886968" y="3602736"/>
            <a:ext cx="4599432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Le calcul des heures et des montants prend du temps.</a:t>
            </a:r>
          </a:p>
        </p:txBody>
      </p:sp>
      <p:sp>
        <p:nvSpPr>
          <p:cNvPr id="42" name="Shape 42"/>
          <p:cNvSpPr/>
          <p:nvPr/>
        </p:nvSpPr>
        <p:spPr>
          <a:xfrm>
            <a:off x="6016752" y="3035808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43" name="Shape 43"/>
          <p:cNvSpPr/>
          <p:nvPr/>
        </p:nvSpPr>
        <p:spPr>
          <a:xfrm>
            <a:off x="6016752" y="3035808"/>
            <a:ext cx="73152" cy="11155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Text 44"/>
          <p:cNvSpPr txBox="1"/>
          <p:nvPr/>
        </p:nvSpPr>
        <p:spPr>
          <a:xfrm>
            <a:off x="6217920" y="3200400"/>
            <a:ext cx="46177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Contrôle</a:t>
            </a:r>
          </a:p>
        </p:txBody>
      </p:sp>
      <p:sp>
        <p:nvSpPr>
          <p:cNvPr id="45" name="Text 45"/>
          <p:cNvSpPr txBox="1"/>
          <p:nvPr/>
        </p:nvSpPr>
        <p:spPr>
          <a:xfrm>
            <a:off x="6217920" y="3602736"/>
            <a:ext cx="4599432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Il manque une vue claire pour l’administration.</a:t>
            </a:r>
          </a:p>
        </p:txBody>
      </p:sp>
      <p:sp>
        <p:nvSpPr>
          <p:cNvPr id="900" name="Text 900"/>
          <p:cNvSpPr txBox="1"/>
          <p:nvPr/>
        </p:nvSpPr>
        <p:spPr>
          <a:xfrm>
            <a:off x="10012680" y="633679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fr-FR" sz="900">
                <a:solidFill>
                  <a:srgbClr val="64748B"/>
                </a:solidFill>
                <a:latin typeface="Aptos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 3"/>
          <p:cNvSpPr/>
          <p:nvPr/>
        </p:nvSpPr>
        <p:spPr>
          <a:xfrm>
            <a:off x="-1097280" y="-822960"/>
            <a:ext cx="3657600" cy="3657600"/>
          </a:xfrm>
          <a:prstGeom prst="roundRect">
            <a:avLst/>
          </a:prstGeom>
          <a:solidFill>
            <a:srgbClr val="DBEAFE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9601200" y="5029200"/>
            <a:ext cx="2743200" cy="2743200"/>
          </a:xfrm>
          <a:prstGeom prst="roundRect">
            <a:avLst/>
          </a:prstGeom>
          <a:solidFill>
            <a:srgbClr val="FEF3C7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94360" y="32004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3000" b="1">
                <a:solidFill>
                  <a:srgbClr val="0F172A"/>
                </a:solidFill>
                <a:latin typeface="Aptos"/>
              </a:rPr>
              <a:t>2. Notre solution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21792" y="841248"/>
            <a:ext cx="9509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EduTrack centralise le suivi des cours, des présences et des paiements.</a:t>
            </a:r>
          </a:p>
        </p:txBody>
      </p:sp>
      <p:sp>
        <p:nvSpPr>
          <p:cNvPr id="12" name="Shape 12"/>
          <p:cNvSpPr/>
          <p:nvPr/>
        </p:nvSpPr>
        <p:spPr>
          <a:xfrm>
            <a:off x="621792" y="1261872"/>
            <a:ext cx="96012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Bullets 30"/>
          <p:cNvSpPr txBox="1"/>
          <p:nvPr/>
        </p:nvSpPr>
        <p:spPr>
          <a:xfrm>
            <a:off x="868680" y="1600200"/>
            <a:ext cx="6766560" cy="34747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fr-FR" sz="2200">
                <a:solidFill>
                  <a:srgbClr val="334155"/>
                </a:solidFill>
                <a:latin typeface="Aptos"/>
              </a:rPr>
              <a:t>Un enseignant scanne un QR Code pour confirmer sa présence.</a:t>
            </a:r>
          </a:p>
          <a:p>
            <a:pPr marL="342900" indent="-228600">
              <a:buChar char="•"/>
            </a:pPr>
            <a:r>
              <a:rPr lang="fr-FR" sz="2200">
                <a:solidFill>
                  <a:srgbClr val="334155"/>
                </a:solidFill>
                <a:latin typeface="Aptos"/>
              </a:rPr>
              <a:t>Il remplit ensuite la fiche de progression du cours.</a:t>
            </a:r>
          </a:p>
          <a:p>
            <a:pPr marL="342900" indent="-228600">
              <a:buChar char="•"/>
            </a:pPr>
            <a:r>
              <a:rPr lang="fr-FR" sz="2200">
                <a:solidFill>
                  <a:srgbClr val="334155"/>
                </a:solidFill>
                <a:latin typeface="Aptos"/>
              </a:rPr>
              <a:t>L’administration suit les présences et valide les informations.</a:t>
            </a:r>
          </a:p>
          <a:p>
            <a:pPr marL="342900" indent="-228600">
              <a:buChar char="•"/>
            </a:pPr>
            <a:r>
              <a:rPr lang="fr-FR" sz="2200">
                <a:solidFill>
                  <a:srgbClr val="334155"/>
                </a:solidFill>
                <a:latin typeface="Aptos"/>
              </a:rPr>
              <a:t>Le système calcule les honoraires à partir des séances réellement effectuées.</a:t>
            </a:r>
          </a:p>
        </p:txBody>
      </p:sp>
      <p:sp>
        <p:nvSpPr>
          <p:cNvPr id="31" name="Shape 31"/>
          <p:cNvSpPr/>
          <p:nvPr/>
        </p:nvSpPr>
        <p:spPr>
          <a:xfrm>
            <a:off x="8001000" y="1828800"/>
            <a:ext cx="2834640" cy="2103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 32"/>
          <p:cNvSpPr txBox="1"/>
          <p:nvPr/>
        </p:nvSpPr>
        <p:spPr>
          <a:xfrm>
            <a:off x="8275320" y="2148840"/>
            <a:ext cx="2286000" cy="1417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fr-FR" sz="2000" b="1">
                <a:solidFill>
                  <a:srgbClr val="FFFFFF"/>
                </a:solidFill>
                <a:latin typeface="mid"/>
              </a:rPr>
              <a:t>Une seule plateforme pour suivre, contrôler et payer plus facilement.</a:t>
            </a:r>
          </a:p>
        </p:txBody>
      </p:sp>
      <p:sp>
        <p:nvSpPr>
          <p:cNvPr id="900" name="Text 900"/>
          <p:cNvSpPr txBox="1"/>
          <p:nvPr/>
        </p:nvSpPr>
        <p:spPr>
          <a:xfrm>
            <a:off x="10012680" y="633679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fr-FR" sz="900">
                <a:solidFill>
                  <a:srgbClr val="64748B"/>
                </a:solidFill>
                <a:latin typeface="Aptos"/>
              </a:rP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 3"/>
          <p:cNvSpPr/>
          <p:nvPr/>
        </p:nvSpPr>
        <p:spPr>
          <a:xfrm>
            <a:off x="-1097280" y="-822960"/>
            <a:ext cx="3657600" cy="3657600"/>
          </a:xfrm>
          <a:prstGeom prst="roundRect">
            <a:avLst/>
          </a:prstGeom>
          <a:solidFill>
            <a:srgbClr val="DBEAFE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9601200" y="5029200"/>
            <a:ext cx="2743200" cy="2743200"/>
          </a:xfrm>
          <a:prstGeom prst="roundRect">
            <a:avLst/>
          </a:prstGeom>
          <a:solidFill>
            <a:srgbClr val="FEF3C7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94360" y="32004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3000" b="1">
                <a:solidFill>
                  <a:srgbClr val="0F172A"/>
                </a:solidFill>
                <a:latin typeface="Aptos"/>
              </a:rPr>
              <a:t>3. Les acteurs du système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21792" y="841248"/>
            <a:ext cx="9509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Deux profils principaux utilisent EduTrack.</a:t>
            </a:r>
          </a:p>
        </p:txBody>
      </p:sp>
      <p:sp>
        <p:nvSpPr>
          <p:cNvPr id="12" name="Shape 12"/>
          <p:cNvSpPr/>
          <p:nvPr/>
        </p:nvSpPr>
        <p:spPr>
          <a:xfrm>
            <a:off x="621792" y="1261872"/>
            <a:ext cx="96012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pic>
        <p:nvPicPr>
          <p:cNvPr id="30" name="Diagramme_cas_utilisation_vf_png.png"/>
          <p:cNvPicPr>
            <a:picLocks noChangeAspect="1"/>
          </p:cNvPicPr>
          <p:nvPr/>
        </p:nvPicPr>
        <p:blipFill>
          <a:blip r:embed="rIdImg4"/>
          <a:stretch>
            <a:fillRect/>
          </a:stretch>
        </p:blipFill>
        <p:spPr>
          <a:xfrm>
            <a:off x="2487168" y="1481328"/>
            <a:ext cx="7223760" cy="4434840"/>
          </a:xfrm>
          <a:prstGeom prst="rect">
            <a:avLst/>
          </a:prstGeom>
        </p:spPr>
      </p:pic>
      <p:sp>
        <p:nvSpPr>
          <p:cNvPr id="31" name="Text 31"/>
          <p:cNvSpPr txBox="1"/>
          <p:nvPr/>
        </p:nvSpPr>
        <p:spPr>
          <a:xfrm>
            <a:off x="841248" y="587044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fr-FR" sz="1200">
                <a:solidFill>
                  <a:srgbClr val="64748B"/>
                </a:solidFill>
                <a:latin typeface="Aptos"/>
              </a:rPr>
              <a:t>Administrateur : gère les données et supervise. Enseignant : consulte, émarge et remplit son cahier de textes.</a:t>
            </a:r>
          </a:p>
        </p:txBody>
      </p:sp>
      <p:sp>
        <p:nvSpPr>
          <p:cNvPr id="900" name="Text 900"/>
          <p:cNvSpPr txBox="1"/>
          <p:nvPr/>
        </p:nvSpPr>
        <p:spPr>
          <a:xfrm>
            <a:off x="10012680" y="633679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fr-FR" sz="900">
                <a:solidFill>
                  <a:srgbClr val="64748B"/>
                </a:solidFill>
                <a:latin typeface="Aptos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 3"/>
          <p:cNvSpPr/>
          <p:nvPr/>
        </p:nvSpPr>
        <p:spPr>
          <a:xfrm>
            <a:off x="-1097280" y="-822960"/>
            <a:ext cx="3657600" cy="3657600"/>
          </a:xfrm>
          <a:prstGeom prst="roundRect">
            <a:avLst/>
          </a:prstGeom>
          <a:solidFill>
            <a:srgbClr val="DBEAFE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9601200" y="5029200"/>
            <a:ext cx="2743200" cy="2743200"/>
          </a:xfrm>
          <a:prstGeom prst="roundRect">
            <a:avLst/>
          </a:prstGeom>
          <a:solidFill>
            <a:srgbClr val="FEF3C7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94360" y="32004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3000" b="1">
                <a:solidFill>
                  <a:srgbClr val="0F172A"/>
                </a:solidFill>
                <a:latin typeface="Aptos"/>
              </a:rPr>
              <a:t>4. Ce que fait l’administrateur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21792" y="841248"/>
            <a:ext cx="9509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L’interface web permet de piloter tout le système.</a:t>
            </a:r>
          </a:p>
        </p:txBody>
      </p:sp>
      <p:sp>
        <p:nvSpPr>
          <p:cNvPr id="12" name="Shape 12"/>
          <p:cNvSpPr/>
          <p:nvPr/>
        </p:nvSpPr>
        <p:spPr>
          <a:xfrm>
            <a:off x="621792" y="1261872"/>
            <a:ext cx="96012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685800" y="1600200"/>
            <a:ext cx="327355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685800" y="1600200"/>
            <a:ext cx="73152" cy="11155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 32"/>
          <p:cNvSpPr txBox="1"/>
          <p:nvPr/>
        </p:nvSpPr>
        <p:spPr>
          <a:xfrm>
            <a:off x="886968" y="1764792"/>
            <a:ext cx="2907792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Utilisateurs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886968" y="2167128"/>
            <a:ext cx="2889504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Créer et modifier les enseignants et administrateurs.</a:t>
            </a:r>
          </a:p>
        </p:txBody>
      </p:sp>
      <p:sp>
        <p:nvSpPr>
          <p:cNvPr id="34" name="Shape 34"/>
          <p:cNvSpPr/>
          <p:nvPr/>
        </p:nvSpPr>
        <p:spPr>
          <a:xfrm>
            <a:off x="4306824" y="1600200"/>
            <a:ext cx="327355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5" name="Shape 35"/>
          <p:cNvSpPr/>
          <p:nvPr/>
        </p:nvSpPr>
        <p:spPr>
          <a:xfrm>
            <a:off x="4306824" y="1600200"/>
            <a:ext cx="73152" cy="11155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ext 36"/>
          <p:cNvSpPr txBox="1"/>
          <p:nvPr/>
        </p:nvSpPr>
        <p:spPr>
          <a:xfrm>
            <a:off x="4507992" y="1764792"/>
            <a:ext cx="2907792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Référentiel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4507992" y="2167128"/>
            <a:ext cx="2889504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Gérer départements, filières, classes, matières et salles.</a:t>
            </a:r>
          </a:p>
        </p:txBody>
      </p:sp>
      <p:sp>
        <p:nvSpPr>
          <p:cNvPr id="38" name="Shape 38"/>
          <p:cNvSpPr/>
          <p:nvPr/>
        </p:nvSpPr>
        <p:spPr>
          <a:xfrm>
            <a:off x="7927848" y="1600200"/>
            <a:ext cx="327355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9" name="Shape 39"/>
          <p:cNvSpPr/>
          <p:nvPr/>
        </p:nvSpPr>
        <p:spPr>
          <a:xfrm>
            <a:off x="7927848" y="1600200"/>
            <a:ext cx="73152" cy="11155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ext 40"/>
          <p:cNvSpPr txBox="1"/>
          <p:nvPr/>
        </p:nvSpPr>
        <p:spPr>
          <a:xfrm>
            <a:off x="8129016" y="1764792"/>
            <a:ext cx="2907792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Planning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8129016" y="2167128"/>
            <a:ext cx="2889504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Planifier les cours et générer les séances.</a:t>
            </a:r>
          </a:p>
        </p:txBody>
      </p:sp>
      <p:sp>
        <p:nvSpPr>
          <p:cNvPr id="42" name="Shape 42"/>
          <p:cNvSpPr/>
          <p:nvPr/>
        </p:nvSpPr>
        <p:spPr>
          <a:xfrm>
            <a:off x="685800" y="3035808"/>
            <a:ext cx="327355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43" name="Shape 43"/>
          <p:cNvSpPr/>
          <p:nvPr/>
        </p:nvSpPr>
        <p:spPr>
          <a:xfrm>
            <a:off x="685800" y="3035808"/>
            <a:ext cx="73152" cy="11155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Text 44"/>
          <p:cNvSpPr txBox="1"/>
          <p:nvPr/>
        </p:nvSpPr>
        <p:spPr>
          <a:xfrm>
            <a:off x="886968" y="3200400"/>
            <a:ext cx="2907792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QR Code</a:t>
            </a:r>
          </a:p>
        </p:txBody>
      </p:sp>
      <p:sp>
        <p:nvSpPr>
          <p:cNvPr id="45" name="Text 45"/>
          <p:cNvSpPr txBox="1"/>
          <p:nvPr/>
        </p:nvSpPr>
        <p:spPr>
          <a:xfrm>
            <a:off x="886968" y="3602736"/>
            <a:ext cx="2889504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Générer et afficher les QR Codes pour les émargements.</a:t>
            </a:r>
          </a:p>
        </p:txBody>
      </p:sp>
      <p:sp>
        <p:nvSpPr>
          <p:cNvPr id="46" name="Shape 46"/>
          <p:cNvSpPr/>
          <p:nvPr/>
        </p:nvSpPr>
        <p:spPr>
          <a:xfrm>
            <a:off x="4306824" y="3035808"/>
            <a:ext cx="327355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47" name="Shape 47"/>
          <p:cNvSpPr/>
          <p:nvPr/>
        </p:nvSpPr>
        <p:spPr>
          <a:xfrm>
            <a:off x="4306824" y="3035808"/>
            <a:ext cx="73152" cy="111556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Text 48"/>
          <p:cNvSpPr txBox="1"/>
          <p:nvPr/>
        </p:nvSpPr>
        <p:spPr>
          <a:xfrm>
            <a:off x="4507992" y="3200400"/>
            <a:ext cx="2907792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Suivi</a:t>
            </a:r>
          </a:p>
        </p:txBody>
      </p:sp>
      <p:sp>
        <p:nvSpPr>
          <p:cNvPr id="49" name="Text 49"/>
          <p:cNvSpPr txBox="1"/>
          <p:nvPr/>
        </p:nvSpPr>
        <p:spPr>
          <a:xfrm>
            <a:off x="4507992" y="3602736"/>
            <a:ext cx="2889504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Consulter les présences et les fiches pédagogiques.</a:t>
            </a:r>
          </a:p>
        </p:txBody>
      </p:sp>
      <p:sp>
        <p:nvSpPr>
          <p:cNvPr id="50" name="Shape 50"/>
          <p:cNvSpPr/>
          <p:nvPr/>
        </p:nvSpPr>
        <p:spPr>
          <a:xfrm>
            <a:off x="7927848" y="3035808"/>
            <a:ext cx="327355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51" name="Shape 51"/>
          <p:cNvSpPr/>
          <p:nvPr/>
        </p:nvSpPr>
        <p:spPr>
          <a:xfrm>
            <a:off x="7927848" y="3035808"/>
            <a:ext cx="73152" cy="111556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ext 52"/>
          <p:cNvSpPr txBox="1"/>
          <p:nvPr/>
        </p:nvSpPr>
        <p:spPr>
          <a:xfrm>
            <a:off x="8129016" y="3200400"/>
            <a:ext cx="2907792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Honoraires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8129016" y="3602736"/>
            <a:ext cx="2889504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Calculer, valider et exporter les paiements.</a:t>
            </a:r>
          </a:p>
        </p:txBody>
      </p:sp>
      <p:sp>
        <p:nvSpPr>
          <p:cNvPr id="900" name="Text 900"/>
          <p:cNvSpPr txBox="1"/>
          <p:nvPr/>
        </p:nvSpPr>
        <p:spPr>
          <a:xfrm>
            <a:off x="10012680" y="633679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fr-FR" sz="900">
                <a:solidFill>
                  <a:srgbClr val="64748B"/>
                </a:solidFill>
                <a:latin typeface="Aptos"/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 3"/>
          <p:cNvSpPr/>
          <p:nvPr/>
        </p:nvSpPr>
        <p:spPr>
          <a:xfrm>
            <a:off x="-1097280" y="-822960"/>
            <a:ext cx="3657600" cy="3657600"/>
          </a:xfrm>
          <a:prstGeom prst="roundRect">
            <a:avLst/>
          </a:prstGeom>
          <a:solidFill>
            <a:srgbClr val="DBEAFE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9601200" y="5029200"/>
            <a:ext cx="2743200" cy="2743200"/>
          </a:xfrm>
          <a:prstGeom prst="roundRect">
            <a:avLst/>
          </a:prstGeom>
          <a:solidFill>
            <a:srgbClr val="FEF3C7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94360" y="32004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3000" b="1">
                <a:solidFill>
                  <a:srgbClr val="0F172A"/>
                </a:solidFill>
                <a:latin typeface="Aptos"/>
              </a:rPr>
              <a:t>5. Ce que fait l’enseignant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21792" y="841248"/>
            <a:ext cx="9509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L’application mobile simplifie le travail quotidien de l’enseignant.</a:t>
            </a:r>
          </a:p>
        </p:txBody>
      </p:sp>
      <p:sp>
        <p:nvSpPr>
          <p:cNvPr id="12" name="Shape 12"/>
          <p:cNvSpPr/>
          <p:nvPr/>
        </p:nvSpPr>
        <p:spPr>
          <a:xfrm>
            <a:off x="621792" y="1261872"/>
            <a:ext cx="96012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Bullets 30"/>
          <p:cNvSpPr txBox="1"/>
          <p:nvPr/>
        </p:nvSpPr>
        <p:spPr>
          <a:xfrm>
            <a:off x="868680" y="1600200"/>
            <a:ext cx="6766560" cy="34747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fr-FR" sz="2200">
                <a:solidFill>
                  <a:srgbClr val="334155"/>
                </a:solidFill>
                <a:latin typeface="Aptos"/>
              </a:rPr>
              <a:t>Se connecter avec son compte enseignant.</a:t>
            </a:r>
          </a:p>
          <a:p>
            <a:pPr marL="342900" indent="-228600">
              <a:buChar char="•"/>
            </a:pPr>
            <a:r>
              <a:rPr lang="fr-FR" sz="2200">
                <a:solidFill>
                  <a:srgbClr val="334155"/>
                </a:solidFill>
                <a:latin typeface="Aptos"/>
              </a:rPr>
              <a:t>Consulter son planning de cours.</a:t>
            </a:r>
          </a:p>
          <a:p>
            <a:pPr marL="342900" indent="-228600">
              <a:buChar char="•"/>
            </a:pPr>
            <a:r>
              <a:rPr lang="fr-FR" sz="2200">
                <a:solidFill>
                  <a:srgbClr val="334155"/>
                </a:solidFill>
                <a:latin typeface="Aptos"/>
              </a:rPr>
              <a:t>Scanner le QR Code de la séance.</a:t>
            </a:r>
          </a:p>
          <a:p>
            <a:pPr marL="342900" indent="-228600">
              <a:buChar char="•"/>
            </a:pPr>
            <a:r>
              <a:rPr lang="fr-FR" sz="2200">
                <a:solidFill>
                  <a:srgbClr val="334155"/>
                </a:solidFill>
                <a:latin typeface="Aptos"/>
              </a:rPr>
              <a:t>Remplir la fiche de progression après le cours.</a:t>
            </a:r>
          </a:p>
          <a:p>
            <a:pPr marL="342900" indent="-228600">
              <a:buChar char="•"/>
            </a:pPr>
            <a:r>
              <a:rPr lang="fr-FR" sz="2200">
                <a:solidFill>
                  <a:srgbClr val="334155"/>
                </a:solidFill>
                <a:latin typeface="Aptos"/>
              </a:rPr>
              <a:t>Consulter ses honoraires et son profil.</a:t>
            </a:r>
          </a:p>
        </p:txBody>
      </p:sp>
      <p:sp>
        <p:nvSpPr>
          <p:cNvPr id="31" name="Shape 31"/>
          <p:cNvSpPr/>
          <p:nvPr/>
        </p:nvSpPr>
        <p:spPr>
          <a:xfrm>
            <a:off x="8001000" y="1828800"/>
            <a:ext cx="2834640" cy="2103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 32"/>
          <p:cNvSpPr txBox="1"/>
          <p:nvPr/>
        </p:nvSpPr>
        <p:spPr>
          <a:xfrm>
            <a:off x="8275320" y="2148840"/>
            <a:ext cx="2286000" cy="1417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fr-FR" sz="2000" b="1">
                <a:solidFill>
                  <a:srgbClr val="FFFFFF"/>
                </a:solidFill>
                <a:latin typeface="mid"/>
              </a:rPr>
              <a:t>Le mobile est pensé pour une utilisation rapide sur le terrain.</a:t>
            </a:r>
          </a:p>
        </p:txBody>
      </p:sp>
      <p:sp>
        <p:nvSpPr>
          <p:cNvPr id="900" name="Text 900"/>
          <p:cNvSpPr txBox="1"/>
          <p:nvPr/>
        </p:nvSpPr>
        <p:spPr>
          <a:xfrm>
            <a:off x="10012680" y="633679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fr-FR" sz="900">
                <a:solidFill>
                  <a:srgbClr val="64748B"/>
                </a:solidFill>
                <a:latin typeface="Aptos"/>
              </a:rP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 3"/>
          <p:cNvSpPr/>
          <p:nvPr/>
        </p:nvSpPr>
        <p:spPr>
          <a:xfrm>
            <a:off x="-1097280" y="-822960"/>
            <a:ext cx="3657600" cy="3657600"/>
          </a:xfrm>
          <a:prstGeom prst="roundRect">
            <a:avLst/>
          </a:prstGeom>
          <a:solidFill>
            <a:srgbClr val="DBEAFE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9601200" y="5029200"/>
            <a:ext cx="2743200" cy="2743200"/>
          </a:xfrm>
          <a:prstGeom prst="roundRect">
            <a:avLst/>
          </a:prstGeom>
          <a:solidFill>
            <a:srgbClr val="FEF3C7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94360" y="32004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3000" b="1">
                <a:solidFill>
                  <a:srgbClr val="0F172A"/>
                </a:solidFill>
                <a:latin typeface="Aptos"/>
              </a:rPr>
              <a:t>6. Architecture technique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21792" y="841248"/>
            <a:ext cx="9509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Le système est séparé en trois couches simples.</a:t>
            </a:r>
          </a:p>
        </p:txBody>
      </p:sp>
      <p:sp>
        <p:nvSpPr>
          <p:cNvPr id="12" name="Shape 12"/>
          <p:cNvSpPr/>
          <p:nvPr/>
        </p:nvSpPr>
        <p:spPr>
          <a:xfrm>
            <a:off x="621792" y="1261872"/>
            <a:ext cx="96012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pic>
        <p:nvPicPr>
          <p:cNvPr id="30" name="image4.png"/>
          <p:cNvPicPr>
            <a:picLocks noChangeAspect="1"/>
          </p:cNvPicPr>
          <p:nvPr/>
        </p:nvPicPr>
        <p:blipFill>
          <a:blip r:embed="rIdImg7"/>
          <a:stretch>
            <a:fillRect/>
          </a:stretch>
        </p:blipFill>
        <p:spPr>
          <a:xfrm>
            <a:off x="822960" y="1481328"/>
            <a:ext cx="10287000" cy="4343400"/>
          </a:xfrm>
          <a:prstGeom prst="rect">
            <a:avLst/>
          </a:prstGeom>
        </p:spPr>
      </p:pic>
      <p:sp>
        <p:nvSpPr>
          <p:cNvPr id="31" name="Text 31"/>
          <p:cNvSpPr txBox="1"/>
          <p:nvPr/>
        </p:nvSpPr>
        <p:spPr>
          <a:xfrm>
            <a:off x="841248" y="587044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fr-FR" sz="1200">
                <a:solidFill>
                  <a:srgbClr val="64748B"/>
                </a:solidFill>
                <a:latin typeface="Aptos"/>
              </a:rPr>
              <a:t>Frontend web, application mobile, backend Spring Boot, base PostgreSQL.</a:t>
            </a:r>
          </a:p>
        </p:txBody>
      </p:sp>
      <p:sp>
        <p:nvSpPr>
          <p:cNvPr id="900" name="Text 900"/>
          <p:cNvSpPr txBox="1"/>
          <p:nvPr/>
        </p:nvSpPr>
        <p:spPr>
          <a:xfrm>
            <a:off x="10012680" y="633679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fr-FR" sz="900">
                <a:solidFill>
                  <a:srgbClr val="64748B"/>
                </a:solidFill>
                <a:latin typeface="Aptos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 3"/>
          <p:cNvSpPr/>
          <p:nvPr/>
        </p:nvSpPr>
        <p:spPr>
          <a:xfrm>
            <a:off x="-1097280" y="-822960"/>
            <a:ext cx="3657600" cy="3657600"/>
          </a:xfrm>
          <a:prstGeom prst="roundRect">
            <a:avLst/>
          </a:prstGeom>
          <a:solidFill>
            <a:srgbClr val="DBEAFE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9601200" y="5029200"/>
            <a:ext cx="2743200" cy="2743200"/>
          </a:xfrm>
          <a:prstGeom prst="roundRect">
            <a:avLst/>
          </a:prstGeom>
          <a:solidFill>
            <a:srgbClr val="FEF3C7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94360" y="32004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3000" b="1">
                <a:solidFill>
                  <a:srgbClr val="0F172A"/>
                </a:solidFill>
                <a:latin typeface="Aptos"/>
              </a:rPr>
              <a:t>7. Backend et sécurité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21792" y="841248"/>
            <a:ext cx="9509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Le backend est le cœur du système.</a:t>
            </a:r>
          </a:p>
        </p:txBody>
      </p:sp>
      <p:sp>
        <p:nvSpPr>
          <p:cNvPr id="12" name="Shape 12"/>
          <p:cNvSpPr/>
          <p:nvPr/>
        </p:nvSpPr>
        <p:spPr>
          <a:xfrm>
            <a:off x="621792" y="1261872"/>
            <a:ext cx="96012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685800" y="1600200"/>
            <a:ext cx="327355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685800" y="1600200"/>
            <a:ext cx="73152" cy="11155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 32"/>
          <p:cNvSpPr txBox="1"/>
          <p:nvPr/>
        </p:nvSpPr>
        <p:spPr>
          <a:xfrm>
            <a:off x="886968" y="1764792"/>
            <a:ext cx="2907792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Spring Boot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886968" y="2167128"/>
            <a:ext cx="2889504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Expose les API REST utilisées par le web et le mobile.</a:t>
            </a:r>
          </a:p>
        </p:txBody>
      </p:sp>
      <p:sp>
        <p:nvSpPr>
          <p:cNvPr id="34" name="Shape 34"/>
          <p:cNvSpPr/>
          <p:nvPr/>
        </p:nvSpPr>
        <p:spPr>
          <a:xfrm>
            <a:off x="4306824" y="1600200"/>
            <a:ext cx="327355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5" name="Shape 35"/>
          <p:cNvSpPr/>
          <p:nvPr/>
        </p:nvSpPr>
        <p:spPr>
          <a:xfrm>
            <a:off x="4306824" y="1600200"/>
            <a:ext cx="73152" cy="11155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ext 36"/>
          <p:cNvSpPr txBox="1"/>
          <p:nvPr/>
        </p:nvSpPr>
        <p:spPr>
          <a:xfrm>
            <a:off x="4507992" y="1764792"/>
            <a:ext cx="2907792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JWT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4507992" y="2167128"/>
            <a:ext cx="2889504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Protège les routes avec un token après connexion.</a:t>
            </a:r>
          </a:p>
        </p:txBody>
      </p:sp>
      <p:sp>
        <p:nvSpPr>
          <p:cNvPr id="38" name="Shape 38"/>
          <p:cNvSpPr/>
          <p:nvPr/>
        </p:nvSpPr>
        <p:spPr>
          <a:xfrm>
            <a:off x="7927848" y="1600200"/>
            <a:ext cx="327355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9" name="Shape 39"/>
          <p:cNvSpPr/>
          <p:nvPr/>
        </p:nvSpPr>
        <p:spPr>
          <a:xfrm>
            <a:off x="7927848" y="1600200"/>
            <a:ext cx="73152" cy="11155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ext 40"/>
          <p:cNvSpPr txBox="1"/>
          <p:nvPr/>
        </p:nvSpPr>
        <p:spPr>
          <a:xfrm>
            <a:off x="8129016" y="1764792"/>
            <a:ext cx="2907792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PostgreSQL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8129016" y="2167128"/>
            <a:ext cx="2889504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Stocke les utilisateurs, séances, émargements et honoraires.</a:t>
            </a:r>
          </a:p>
        </p:txBody>
      </p:sp>
      <p:sp>
        <p:nvSpPr>
          <p:cNvPr id="42" name="Shape 42"/>
          <p:cNvSpPr/>
          <p:nvPr/>
        </p:nvSpPr>
        <p:spPr>
          <a:xfrm>
            <a:off x="685800" y="3035808"/>
            <a:ext cx="327355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43" name="Shape 43"/>
          <p:cNvSpPr/>
          <p:nvPr/>
        </p:nvSpPr>
        <p:spPr>
          <a:xfrm>
            <a:off x="685800" y="3035808"/>
            <a:ext cx="73152" cy="11155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Text 44"/>
          <p:cNvSpPr txBox="1"/>
          <p:nvPr/>
        </p:nvSpPr>
        <p:spPr>
          <a:xfrm>
            <a:off x="886968" y="3200400"/>
            <a:ext cx="2907792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Swagger</a:t>
            </a:r>
          </a:p>
        </p:txBody>
      </p:sp>
      <p:sp>
        <p:nvSpPr>
          <p:cNvPr id="45" name="Text 45"/>
          <p:cNvSpPr txBox="1"/>
          <p:nvPr/>
        </p:nvSpPr>
        <p:spPr>
          <a:xfrm>
            <a:off x="886968" y="3602736"/>
            <a:ext cx="2889504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Permet de tester et documenter les endpoints.</a:t>
            </a:r>
          </a:p>
        </p:txBody>
      </p:sp>
      <p:sp>
        <p:nvSpPr>
          <p:cNvPr id="46" name="Shape 46"/>
          <p:cNvSpPr/>
          <p:nvPr/>
        </p:nvSpPr>
        <p:spPr>
          <a:xfrm>
            <a:off x="4306824" y="3035808"/>
            <a:ext cx="327355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47" name="Shape 47"/>
          <p:cNvSpPr/>
          <p:nvPr/>
        </p:nvSpPr>
        <p:spPr>
          <a:xfrm>
            <a:off x="4306824" y="3035808"/>
            <a:ext cx="73152" cy="111556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Text 48"/>
          <p:cNvSpPr txBox="1"/>
          <p:nvPr/>
        </p:nvSpPr>
        <p:spPr>
          <a:xfrm>
            <a:off x="4507992" y="3200400"/>
            <a:ext cx="2907792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Rôles</a:t>
            </a:r>
          </a:p>
        </p:txBody>
      </p:sp>
      <p:sp>
        <p:nvSpPr>
          <p:cNvPr id="49" name="Text 49"/>
          <p:cNvSpPr txBox="1"/>
          <p:nvPr/>
        </p:nvSpPr>
        <p:spPr>
          <a:xfrm>
            <a:off x="4507992" y="3602736"/>
            <a:ext cx="2889504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Administrateur et enseignant ont des accès différents.</a:t>
            </a:r>
          </a:p>
        </p:txBody>
      </p:sp>
      <p:sp>
        <p:nvSpPr>
          <p:cNvPr id="50" name="Shape 50"/>
          <p:cNvSpPr/>
          <p:nvPr/>
        </p:nvSpPr>
        <p:spPr>
          <a:xfrm>
            <a:off x="7927848" y="3035808"/>
            <a:ext cx="327355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51" name="Shape 51"/>
          <p:cNvSpPr/>
          <p:nvPr/>
        </p:nvSpPr>
        <p:spPr>
          <a:xfrm>
            <a:off x="7927848" y="3035808"/>
            <a:ext cx="73152" cy="111556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ext 52"/>
          <p:cNvSpPr txBox="1"/>
          <p:nvPr/>
        </p:nvSpPr>
        <p:spPr>
          <a:xfrm>
            <a:off x="8129016" y="3200400"/>
            <a:ext cx="2907792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Exports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8129016" y="3602736"/>
            <a:ext cx="2889504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Génération Excel et PDF pour les rapports.</a:t>
            </a:r>
          </a:p>
        </p:txBody>
      </p:sp>
      <p:sp>
        <p:nvSpPr>
          <p:cNvPr id="900" name="Text 900"/>
          <p:cNvSpPr txBox="1"/>
          <p:nvPr/>
        </p:nvSpPr>
        <p:spPr>
          <a:xfrm>
            <a:off x="10012680" y="633679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fr-FR" sz="900">
                <a:solidFill>
                  <a:srgbClr val="64748B"/>
                </a:solidFill>
                <a:latin typeface="Aptos"/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 3"/>
          <p:cNvSpPr/>
          <p:nvPr/>
        </p:nvSpPr>
        <p:spPr>
          <a:xfrm>
            <a:off x="-1097280" y="-822960"/>
            <a:ext cx="3657600" cy="3657600"/>
          </a:xfrm>
          <a:prstGeom prst="roundRect">
            <a:avLst/>
          </a:prstGeom>
          <a:solidFill>
            <a:srgbClr val="DBEAFE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9601200" y="5029200"/>
            <a:ext cx="2743200" cy="2743200"/>
          </a:xfrm>
          <a:prstGeom prst="roundRect">
            <a:avLst/>
          </a:prstGeom>
          <a:solidFill>
            <a:srgbClr val="FEF3C7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94360" y="32004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3000" b="1">
                <a:solidFill>
                  <a:srgbClr val="0F172A"/>
                </a:solidFill>
                <a:latin typeface="Aptos"/>
              </a:rPr>
              <a:t>8. Exemple : émargement par QR Code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21792" y="841248"/>
            <a:ext cx="9509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Le QR Code permet de rendre la présence plus fiable.</a:t>
            </a:r>
          </a:p>
        </p:txBody>
      </p:sp>
      <p:sp>
        <p:nvSpPr>
          <p:cNvPr id="12" name="Shape 12"/>
          <p:cNvSpPr/>
          <p:nvPr/>
        </p:nvSpPr>
        <p:spPr>
          <a:xfrm>
            <a:off x="621792" y="1261872"/>
            <a:ext cx="96012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pic>
        <p:nvPicPr>
          <p:cNvPr id="30" name="image2.png"/>
          <p:cNvPicPr>
            <a:picLocks noChangeAspect="1"/>
          </p:cNvPicPr>
          <p:nvPr/>
        </p:nvPicPr>
        <p:blipFill>
          <a:blip r:embed="rIdImg9"/>
          <a:stretch>
            <a:fillRect/>
          </a:stretch>
        </p:blipFill>
        <p:spPr>
          <a:xfrm>
            <a:off x="822960" y="1481328"/>
            <a:ext cx="10287000" cy="4343400"/>
          </a:xfrm>
          <a:prstGeom prst="rect">
            <a:avLst/>
          </a:prstGeom>
        </p:spPr>
      </p:pic>
      <p:sp>
        <p:nvSpPr>
          <p:cNvPr id="31" name="Text 31"/>
          <p:cNvSpPr txBox="1"/>
          <p:nvPr/>
        </p:nvSpPr>
        <p:spPr>
          <a:xfrm>
            <a:off x="841248" y="587044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fr-FR" sz="1200">
                <a:solidFill>
                  <a:srgbClr val="64748B"/>
                </a:solidFill>
                <a:latin typeface="Aptos"/>
              </a:rPr>
              <a:t>Le mobile scanne, le backend vérifie, puis la base enregistre l’émargement.</a:t>
            </a:r>
          </a:p>
        </p:txBody>
      </p:sp>
      <p:sp>
        <p:nvSpPr>
          <p:cNvPr id="900" name="Text 900"/>
          <p:cNvSpPr txBox="1"/>
          <p:nvPr/>
        </p:nvSpPr>
        <p:spPr>
          <a:xfrm>
            <a:off x="10012680" y="633679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fr-FR" sz="900">
                <a:solidFill>
                  <a:srgbClr val="64748B"/>
                </a:solidFill>
                <a:latin typeface="Aptos"/>
              </a:rP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 3"/>
          <p:cNvSpPr/>
          <p:nvPr/>
        </p:nvSpPr>
        <p:spPr>
          <a:xfrm>
            <a:off x="-1097280" y="-822960"/>
            <a:ext cx="3657600" cy="3657600"/>
          </a:xfrm>
          <a:prstGeom prst="roundRect">
            <a:avLst/>
          </a:prstGeom>
          <a:solidFill>
            <a:srgbClr val="DBEAFE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9601200" y="5029200"/>
            <a:ext cx="2743200" cy="2743200"/>
          </a:xfrm>
          <a:prstGeom prst="roundRect">
            <a:avLst/>
          </a:prstGeom>
          <a:solidFill>
            <a:srgbClr val="FEF3C7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94360" y="32004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3000" b="1">
                <a:solidFill>
                  <a:srgbClr val="0F172A"/>
                </a:solidFill>
                <a:latin typeface="Aptos"/>
              </a:rPr>
              <a:t>9. Démonstration pratique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21792" y="841248"/>
            <a:ext cx="9509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Objectif : montrer rapidement le fonctionnement réel du projet.</a:t>
            </a:r>
          </a:p>
        </p:txBody>
      </p:sp>
      <p:sp>
        <p:nvSpPr>
          <p:cNvPr id="12" name="Shape 12"/>
          <p:cNvSpPr/>
          <p:nvPr/>
        </p:nvSpPr>
        <p:spPr>
          <a:xfrm>
            <a:off x="621792" y="1261872"/>
            <a:ext cx="96012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914400" y="1600200"/>
            <a:ext cx="9144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914400" y="167335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fr-FR" sz="1300" b="1">
                <a:solidFill>
                  <a:srgbClr val="FFFFFF"/>
                </a:solidFill>
                <a:latin typeface="Aptos"/>
              </a:rPr>
              <a:t>1 min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2057400" y="1636776"/>
            <a:ext cx="749807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2100" b="1">
                <a:solidFill>
                  <a:srgbClr val="0F172A"/>
                </a:solidFill>
                <a:latin typeface="Aptos"/>
              </a:rPr>
              <a:t>Connexion administrateur</a:t>
            </a:r>
          </a:p>
        </p:txBody>
      </p:sp>
      <p:sp>
        <p:nvSpPr>
          <p:cNvPr id="33" name="Shape 33"/>
          <p:cNvSpPr/>
          <p:nvPr/>
        </p:nvSpPr>
        <p:spPr>
          <a:xfrm>
            <a:off x="914400" y="2350008"/>
            <a:ext cx="9144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ext 34"/>
          <p:cNvSpPr txBox="1"/>
          <p:nvPr/>
        </p:nvSpPr>
        <p:spPr>
          <a:xfrm>
            <a:off x="914400" y="24231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fr-FR" sz="1300" b="1">
                <a:solidFill>
                  <a:srgbClr val="FFFFFF"/>
                </a:solidFill>
                <a:latin typeface="Aptos"/>
              </a:rPr>
              <a:t>1 min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2057400" y="2386584"/>
            <a:ext cx="749807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2100" b="1">
                <a:solidFill>
                  <a:srgbClr val="0F172A"/>
                </a:solidFill>
                <a:latin typeface="Aptos"/>
              </a:rPr>
              <a:t>Création ou consultation d’un enseignant</a:t>
            </a:r>
          </a:p>
        </p:txBody>
      </p:sp>
      <p:sp>
        <p:nvSpPr>
          <p:cNvPr id="36" name="Shape 36"/>
          <p:cNvSpPr/>
          <p:nvPr/>
        </p:nvSpPr>
        <p:spPr>
          <a:xfrm>
            <a:off x="914400" y="3099816"/>
            <a:ext cx="9144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914400" y="317296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fr-FR" sz="1300" b="1">
                <a:solidFill>
                  <a:srgbClr val="FFFFFF"/>
                </a:solidFill>
                <a:latin typeface="Aptos"/>
              </a:rPr>
              <a:t>1 min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2057400" y="3136392"/>
            <a:ext cx="749807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2100" b="1">
                <a:solidFill>
                  <a:srgbClr val="0F172A"/>
                </a:solidFill>
                <a:latin typeface="Aptos"/>
              </a:rPr>
              <a:t>Planning et génération QR Code</a:t>
            </a:r>
          </a:p>
        </p:txBody>
      </p:sp>
      <p:sp>
        <p:nvSpPr>
          <p:cNvPr id="39" name="Shape 39"/>
          <p:cNvSpPr/>
          <p:nvPr/>
        </p:nvSpPr>
        <p:spPr>
          <a:xfrm>
            <a:off x="914400" y="3849624"/>
            <a:ext cx="914400" cy="43891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ext 40"/>
          <p:cNvSpPr txBox="1"/>
          <p:nvPr/>
        </p:nvSpPr>
        <p:spPr>
          <a:xfrm>
            <a:off x="914400" y="392277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fr-FR" sz="1300" b="1">
                <a:solidFill>
                  <a:srgbClr val="FFFFFF"/>
                </a:solidFill>
                <a:latin typeface="Aptos"/>
              </a:rPr>
              <a:t>1 min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2057400" y="3886200"/>
            <a:ext cx="749807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2100" b="1">
                <a:solidFill>
                  <a:srgbClr val="0F172A"/>
                </a:solidFill>
                <a:latin typeface="Aptos"/>
              </a:rPr>
              <a:t>Scan côté mobile enseignant</a:t>
            </a:r>
          </a:p>
        </p:txBody>
      </p:sp>
      <p:sp>
        <p:nvSpPr>
          <p:cNvPr id="42" name="Shape 42"/>
          <p:cNvSpPr/>
          <p:nvPr/>
        </p:nvSpPr>
        <p:spPr>
          <a:xfrm>
            <a:off x="914400" y="4599432"/>
            <a:ext cx="914400" cy="43891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914400" y="46725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fr-FR" sz="1300" b="1">
                <a:solidFill>
                  <a:srgbClr val="FFFFFF"/>
                </a:solidFill>
                <a:latin typeface="Aptos"/>
              </a:rPr>
              <a:t>1 min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2057400" y="4636008"/>
            <a:ext cx="749807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2100" b="1">
                <a:solidFill>
                  <a:srgbClr val="0F172A"/>
                </a:solidFill>
                <a:latin typeface="Aptos"/>
              </a:rPr>
              <a:t>Fiche de progression + suivi des honoraires</a:t>
            </a:r>
          </a:p>
        </p:txBody>
      </p:sp>
      <p:sp>
        <p:nvSpPr>
          <p:cNvPr id="45" name="Shape 45"/>
          <p:cNvSpPr/>
          <p:nvPr/>
        </p:nvSpPr>
        <p:spPr>
          <a:xfrm>
            <a:off x="8321040" y="1600200"/>
            <a:ext cx="2743200" cy="2240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Text 46"/>
          <p:cNvSpPr txBox="1"/>
          <p:nvPr/>
        </p:nvSpPr>
        <p:spPr>
          <a:xfrm>
            <a:off x="8458200" y="1828800"/>
            <a:ext cx="2468880" cy="18288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fr-FR" sz="1900" b="1">
                <a:solidFill>
                  <a:srgbClr val="FFFFFF"/>
                </a:solidFill>
                <a:latin typeface="mid"/>
              </a:rPr>
              <a:t>Conseil oral
Montrer moins, mais montrer clairement.</a:t>
            </a:r>
          </a:p>
        </p:txBody>
      </p:sp>
      <p:sp>
        <p:nvSpPr>
          <p:cNvPr id="900" name="Text 900"/>
          <p:cNvSpPr txBox="1"/>
          <p:nvPr/>
        </p:nvSpPr>
        <p:spPr>
          <a:xfrm>
            <a:off x="10012680" y="633679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fr-FR" sz="900">
                <a:solidFill>
                  <a:srgbClr val="64748B"/>
                </a:solidFill>
                <a:latin typeface="Aptos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 3"/>
          <p:cNvSpPr/>
          <p:nvPr/>
        </p:nvSpPr>
        <p:spPr>
          <a:xfrm>
            <a:off x="-1097280" y="-822960"/>
            <a:ext cx="3657600" cy="3657600"/>
          </a:xfrm>
          <a:prstGeom prst="roundRect">
            <a:avLst/>
          </a:prstGeom>
          <a:solidFill>
            <a:srgbClr val="DBEAFE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9601200" y="5029200"/>
            <a:ext cx="2743200" cy="2743200"/>
          </a:xfrm>
          <a:prstGeom prst="roundRect">
            <a:avLst/>
          </a:prstGeom>
          <a:solidFill>
            <a:srgbClr val="FEF3C7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94360" y="32004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3000" b="1">
                <a:solidFill>
                  <a:srgbClr val="0F172A"/>
                </a:solidFill>
                <a:latin typeface="Aptos"/>
              </a:rPr>
              <a:t>10. Résultats obtenus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21792" y="841248"/>
            <a:ext cx="9509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Le projet répond aux besoins principaux du suivi pédagogique.</a:t>
            </a:r>
          </a:p>
        </p:txBody>
      </p:sp>
      <p:sp>
        <p:nvSpPr>
          <p:cNvPr id="12" name="Shape 12"/>
          <p:cNvSpPr/>
          <p:nvPr/>
        </p:nvSpPr>
        <p:spPr>
          <a:xfrm>
            <a:off x="621792" y="1261872"/>
            <a:ext cx="96012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685800" y="1600200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685800" y="1600200"/>
            <a:ext cx="73152" cy="11155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 32"/>
          <p:cNvSpPr txBox="1"/>
          <p:nvPr/>
        </p:nvSpPr>
        <p:spPr>
          <a:xfrm>
            <a:off x="886968" y="1764792"/>
            <a:ext cx="46177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Gain de temps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886968" y="2167128"/>
            <a:ext cx="4599432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Moins de calculs manuels pour les honoraires.</a:t>
            </a:r>
          </a:p>
        </p:txBody>
      </p:sp>
      <p:sp>
        <p:nvSpPr>
          <p:cNvPr id="34" name="Shape 34"/>
          <p:cNvSpPr/>
          <p:nvPr/>
        </p:nvSpPr>
        <p:spPr>
          <a:xfrm>
            <a:off x="6016752" y="1600200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5" name="Shape 35"/>
          <p:cNvSpPr/>
          <p:nvPr/>
        </p:nvSpPr>
        <p:spPr>
          <a:xfrm>
            <a:off x="6016752" y="1600200"/>
            <a:ext cx="73152" cy="11155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ext 36"/>
          <p:cNvSpPr txBox="1"/>
          <p:nvPr/>
        </p:nvSpPr>
        <p:spPr>
          <a:xfrm>
            <a:off x="6217920" y="1764792"/>
            <a:ext cx="46177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Traçabilité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6217920" y="2167128"/>
            <a:ext cx="4599432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Chaque présence est liée à une séance et un enseignant.</a:t>
            </a:r>
          </a:p>
        </p:txBody>
      </p:sp>
      <p:sp>
        <p:nvSpPr>
          <p:cNvPr id="38" name="Shape 38"/>
          <p:cNvSpPr/>
          <p:nvPr/>
        </p:nvSpPr>
        <p:spPr>
          <a:xfrm>
            <a:off x="685800" y="3035808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39" name="Shape 39"/>
          <p:cNvSpPr/>
          <p:nvPr/>
        </p:nvSpPr>
        <p:spPr>
          <a:xfrm>
            <a:off x="685800" y="3035808"/>
            <a:ext cx="73152" cy="11155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ext 40"/>
          <p:cNvSpPr txBox="1"/>
          <p:nvPr/>
        </p:nvSpPr>
        <p:spPr>
          <a:xfrm>
            <a:off x="886968" y="3200400"/>
            <a:ext cx="46177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Centralisation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886968" y="3602736"/>
            <a:ext cx="4599432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Les données pédagogiques sont dans une seule plateforme.</a:t>
            </a:r>
          </a:p>
        </p:txBody>
      </p:sp>
      <p:sp>
        <p:nvSpPr>
          <p:cNvPr id="42" name="Shape 42"/>
          <p:cNvSpPr/>
          <p:nvPr/>
        </p:nvSpPr>
        <p:spPr>
          <a:xfrm>
            <a:off x="6016752" y="3035808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43" name="Shape 43"/>
          <p:cNvSpPr/>
          <p:nvPr/>
        </p:nvSpPr>
        <p:spPr>
          <a:xfrm>
            <a:off x="6016752" y="3035808"/>
            <a:ext cx="73152" cy="11155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Text 44"/>
          <p:cNvSpPr txBox="1"/>
          <p:nvPr/>
        </p:nvSpPr>
        <p:spPr>
          <a:xfrm>
            <a:off x="6217920" y="3200400"/>
            <a:ext cx="46177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700" b="1">
                <a:solidFill>
                  <a:srgbClr val="0F172A"/>
                </a:solidFill>
                <a:latin typeface="Aptos"/>
              </a:rPr>
              <a:t>Contrôle</a:t>
            </a:r>
          </a:p>
        </p:txBody>
      </p:sp>
      <p:sp>
        <p:nvSpPr>
          <p:cNvPr id="45" name="Text 45"/>
          <p:cNvSpPr txBox="1"/>
          <p:nvPr/>
        </p:nvSpPr>
        <p:spPr>
          <a:xfrm>
            <a:off x="6217920" y="3602736"/>
            <a:ext cx="4599432" cy="4297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L’administration dispose d’une meilleure visibilité.</a:t>
            </a:r>
          </a:p>
        </p:txBody>
      </p:sp>
      <p:sp>
        <p:nvSpPr>
          <p:cNvPr id="900" name="Text 900"/>
          <p:cNvSpPr txBox="1"/>
          <p:nvPr/>
        </p:nvSpPr>
        <p:spPr>
          <a:xfrm>
            <a:off x="10012680" y="633679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fr-FR" sz="900">
                <a:solidFill>
                  <a:srgbClr val="64748B"/>
                </a:solidFill>
                <a:latin typeface="Aptos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hape 3"/>
          <p:cNvSpPr/>
          <p:nvPr/>
        </p:nvSpPr>
        <p:spPr>
          <a:xfrm>
            <a:off x="-1097280" y="-822960"/>
            <a:ext cx="3657600" cy="3657600"/>
          </a:xfrm>
          <a:prstGeom prst="roundRect">
            <a:avLst/>
          </a:prstGeom>
          <a:solidFill>
            <a:srgbClr val="DBEAFE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Shape 4"/>
          <p:cNvSpPr/>
          <p:nvPr/>
        </p:nvSpPr>
        <p:spPr>
          <a:xfrm>
            <a:off x="9601200" y="5029200"/>
            <a:ext cx="2743200" cy="2743200"/>
          </a:xfrm>
          <a:prstGeom prst="roundRect">
            <a:avLst/>
          </a:prstGeom>
          <a:solidFill>
            <a:srgbClr val="FEF3C7">
              <a:alpha val="8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 10"/>
          <p:cNvSpPr txBox="1"/>
          <p:nvPr/>
        </p:nvSpPr>
        <p:spPr>
          <a:xfrm>
            <a:off x="594360" y="32004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3000" b="1">
                <a:solidFill>
                  <a:srgbClr val="0F172A"/>
                </a:solidFill>
                <a:latin typeface="Aptos"/>
              </a:rPr>
              <a:t>Conclusion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21792" y="841248"/>
            <a:ext cx="9509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fr-FR" sz="1300">
                <a:solidFill>
                  <a:srgbClr val="64748B"/>
                </a:solidFill>
                <a:latin typeface="Aptos"/>
              </a:rPr>
              <a:t>EduTrack est une solution complète, moderne et évolutive.</a:t>
            </a:r>
          </a:p>
        </p:txBody>
      </p:sp>
      <p:sp>
        <p:nvSpPr>
          <p:cNvPr id="12" name="Shape 12"/>
          <p:cNvSpPr/>
          <p:nvPr/>
        </p:nvSpPr>
        <p:spPr>
          <a:xfrm>
            <a:off x="621792" y="1261872"/>
            <a:ext cx="96012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Bullets 30"/>
          <p:cNvSpPr txBox="1"/>
          <p:nvPr/>
        </p:nvSpPr>
        <p:spPr>
          <a:xfrm>
            <a:off x="868680" y="1600200"/>
            <a:ext cx="6766560" cy="34747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fr-FR" sz="2200">
                <a:solidFill>
                  <a:srgbClr val="334155"/>
                </a:solidFill>
                <a:latin typeface="Aptos"/>
              </a:rPr>
              <a:t>Le projet combine web, mobile et backend sécurisé.</a:t>
            </a:r>
          </a:p>
          <a:p>
            <a:pPr marL="342900" indent="-228600">
              <a:buChar char="•"/>
            </a:pPr>
            <a:r>
              <a:rPr lang="fr-FR" sz="2200">
                <a:solidFill>
                  <a:srgbClr val="334155"/>
                </a:solidFill>
                <a:latin typeface="Aptos"/>
              </a:rPr>
              <a:t>Il simplifie le suivi pédagogique et la gestion des honoraires.</a:t>
            </a:r>
          </a:p>
          <a:p>
            <a:pPr marL="342900" indent="-228600">
              <a:buChar char="•"/>
            </a:pPr>
            <a:r>
              <a:rPr lang="fr-FR" sz="2200">
                <a:solidFill>
                  <a:srgbClr val="334155"/>
                </a:solidFill>
                <a:latin typeface="Aptos"/>
              </a:rPr>
              <a:t>Il peut évoluer vers les notifications, statistiques avancées et déploiement cloud.</a:t>
            </a:r>
          </a:p>
          <a:p>
            <a:pPr marL="342900" indent="-228600">
              <a:buChar char="•"/>
            </a:pPr>
            <a:r>
              <a:rPr lang="fr-FR" sz="2200">
                <a:solidFill>
                  <a:srgbClr val="334155"/>
                </a:solidFill>
                <a:latin typeface="Aptos"/>
              </a:rPr>
              <a:t>Merci pour votre attention.</a:t>
            </a:r>
          </a:p>
        </p:txBody>
      </p:sp>
      <p:sp>
        <p:nvSpPr>
          <p:cNvPr id="31" name="Shape 31"/>
          <p:cNvSpPr/>
          <p:nvPr/>
        </p:nvSpPr>
        <p:spPr>
          <a:xfrm>
            <a:off x="8001000" y="1828800"/>
            <a:ext cx="2834640" cy="2103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 32"/>
          <p:cNvSpPr txBox="1"/>
          <p:nvPr/>
        </p:nvSpPr>
        <p:spPr>
          <a:xfrm>
            <a:off x="8275320" y="2148840"/>
            <a:ext cx="2286000" cy="1417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fr-FR" sz="2000" b="1">
                <a:solidFill>
                  <a:srgbClr val="FFFFFF"/>
                </a:solidFill>
                <a:latin typeface="mid"/>
              </a:rPr>
              <a:t>Place à vos questions.</a:t>
            </a:r>
          </a:p>
        </p:txBody>
      </p:sp>
      <p:sp>
        <p:nvSpPr>
          <p:cNvPr id="900" name="Text 900"/>
          <p:cNvSpPr txBox="1"/>
          <p:nvPr/>
        </p:nvSpPr>
        <p:spPr>
          <a:xfrm>
            <a:off x="10012680" y="633679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fr-FR" sz="900">
                <a:solidFill>
                  <a:srgbClr val="64748B"/>
                </a:solidFill>
                <a:latin typeface="Aptos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Track">
  <a:themeElements>
    <a:clrScheme name="EduTrack">
      <a:dk1>
        <a:srgbClr val="0F172A"/>
      </a:dk1>
      <a:lt1>
        <a:srgbClr val="FFFFFF"/>
      </a:lt1>
      <a:dk2>
        <a:srgbClr val="334155"/>
      </a:dk2>
      <a:lt2>
        <a:srgbClr val="F8FAFC"/>
      </a:lt2>
      <a:accent1>
        <a:srgbClr val="2563EB"/>
      </a:accent1>
      <a:accent2>
        <a:srgbClr val="16A34A"/>
      </a:accent2>
      <a:accent3>
        <a:srgbClr val="F59E0B"/>
      </a:accent3>
      <a:accent4>
        <a:srgbClr val="7C3AED"/>
      </a:accent4>
      <a:accent5>
        <a:srgbClr val="0891B2"/>
      </a:accent5>
      <a:accent6>
        <a:srgbClr val="DC2626"/>
      </a:accent6>
      <a:hlink>
        <a:srgbClr val="2563EB"/>
      </a:hlink>
      <a:folHlink>
        <a:srgbClr val="7C3AED"/>
      </a:folHlink>
    </a:clrScheme>
    <a:fontScheme name="EduTrack">
      <a:majorFont>
        <a:latin typeface="Aptos Display"/>
      </a:majorFont>
      <a:minorFont>
        <a:latin typeface="Aptos"/>
      </a:minorFont>
    </a:fontScheme>
    <a:fmtScheme name="EduTrack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EduTrack Generator</Application>
  <PresentationFormat>Wide</PresentationFormat>
  <Slides>12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EduTrack</dc:title>
  <dc:creator>EduTrack</dc:creator>
  <cp:lastModifiedBy>EduTrack</cp:lastModifiedBy>
</cp:coreProperties>
</file>