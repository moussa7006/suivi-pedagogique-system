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131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38BDF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8.svg"/><Relationship Id="rId4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4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3.svg"/><Relationship Id="rId5" Type="http://schemas.openxmlformats.org/officeDocument/2006/relationships/image" Target="../media/image20.svg"/><Relationship Id="rId10" Type="http://schemas.openxmlformats.org/officeDocument/2006/relationships/image" Target="../media/image22.png"/><Relationship Id="rId4" Type="http://schemas.openxmlformats.org/officeDocument/2006/relationships/image" Target="../media/image19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3.svg"/><Relationship Id="rId18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image" Target="../media/image37.svg"/><Relationship Id="rId7" Type="http://schemas.openxmlformats.org/officeDocument/2006/relationships/image" Target="../media/image29.svg"/><Relationship Id="rId12" Type="http://schemas.openxmlformats.org/officeDocument/2006/relationships/image" Target="../media/image32.png"/><Relationship Id="rId17" Type="http://schemas.openxmlformats.org/officeDocument/2006/relationships/image" Target="../media/image35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4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11.svg"/><Relationship Id="rId5" Type="http://schemas.openxmlformats.org/officeDocument/2006/relationships/image" Target="../media/image27.svg"/><Relationship Id="rId15" Type="http://schemas.openxmlformats.org/officeDocument/2006/relationships/image" Target="../media/image23.svg"/><Relationship Id="rId10" Type="http://schemas.openxmlformats.org/officeDocument/2006/relationships/image" Target="../media/image10.png"/><Relationship Id="rId19" Type="http://schemas.openxmlformats.org/officeDocument/2006/relationships/image" Target="../media/image18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1.png"/><Relationship Id="rId7" Type="http://schemas.openxmlformats.org/officeDocument/2006/relationships/image" Target="../media/image4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svg"/><Relationship Id="rId3" Type="http://schemas.openxmlformats.org/officeDocument/2006/relationships/image" Target="../media/image1.png"/><Relationship Id="rId7" Type="http://schemas.openxmlformats.org/officeDocument/2006/relationships/image" Target="../media/image18.sv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6.svg"/><Relationship Id="rId5" Type="http://schemas.openxmlformats.org/officeDocument/2006/relationships/image" Target="../media/image37.svg"/><Relationship Id="rId10" Type="http://schemas.openxmlformats.org/officeDocument/2006/relationships/image" Target="../media/image45.png"/><Relationship Id="rId4" Type="http://schemas.openxmlformats.org/officeDocument/2006/relationships/image" Target="../media/image36.png"/><Relationship Id="rId9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1828800" y="-1828800"/>
            <a:ext cx="5486040" cy="5486040"/>
          </a:xfrm>
          <a:prstGeom prst="ellipse">
            <a:avLst/>
          </a:prstGeom>
          <a:solidFill>
            <a:srgbClr val="3B82F6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144000" y="3657600"/>
            <a:ext cx="5486040" cy="5486040"/>
          </a:xfrm>
          <a:prstGeom prst="ellipse">
            <a:avLst/>
          </a:prstGeom>
          <a:solidFill>
            <a:srgbClr val="06B6D4">
              <a:alpha val="5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0241280" y="228600"/>
            <a:ext cx="1645560" cy="82345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2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backend/edutrack/src/main/resources/images/logo_INTEC_nom_Horizon-1-3-1.png"/>
          <p:cNvPicPr/>
          <p:nvPr/>
        </p:nvPicPr>
        <p:blipFill>
          <a:blip r:embed="rId3"/>
          <a:stretch/>
        </p:blipFill>
        <p:spPr>
          <a:xfrm>
            <a:off x="10308076" y="445134"/>
            <a:ext cx="1462680" cy="422574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345120" y="1478292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6B6D4"/>
                </a:solidFill>
                <a:latin typeface="Calibri"/>
              </a:rPr>
              <a:t>PROJET DE FIN DE CYCLE</a:t>
            </a:r>
            <a:endParaRPr lang="fr-FR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281877" y="1798037"/>
            <a:ext cx="10332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strike="noStrike" spc="-1" dirty="0" err="1">
                <a:solidFill>
                  <a:srgbClr val="FFFFFF"/>
                </a:solidFill>
                <a:latin typeface="Calibri"/>
              </a:rPr>
              <a:t>EduTrack</a:t>
            </a:r>
            <a:endParaRPr lang="fr-FR" sz="7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381960" y="3403080"/>
            <a:ext cx="56689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CONCEPTION ET DÉVELOPPEMENT D'UNE APPLICATION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WEB ET MOBILE DE SUIVI PÉDAGOGIQUE ET DE CALCUL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 dirty="0">
                <a:solidFill>
                  <a:srgbClr val="E2E8F0"/>
                </a:solidFill>
                <a:latin typeface="Calibri"/>
              </a:rPr>
              <a:t>DES HONORAIRES DES ENSEIGNANTS</a:t>
            </a:r>
            <a:endParaRPr lang="fr-FR" sz="20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0" y="5404811"/>
            <a:ext cx="4114440" cy="109692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1097280" y="516636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94A3B8"/>
                </a:solidFill>
                <a:latin typeface="Calibri"/>
              </a:rPr>
              <a:t>Présenté par</a:t>
            </a:r>
            <a:endParaRPr lang="fr-FR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640440" y="5688802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Moussa Balla KEITA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Aya BOURAMA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4205880" y="5436491"/>
            <a:ext cx="4114440" cy="1033560"/>
          </a:xfrm>
          <a:prstGeom prst="roundRect">
            <a:avLst>
              <a:gd name="adj" fmla="val 8333"/>
            </a:avLst>
          </a:prstGeom>
          <a:solidFill>
            <a:srgbClr val="172033"/>
          </a:solidFill>
          <a:ln w="127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5486400" y="5166360"/>
            <a:ext cx="3657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94A3B8"/>
                </a:solidFill>
                <a:latin typeface="Calibri"/>
              </a:rPr>
              <a:t>Sous la direction de</a:t>
            </a:r>
            <a:endParaRPr lang="fr-FR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4492080" y="5559906"/>
            <a:ext cx="3657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M. </a:t>
            </a:r>
            <a:r>
              <a:rPr lang="en-US" sz="1800" b="1" strike="noStrike" spc="-1" dirty="0" err="1">
                <a:solidFill>
                  <a:srgbClr val="FFFFFF"/>
                </a:solidFill>
                <a:latin typeface="Calibri"/>
              </a:rPr>
              <a:t>Mouhamoud</a:t>
            </a: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 Dembele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FFFFFF"/>
                </a:solidFill>
                <a:latin typeface="Calibri"/>
              </a:rPr>
              <a:t>INTEC SUP - 2025/2026</a:t>
            </a:r>
            <a:endParaRPr lang="fr-FR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1097280" y="-66812"/>
            <a:ext cx="6560820" cy="14668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0" b="1" strike="noStrike" spc="-1" dirty="0">
                <a:solidFill>
                  <a:srgbClr val="FFFFFF"/>
                </a:solidFill>
                <a:latin typeface="Calibri"/>
              </a:rPr>
              <a:t>BIENVENUE</a:t>
            </a:r>
            <a:endParaRPr lang="fr-FR" sz="75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28"/>
          <p:cNvSpPr/>
          <p:nvPr/>
        </p:nvSpPr>
        <p:spPr>
          <a:xfrm>
            <a:off x="7175323" y="1157712"/>
            <a:ext cx="7314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strike="noStrike" spc="-1" dirty="0" err="1">
                <a:solidFill>
                  <a:srgbClr val="06B6D4"/>
                </a:solidFill>
                <a:latin typeface="Calibri"/>
              </a:rPr>
              <a:t>Soutenance</a:t>
            </a:r>
            <a:r>
              <a:rPr lang="en-US" sz="2600" b="0" strike="noStrike" spc="-1" dirty="0">
                <a:solidFill>
                  <a:srgbClr val="06B6D4"/>
                </a:solidFill>
                <a:latin typeface="Calibri"/>
              </a:rPr>
              <a:t> de </a:t>
            </a:r>
            <a:r>
              <a:rPr lang="en-US" sz="2600" b="0" strike="noStrike" spc="-1" dirty="0" err="1">
                <a:solidFill>
                  <a:srgbClr val="06B6D4"/>
                </a:solidFill>
                <a:latin typeface="Calibri"/>
              </a:rPr>
              <a:t>Projet</a:t>
            </a:r>
            <a:r>
              <a:rPr lang="en-US" sz="2600" b="0" strike="noStrike" spc="-1" dirty="0">
                <a:solidFill>
                  <a:srgbClr val="06B6D4"/>
                </a:solidFill>
                <a:latin typeface="Calibri"/>
              </a:rPr>
              <a:t> de </a:t>
            </a:r>
            <a:r>
              <a:rPr lang="en-US" sz="2600" b="0" strike="noStrike" spc="-1" dirty="0" err="1">
                <a:solidFill>
                  <a:srgbClr val="06B6D4"/>
                </a:solidFill>
                <a:latin typeface="Calibri"/>
              </a:rPr>
              <a:t>Licence</a:t>
            </a:r>
            <a:endParaRPr lang="fr-FR" sz="2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Shape 8"/>
          <p:cNvSpPr/>
          <p:nvPr/>
        </p:nvSpPr>
        <p:spPr>
          <a:xfrm>
            <a:off x="6320700" y="1651026"/>
            <a:ext cx="5668920" cy="3382920"/>
          </a:xfrm>
          <a:prstGeom prst="roundRect">
            <a:avLst>
              <a:gd name="adj" fmla="val 1351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" name="Image 2"/>
          <p:cNvPicPr/>
          <p:nvPr/>
        </p:nvPicPr>
        <p:blipFill>
          <a:blip r:embed="rId4"/>
          <a:stretch/>
        </p:blipFill>
        <p:spPr>
          <a:xfrm>
            <a:off x="6440760" y="1701541"/>
            <a:ext cx="5406120" cy="3246151"/>
          </a:xfrm>
          <a:prstGeom prst="rect">
            <a:avLst/>
          </a:prstGeom>
          <a:ln w="0">
            <a:noFill/>
          </a:ln>
        </p:spPr>
      </p:pic>
      <p:sp>
        <p:nvSpPr>
          <p:cNvPr id="32" name="Shape 9"/>
          <p:cNvSpPr/>
          <p:nvPr/>
        </p:nvSpPr>
        <p:spPr>
          <a:xfrm>
            <a:off x="10170916" y="2965680"/>
            <a:ext cx="1737000" cy="3657240"/>
          </a:xfrm>
          <a:prstGeom prst="roundRect">
            <a:avLst>
              <a:gd name="adj" fmla="val 7895"/>
            </a:avLst>
          </a:prstGeom>
          <a:solidFill>
            <a:srgbClr val="000000"/>
          </a:solidFill>
          <a:ln w="25400">
            <a:solidFill>
              <a:srgbClr val="33415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" name="Image 2" descr="MEMOIRE/Capture d'ecran application web et mobile/Screenshot_20260702_213134_mobile-ionic.jpg"/>
          <p:cNvPicPr/>
          <p:nvPr/>
        </p:nvPicPr>
        <p:blipFill>
          <a:blip r:embed="rId5"/>
          <a:stretch/>
        </p:blipFill>
        <p:spPr>
          <a:xfrm>
            <a:off x="10262356" y="3027371"/>
            <a:ext cx="1554120" cy="3474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Problématique &amp; objectifs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2 / 10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</a:rPr>
              <a:t>Avant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918972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</a:rPr>
              <a:t>Après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" y="1810512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</p:sp>
      <p:pic>
        <p:nvPicPr>
          <p:cNvPr id="15" name="Image 1" descr="MEMOIRE/online_icons/googlesheets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59536" y="1856232"/>
            <a:ext cx="786384" cy="786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01368" y="20482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Feuilles Excel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01368" y="2414016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Suivi dispersé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5508" y="29260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</p:sp>
      <p:pic>
        <p:nvPicPr>
          <p:cNvPr id="19" name="Image 2" descr="MEMOIRE/online_icons/readthedocs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45820" y="3022092"/>
            <a:ext cx="786384" cy="7863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01368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Formulaires papier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01368" y="352958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Saisie manuelle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58368" y="4041648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23" name="Image 3" descr="MEMOIRE/online_icons/databricks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45820" y="4114112"/>
            <a:ext cx="786384" cy="7863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01368" y="42793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Données isolées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1801368" y="46451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Peu de traçabilité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343400" y="2862072"/>
            <a:ext cx="1078992" cy="932688"/>
          </a:xfrm>
          <a:prstGeom prst="chevron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257800" y="2011680"/>
            <a:ext cx="1664208" cy="2542032"/>
          </a:xfrm>
          <a:prstGeom prst="roundRect">
            <a:avLst>
              <a:gd name="adj" fmla="val 6593"/>
            </a:avLst>
          </a:prstGeom>
          <a:solidFill>
            <a:srgbClr val="101827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376672" y="2331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</a:rPr>
              <a:t>OBJECTIF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422392" y="2788920"/>
            <a:ext cx="1325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Centraliser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Fiabiliser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Automatiser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7360920" y="1810512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</p:sp>
      <p:pic>
        <p:nvPicPr>
          <p:cNvPr id="31" name="Image 4" descr="MEMOIRE/logos/angular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562088" y="1874520"/>
            <a:ext cx="786384" cy="7863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503920" y="2048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Application web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8503920" y="2414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Pilotage centralisé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360920" y="292608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06B6D4"/>
            </a:solidFill>
            <a:prstDash val="solid"/>
          </a:ln>
        </p:spPr>
      </p:sp>
      <p:pic>
        <p:nvPicPr>
          <p:cNvPr id="35" name="Image 5" descr="MEMOIRE/online_icons/qr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7559345" y="2999232"/>
            <a:ext cx="786384" cy="7863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503920" y="31638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37" name="Text 29"/>
          <p:cNvSpPr/>
          <p:nvPr/>
        </p:nvSpPr>
        <p:spPr>
          <a:xfrm>
            <a:off x="8503920" y="35295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Validation rapide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7360920" y="404164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</p:sp>
      <p:pic>
        <p:nvPicPr>
          <p:cNvPr id="39" name="Image 6" descr="MEMOIRE/online_icons/cashapp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539228" y="4114112"/>
            <a:ext cx="786384" cy="786384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503920" y="4279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 fiables</a:t>
            </a:r>
            <a:endParaRPr lang="en-US" sz="1700" dirty="0"/>
          </a:p>
        </p:txBody>
      </p:sp>
      <p:sp>
        <p:nvSpPr>
          <p:cNvPr id="41" name="Text 32"/>
          <p:cNvSpPr/>
          <p:nvPr/>
        </p:nvSpPr>
        <p:spPr>
          <a:xfrm>
            <a:off x="8503920" y="46451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automatique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33192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Solution proposée : EduTrack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3 / 10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434840" y="1874520"/>
            <a:ext cx="3246120" cy="3246120"/>
          </a:xfrm>
          <a:prstGeom prst="ellipse">
            <a:avLst/>
          </a:prstGeom>
          <a:solidFill>
            <a:srgbClr val="3B82F6">
              <a:alpha val="86000"/>
            </a:srgbClr>
          </a:solidFill>
          <a:ln w="25400">
            <a:solidFill>
              <a:srgbClr val="06B6D4"/>
            </a:solidFill>
            <a:prstDash val="solid"/>
          </a:ln>
        </p:spPr>
      </p:sp>
      <p:pic>
        <p:nvPicPr>
          <p:cNvPr id="13" name="Image 1" descr="mobile-ionic/src/assets/logo_edutrac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62272" y="1865376"/>
            <a:ext cx="3246120" cy="32552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10912" y="3913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B6D4"/>
                </a:solidFill>
              </a:rPr>
              <a:t>Web + Mobile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3232" y="137160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</p:sp>
      <p:pic>
        <p:nvPicPr>
          <p:cNvPr id="16" name="Image 2" descr="MEMOIRE/logos/angular.sv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400" y="1572768"/>
            <a:ext cx="786384" cy="7863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56232" y="160934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Administration web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56232" y="19751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Gestion, planning, suivi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3232" y="4251960"/>
            <a:ext cx="365760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</p:sp>
      <p:pic>
        <p:nvPicPr>
          <p:cNvPr id="20" name="Image 3" descr="MEMOIRE/online_icons/qr.sv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4400" y="4453128"/>
            <a:ext cx="786384" cy="7863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56232" y="4489704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QR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856232" y="48554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Scan rapide sur mobile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818120" y="137160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</p:sp>
      <p:pic>
        <p:nvPicPr>
          <p:cNvPr id="24" name="Image 4" descr="MEMOIRE/online_icons/firebase.sv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19288" y="1572768"/>
            <a:ext cx="786384" cy="7863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61120" y="1609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Fiche progression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896112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Séance et contenu réalisé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818120" y="4251960"/>
            <a:ext cx="3611880" cy="1115568"/>
          </a:xfrm>
          <a:prstGeom prst="roundRect">
            <a:avLst>
              <a:gd name="adj" fmla="val 8197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</p:sp>
      <p:pic>
        <p:nvPicPr>
          <p:cNvPr id="28" name="Image 5" descr="MEMOIRE/online_icons/cashapp.sv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019288" y="4453128"/>
            <a:ext cx="786384" cy="7863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61120" y="44897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896112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plus transparent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4059936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 rot="10800000">
            <a:off x="7461504" y="2999232"/>
            <a:ext cx="658368" cy="59436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43024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Fonctionnement du système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4 / 10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66928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4984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pic>
        <p:nvPicPr>
          <p:cNvPr id="14" name="Image 1" descr="MEMOIRE/online_icons/clockify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16152" y="2029968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8368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Planifier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13232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Créer la séance</a:t>
            </a:r>
            <a:endParaRPr lang="en-US" sz="1220" dirty="0"/>
          </a:p>
        </p:txBody>
      </p:sp>
      <p:sp>
        <p:nvSpPr>
          <p:cNvPr id="18" name="Shape 14"/>
          <p:cNvSpPr/>
          <p:nvPr/>
        </p:nvSpPr>
        <p:spPr>
          <a:xfrm>
            <a:off x="2423160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871216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06B6D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319272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pic>
        <p:nvPicPr>
          <p:cNvPr id="21" name="Image 2" descr="MEMOIRE/online_icons/firebase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520440" y="2029968"/>
            <a:ext cx="640080" cy="6400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035808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</a:rPr>
              <a:t>2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962656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QR Code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3017520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Identifiant unique</a:t>
            </a:r>
            <a:endParaRPr lang="en-US" sz="1220" dirty="0"/>
          </a:p>
        </p:txBody>
      </p:sp>
      <p:sp>
        <p:nvSpPr>
          <p:cNvPr id="25" name="Shape 20"/>
          <p:cNvSpPr/>
          <p:nvPr/>
        </p:nvSpPr>
        <p:spPr>
          <a:xfrm>
            <a:off x="4727448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175504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10B98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623560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pic>
        <p:nvPicPr>
          <p:cNvPr id="28" name="Image 3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824728" y="2029968"/>
            <a:ext cx="640080" cy="6400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340096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</a:rPr>
              <a:t>3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5266944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Scanner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5321808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Action mobile</a:t>
            </a:r>
            <a:endParaRPr lang="en-US" sz="1220" dirty="0"/>
          </a:p>
        </p:txBody>
      </p:sp>
      <p:sp>
        <p:nvSpPr>
          <p:cNvPr id="32" name="Shape 26"/>
          <p:cNvSpPr/>
          <p:nvPr/>
        </p:nvSpPr>
        <p:spPr>
          <a:xfrm>
            <a:off x="7031736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479792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F59E0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927848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pic>
        <p:nvPicPr>
          <p:cNvPr id="35" name="Image 4" descr="MEMOIRE/online_icons/git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129016" y="2029968"/>
            <a:ext cx="640080" cy="6400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644384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7571232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Valider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626096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Trace fiable</a:t>
            </a:r>
            <a:endParaRPr lang="en-US" sz="1220" dirty="0"/>
          </a:p>
        </p:txBody>
      </p:sp>
      <p:sp>
        <p:nvSpPr>
          <p:cNvPr id="39" name="Shape 32"/>
          <p:cNvSpPr/>
          <p:nvPr/>
        </p:nvSpPr>
        <p:spPr>
          <a:xfrm>
            <a:off x="9336024" y="2743200"/>
            <a:ext cx="502920" cy="502920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784080" y="1508760"/>
            <a:ext cx="1938528" cy="3429000"/>
          </a:xfrm>
          <a:prstGeom prst="roundRect">
            <a:avLst>
              <a:gd name="adj" fmla="val 5660"/>
            </a:avLst>
          </a:prstGeom>
          <a:solidFill>
            <a:srgbClr val="172033">
              <a:alpha val="96000"/>
            </a:srgbClr>
          </a:solidFill>
          <a:ln w="17145">
            <a:solidFill>
              <a:srgbClr val="8B5CF6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10232136" y="1828800"/>
            <a:ext cx="1042416" cy="1042416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334155">
                <a:alpha val="45000"/>
              </a:srgbClr>
            </a:solidFill>
            <a:prstDash val="solid"/>
          </a:ln>
        </p:spPr>
      </p:sp>
      <p:pic>
        <p:nvPicPr>
          <p:cNvPr id="42" name="Image 5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433304" y="2029968"/>
            <a:ext cx="640080" cy="6400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48672" y="16824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9875520" y="32186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Calculer</a:t>
            </a:r>
            <a:endParaRPr lang="en-US" sz="1700" dirty="0"/>
          </a:p>
        </p:txBody>
      </p:sp>
      <p:sp>
        <p:nvSpPr>
          <p:cNvPr id="45" name="Text 37"/>
          <p:cNvSpPr/>
          <p:nvPr/>
        </p:nvSpPr>
        <p:spPr>
          <a:xfrm>
            <a:off x="9930384" y="37307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94A3B8"/>
                </a:solidFill>
              </a:rPr>
              <a:t>Honoraires</a:t>
            </a:r>
            <a:endParaRPr lang="en-US" sz="1220" dirty="0"/>
          </a:p>
        </p:txBody>
      </p:sp>
      <p:sp>
        <p:nvSpPr>
          <p:cNvPr id="46" name="Text 38"/>
          <p:cNvSpPr/>
          <p:nvPr/>
        </p:nvSpPr>
        <p:spPr>
          <a:xfrm>
            <a:off x="1920240" y="5532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4A3B8"/>
                </a:solidFill>
              </a:rPr>
              <a:t>Le public écoute le scénario pendant que la slide montre uniquement le flux.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33192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Architecture technique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5 / 10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85800" y="1143000"/>
            <a:ext cx="10808208" cy="5074920"/>
          </a:xfrm>
          <a:prstGeom prst="roundRect">
            <a:avLst>
              <a:gd name="adj" fmla="val 1261"/>
            </a:avLst>
          </a:prstGeom>
          <a:solidFill>
            <a:srgbClr val="FFFFFF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3" name="Image 1" descr="MEMOIRE/generated_schemas/architecture_systeme_edutrack_simple_P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8952" y="1216152"/>
            <a:ext cx="10661904" cy="4928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Technologies &amp; </a:t>
            </a:r>
            <a:r>
              <a:rPr lang="en-US" sz="2900" b="1" dirty="0" err="1">
                <a:solidFill>
                  <a:srgbClr val="FFFFFF"/>
                </a:solidFill>
              </a:rPr>
              <a:t>Outils</a:t>
            </a:r>
            <a:r>
              <a:rPr lang="en-US" sz="2900" b="1" dirty="0">
                <a:solidFill>
                  <a:srgbClr val="FFFFFF"/>
                </a:solidFill>
              </a:rPr>
              <a:t> </a:t>
            </a:r>
            <a:r>
              <a:rPr lang="en-US" sz="2900" b="1" dirty="0" err="1">
                <a:solidFill>
                  <a:srgbClr val="FFFFFF"/>
                </a:solidFill>
              </a:rPr>
              <a:t>utilisée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6 / 10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10B981">
                <a:alpha val="7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BACKEND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52728" y="17373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1" descr="MEMOIRE/logos/spring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856232" y="1920240"/>
            <a:ext cx="768096" cy="6583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62456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Spring Boot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1252728" y="320040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8" name="Image 2" descr="MEMOIRE/logos/java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856232" y="3383280"/>
            <a:ext cx="768096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2456" y="4133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Java 17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1252728" y="46634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1" name="Image 3" descr="MEMOIRE/logos/postgresql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856232" y="4846320"/>
            <a:ext cx="768096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62456" y="5596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114800" y="1143000"/>
            <a:ext cx="3383280" cy="5120640"/>
          </a:xfrm>
          <a:prstGeom prst="roundRect">
            <a:avLst>
              <a:gd name="adj" fmla="val 2703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06B6D4">
                <a:alpha val="7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11480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</a:rPr>
              <a:t>FRONTEND ( WEB &amp; MOBILE )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81888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6" name="Image 4" descr="MEMOIRE/logos/angular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422392" y="2606040"/>
            <a:ext cx="768096" cy="65836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2861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Angular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81888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29" name="Image 5" descr="MEMOIRE/logos/ionic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422392" y="4160520"/>
            <a:ext cx="768096" cy="6583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2861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Ionic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7680960" y="1143000"/>
            <a:ext cx="4114800" cy="5120640"/>
          </a:xfrm>
          <a:prstGeom prst="roundRect">
            <a:avLst>
              <a:gd name="adj" fmla="val 2222"/>
            </a:avLst>
          </a:prstGeom>
          <a:solidFill>
            <a:srgbClr val="172033">
              <a:alpha val="92000"/>
            </a:srgbClr>
          </a:solidFill>
          <a:ln w="19050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68096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OUTILS &amp; CONCEPTION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774496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4" name="Image 6" descr="MEMOIRE/online_icons/git.sv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348472" y="2606040"/>
            <a:ext cx="768096" cy="6583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85469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9756648" y="242316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7" name="Image 7" descr="MEMOIRE/online_icons/github.sv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0360152" y="2606040"/>
            <a:ext cx="768096" cy="6583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866376" y="3355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774496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0" name="Image 8" descr="MEMOIRE/online_icons/firebase.svg"/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348472" y="4160520"/>
            <a:ext cx="768096" cy="65836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85469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Swagger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9756648" y="3977640"/>
            <a:ext cx="1965960" cy="1353312"/>
          </a:xfrm>
          <a:prstGeom prst="roundRect">
            <a:avLst>
              <a:gd name="adj" fmla="val 6757"/>
            </a:avLst>
          </a:prstGeom>
          <a:solidFill>
            <a:srgbClr val="172033">
              <a:alpha val="96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3" name="Image 9" descr="MEMOIRE/online_icons/googlecloud.svg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0360152" y="4160520"/>
            <a:ext cx="768096" cy="6583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866376" y="4910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UML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9664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Espace mobile enseignant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7 / 10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3232" y="1298448"/>
            <a:ext cx="1828800" cy="4069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3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" y="1371600"/>
            <a:ext cx="1682496" cy="3922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" y="5522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B6D4"/>
                </a:solidFill>
              </a:rPr>
              <a:t>Accueil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2852928" y="1298448"/>
            <a:ext cx="1828800" cy="4069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6" name="Image 2" descr="MEMOIRE/Capture d'ecran application web et mobile/page_plannin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26080" y="1371600"/>
            <a:ext cx="1682496" cy="3922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52928" y="5522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B6D4"/>
                </a:solidFill>
              </a:rPr>
              <a:t>Planning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4992624" y="1298448"/>
            <a:ext cx="1828800" cy="4069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9" name="Image 3" descr="MEMOIRE/Capture d'ecran application web et mobile/page_emargement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065776" y="1371600"/>
            <a:ext cx="1682496" cy="3922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92624" y="5522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B6D4"/>
                </a:solidFill>
              </a:rPr>
              <a:t>Émargement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7132320" y="1298448"/>
            <a:ext cx="1828800" cy="4069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22" name="Image 4" descr="MEMOIRE/Capture d'ecran application web et mobile/page_fiche_progression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205472" y="1371600"/>
            <a:ext cx="1682496" cy="39227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32320" y="5522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B6D4"/>
                </a:solidFill>
              </a:rPr>
              <a:t>Progression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9272016" y="1298448"/>
            <a:ext cx="1828800" cy="4069080"/>
          </a:xfrm>
          <a:prstGeom prst="roundRect">
            <a:avLst>
              <a:gd name="adj" fmla="val 8000"/>
            </a:avLst>
          </a:prstGeom>
          <a:solidFill>
            <a:srgbClr val="050505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25" name="Image 5" descr="MEMOIRE/Capture d'ecran application web et mobile/page_honoraires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45168" y="1371600"/>
            <a:ext cx="1682496" cy="392277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272016" y="55229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6B6D4"/>
                </a:solidFill>
              </a:rPr>
              <a:t>Honoraires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6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057400"/>
            <a:ext cx="10789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</a:rPr>
              <a:t>DÉMONSTRATION</a:t>
            </a:r>
            <a:endParaRPr lang="en-US" sz="5800" dirty="0"/>
          </a:p>
        </p:txBody>
      </p:sp>
      <p:sp>
        <p:nvSpPr>
          <p:cNvPr id="8" name="Shape 5"/>
          <p:cNvSpPr/>
          <p:nvPr/>
        </p:nvSpPr>
        <p:spPr>
          <a:xfrm>
            <a:off x="4096512" y="3172968"/>
            <a:ext cx="3977640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3675888"/>
            <a:ext cx="10195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0B981"/>
                </a:solidFill>
              </a:rPr>
              <a:t>Connexion → Planning → QR Code → Fiche → Honoraires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8 / 10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9184"/>
            <a:ext cx="9144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</a:rPr>
              <a:t>Conclusion &amp; perspectives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66928" y="896112"/>
            <a:ext cx="141732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8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9 / 10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41248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41248" y="1627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</p:sp>
      <p:pic>
        <p:nvPicPr>
          <p:cNvPr id="14" name="Image 1" descr="MEMOIRE/online_icons/googlecloud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42416" y="1828800"/>
            <a:ext cx="786384" cy="7863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84248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Suivi centralisé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1984248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Données regroupées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416552" y="1627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06B6D4"/>
            </a:solidFill>
            <a:prstDash val="solid"/>
          </a:ln>
        </p:spPr>
      </p:sp>
      <p:pic>
        <p:nvPicPr>
          <p:cNvPr id="18" name="Image 2" descr="MEMOIRE/online_icons/firebase.sv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617720" y="1828800"/>
            <a:ext cx="786384" cy="7863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59552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Émargement fiable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5559552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Validation traçable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991856" y="1627632"/>
            <a:ext cx="3337560" cy="1024128"/>
          </a:xfrm>
          <a:prstGeom prst="roundRect">
            <a:avLst>
              <a:gd name="adj" fmla="val 8929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F59E0B"/>
            </a:solidFill>
            <a:prstDash val="solid"/>
          </a:ln>
        </p:spPr>
      </p:sp>
      <p:pic>
        <p:nvPicPr>
          <p:cNvPr id="22" name="Image 3" descr="MEMOIRE/online_icons/stripe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193024" y="1828800"/>
            <a:ext cx="786384" cy="7863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4856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Honoraires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134856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Calcul automatisé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841248" y="3154680"/>
            <a:ext cx="10561320" cy="3200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4124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</a:rPr>
              <a:t>Perspectives</a:t>
            </a:r>
            <a:endParaRPr lang="en-US" sz="2200" dirty="0"/>
          </a:p>
        </p:txBody>
      </p:sp>
      <p:sp>
        <p:nvSpPr>
          <p:cNvPr id="27" name="Shape 21"/>
          <p:cNvSpPr/>
          <p:nvPr/>
        </p:nvSpPr>
        <p:spPr>
          <a:xfrm>
            <a:off x="841248" y="4005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3B82F6"/>
            </a:solidFill>
            <a:prstDash val="solid"/>
          </a:ln>
        </p:spPr>
      </p:sp>
      <p:pic>
        <p:nvPicPr>
          <p:cNvPr id="28" name="Image 4" descr="MEMOIRE/online_icons/student.sv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42416" y="4206240"/>
            <a:ext cx="786384" cy="7863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984248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Module étudiant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984248" y="4608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Espace dédié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3639312" y="4005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EF4444"/>
            </a:solidFill>
            <a:prstDash val="solid"/>
          </a:ln>
        </p:spPr>
      </p:sp>
      <p:pic>
        <p:nvPicPr>
          <p:cNvPr id="32" name="Image 5" descr="MEMOIRE/online_icons/gmail.sv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3840480" y="4206240"/>
            <a:ext cx="786384" cy="7863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782312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Notifications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4782312" y="4608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Email / SMS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37376" y="4005072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8B5CF6"/>
            </a:solidFill>
            <a:prstDash val="solid"/>
          </a:ln>
        </p:spPr>
      </p:sp>
      <p:pic>
        <p:nvPicPr>
          <p:cNvPr id="36" name="Image 6" descr="MEMOIRE/online_icons/stripe.sv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638544" y="4206240"/>
            <a:ext cx="786384" cy="7863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580376" y="42428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Paiement</a:t>
            </a:r>
            <a:endParaRPr lang="en-US" sz="1700" dirty="0"/>
          </a:p>
        </p:txBody>
      </p:sp>
      <p:sp>
        <p:nvSpPr>
          <p:cNvPr id="38" name="Text 29"/>
          <p:cNvSpPr/>
          <p:nvPr/>
        </p:nvSpPr>
        <p:spPr>
          <a:xfrm>
            <a:off x="7580376" y="46085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Mobile money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9235440" y="4005072"/>
            <a:ext cx="2167128" cy="1051560"/>
          </a:xfrm>
          <a:prstGeom prst="roundRect">
            <a:avLst>
              <a:gd name="adj" fmla="val 8696"/>
            </a:avLst>
          </a:prstGeom>
          <a:solidFill>
            <a:srgbClr val="172033">
              <a:alpha val="96000"/>
            </a:srgbClr>
          </a:solidFill>
          <a:ln w="14605">
            <a:solidFill>
              <a:srgbClr val="10B981"/>
            </a:solidFill>
            <a:prstDash val="solid"/>
          </a:ln>
        </p:spPr>
      </p:sp>
      <p:pic>
        <p:nvPicPr>
          <p:cNvPr id="40" name="Image 7" descr="MEMOIRE/online_icons/googlecloud.sv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436608" y="4206240"/>
            <a:ext cx="786384" cy="78638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378440" y="424281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Cloud</a:t>
            </a:r>
            <a:endParaRPr lang="en-US" sz="1700" dirty="0"/>
          </a:p>
        </p:txBody>
      </p:sp>
      <p:sp>
        <p:nvSpPr>
          <p:cNvPr id="42" name="Text 32"/>
          <p:cNvSpPr/>
          <p:nvPr/>
        </p:nvSpPr>
        <p:spPr>
          <a:xfrm>
            <a:off x="10378440" y="46085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</a:rPr>
              <a:t>Déploiement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852160" cy="585216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4023360"/>
            <a:ext cx="5303520" cy="5303520"/>
          </a:xfrm>
          <a:prstGeom prst="ellipse">
            <a:avLst/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1">
              <a:alpha val="93000"/>
            </a:srgbClr>
          </a:solidFill>
          <a:ln w="12700">
            <a:solidFill>
              <a:srgbClr val="0B112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04120" y="219456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6" name="Image 0" descr="backend/edutrack/src/main/resources/images/logo_INTEC_nom_Horizon-1-3-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3848" y="310896"/>
            <a:ext cx="1572768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7276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</a:rPr>
              <a:t>MERCI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914400" y="25420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6B6D4"/>
                </a:solidFill>
              </a:rPr>
              <a:t>DE VOTRE ATTENTION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4206240" y="3456432"/>
            <a:ext cx="374904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95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E8F0"/>
                </a:solidFill>
              </a:rPr>
              <a:t>Questions / réponses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471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EduTrack — Projet de Licence 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018520" y="6547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6B6D4"/>
                </a:solidFill>
              </a:rPr>
              <a:t>10 / 10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324</Words>
  <Application>Microsoft Office PowerPoint</Application>
  <PresentationFormat>Grand écran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INTEC SUP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EduTrack soutenance 3</dc:title>
  <dc:subject>Soutenance EduTrack</dc:subject>
  <dc:creator>EduTrack</dc:creator>
  <cp:lastModifiedBy>MOUSSA B KEÏTA</cp:lastModifiedBy>
  <cp:revision>4</cp:revision>
  <dcterms:created xsi:type="dcterms:W3CDTF">2026-07-12T14:22:44Z</dcterms:created>
  <dcterms:modified xsi:type="dcterms:W3CDTF">2026-07-29T17:03:52Z</dcterms:modified>
</cp:coreProperties>
</file>