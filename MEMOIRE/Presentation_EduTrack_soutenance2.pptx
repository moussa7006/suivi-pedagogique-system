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image" Target="../media/image-9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572000" cy="4572000"/>
          </a:xfrm>
          <a:prstGeom prst="arc">
            <a:avLst/>
          </a:prstGeom>
          <a:solidFill>
            <a:srgbClr val="2563EB">
              <a:alpha val="95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52560" y="3931920"/>
            <a:ext cx="4572000" cy="4572000"/>
          </a:xfrm>
          <a:prstGeom prst="arc">
            <a:avLst/>
          </a:prstGeom>
          <a:solidFill>
            <a:srgbClr val="38BDF8">
              <a:alpha val="7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29800" y="201168"/>
            <a:ext cx="16916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FFFFFF">
                <a:alpha val="75000"/>
              </a:srgbClr>
            </a:solidFill>
            <a:prstDash val="solid"/>
          </a:ln>
        </p:spPr>
      </p:sp>
      <p:pic>
        <p:nvPicPr>
          <p:cNvPr id="5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930384" y="283464"/>
            <a:ext cx="1490472" cy="3931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82296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8BDF8"/>
                </a:solidFill>
              </a:rPr>
              <a:t>SOUTENANCE DE MÉMOIRE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914400" y="150876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EduTrack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685800" y="2331720"/>
            <a:ext cx="10835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CONCEPTION ET DÉVELOPPEMENT D'UNE APPLICATION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WEB ET MOBILE DE SUIVI PÉDAGOGIQUE ET DE CALCUL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E2E8F0"/>
                </a:solidFill>
              </a:rPr>
              <a:t>DES HONORAIRES DES ENSEIGNANTS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3657600" y="3401568"/>
            <a:ext cx="4892040" cy="530352"/>
          </a:xfrm>
          <a:prstGeom prst="roundRect">
            <a:avLst>
              <a:gd name="adj" fmla="val 17241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794760" y="3538728"/>
            <a:ext cx="4617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Projet de Licence 3 — Génie Informatique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50749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Moussa Balla KEITA &amp; Aya BOURAMA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126480" y="50749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Directeur : M. Mouhamoud Dembele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914400" y="5897880"/>
            <a:ext cx="10332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</a:rPr>
              <a:t>INTEC SUP — Année universitaire 2025-2026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38328"/>
            <a:ext cx="8732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</a:rPr>
              <a:t>Problématique &amp; objectifs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9052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Ce que le projet cherche à résoudre concrètement.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29800" y="201168"/>
            <a:ext cx="16916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CBD5E1">
                <a:alpha val="75000"/>
              </a:srgbClr>
            </a:solidFill>
            <a:prstDash val="solid"/>
          </a:ln>
        </p:spPr>
      </p:sp>
      <p:pic>
        <p:nvPicPr>
          <p:cNvPr id="6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930384" y="283464"/>
            <a:ext cx="1490472" cy="39319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6629400"/>
            <a:ext cx="4114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EduTrack — Soutenance Licence 3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0972800" y="6629400"/>
            <a:ext cx="731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2/9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85800" y="1261872"/>
            <a:ext cx="3474720" cy="3749040"/>
          </a:xfrm>
          <a:prstGeom prst="roundRect">
            <a:avLst>
              <a:gd name="adj" fmla="val 210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5800" y="1261872"/>
            <a:ext cx="91440" cy="3749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41832" y="144475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1220"/>
                </a:solidFill>
              </a:rPr>
              <a:t>Constat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41832" y="1947672"/>
            <a:ext cx="3063240" cy="2971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E293B"/>
                </a:solidFill>
              </a:rPr>
              <a:t>Le suivi pédagogique est souvent dispersé entre feuilles papier, fichiers Excel et échanges informels.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4407408" y="1261872"/>
            <a:ext cx="3474720" cy="3749040"/>
          </a:xfrm>
          <a:prstGeom prst="roundRect">
            <a:avLst>
              <a:gd name="adj" fmla="val 210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407408" y="1261872"/>
            <a:ext cx="91440" cy="37490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663440" y="144475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1220"/>
                </a:solidFill>
              </a:rPr>
              <a:t>Problème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4663440" y="1947672"/>
            <a:ext cx="3063240" cy="2971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E293B"/>
                </a:solidFill>
              </a:rPr>
              <a:t>Ces méthodes créent des erreurs, des retards, une faible traçabilité et rendent le calcul des honoraires difficile.</a:t>
            </a:r>
            <a:endParaRPr lang="en-US" sz="1900" dirty="0"/>
          </a:p>
        </p:txBody>
      </p:sp>
      <p:sp>
        <p:nvSpPr>
          <p:cNvPr id="18" name="Shape 15"/>
          <p:cNvSpPr/>
          <p:nvPr/>
        </p:nvSpPr>
        <p:spPr>
          <a:xfrm>
            <a:off x="8129016" y="1261872"/>
            <a:ext cx="3474720" cy="3749040"/>
          </a:xfrm>
          <a:prstGeom prst="roundRect">
            <a:avLst>
              <a:gd name="adj" fmla="val 210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129016" y="1261872"/>
            <a:ext cx="91440" cy="37490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385048" y="144475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1220"/>
                </a:solidFill>
              </a:rPr>
              <a:t>Objectif général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85048" y="1947672"/>
            <a:ext cx="3063240" cy="2971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E293B"/>
                </a:solidFill>
              </a:rPr>
              <a:t>Concevoir une application web et mobile pour centraliser le suivi, l’émargement et le calcul des honoraires.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38328"/>
            <a:ext cx="8732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</a:rPr>
              <a:t>Solution proposée : EduTrack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9052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Une plateforme web et mobile adaptée au suivi pédagogique.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29800" y="201168"/>
            <a:ext cx="16916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CBD5E1">
                <a:alpha val="75000"/>
              </a:srgbClr>
            </a:solidFill>
            <a:prstDash val="solid"/>
          </a:ln>
        </p:spPr>
      </p:sp>
      <p:pic>
        <p:nvPicPr>
          <p:cNvPr id="6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930384" y="283464"/>
            <a:ext cx="1490472" cy="39319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6629400"/>
            <a:ext cx="4114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EduTrack — Soutenance Licence 3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0972800" y="6629400"/>
            <a:ext cx="731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3/9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85800" y="1234440"/>
            <a:ext cx="566928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1" name="Image 1" descr="MEMOIRE/Capture d'ecran application web et mobile/Capture d'écran 2026-07-02 213625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58952" y="1307592"/>
            <a:ext cx="5522976" cy="428853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629400" y="123444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629400" y="1234440"/>
            <a:ext cx="91440" cy="9601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885432" y="14173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</a:rPr>
              <a:t>Gestion académique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6885432" y="1920240"/>
            <a:ext cx="44805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</a:rPr>
              <a:t>Classes, enseignants, matières, salles et emplois du temps.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6629400" y="2395728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629400" y="2395728"/>
            <a:ext cx="91440" cy="9601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885432" y="257860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</a:rPr>
              <a:t>Émargement QR Code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6885432" y="3081528"/>
            <a:ext cx="44805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</a:rPr>
              <a:t>Scan mobile et traçabilité des présences.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6629400" y="3557016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29400" y="3557016"/>
            <a:ext cx="91440" cy="9601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885432" y="373989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</a:rPr>
              <a:t>Fiche de progression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6885432" y="4242816"/>
            <a:ext cx="44805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</a:rPr>
              <a:t>Suivi numérique du contenu réalisé en séance.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6629400" y="4718304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629400" y="4718304"/>
            <a:ext cx="91440" cy="9601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885432" y="4901184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</a:rPr>
              <a:t>Honoraires</a:t>
            </a:r>
            <a:endParaRPr lang="en-US" sz="1800" dirty="0"/>
          </a:p>
        </p:txBody>
      </p:sp>
      <p:sp>
        <p:nvSpPr>
          <p:cNvPr id="27" name="Text 23"/>
          <p:cNvSpPr/>
          <p:nvPr/>
        </p:nvSpPr>
        <p:spPr>
          <a:xfrm>
            <a:off x="6885432" y="5404104"/>
            <a:ext cx="44805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</a:rPr>
              <a:t>Calcul et consultation des montants à percevoir.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38328"/>
            <a:ext cx="8732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</a:rPr>
              <a:t>Fonctionnement d’EduTrack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9052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Le parcours principal du suivi pédagogique.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29800" y="201168"/>
            <a:ext cx="16916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CBD5E1">
                <a:alpha val="75000"/>
              </a:srgbClr>
            </a:solidFill>
            <a:prstDash val="solid"/>
          </a:ln>
        </p:spPr>
      </p:sp>
      <p:pic>
        <p:nvPicPr>
          <p:cNvPr id="6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930384" y="283464"/>
            <a:ext cx="1490472" cy="39319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6629400"/>
            <a:ext cx="4114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EduTrack — Soutenance Licence 3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0972800" y="6629400"/>
            <a:ext cx="731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4/9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777240" y="1417320"/>
            <a:ext cx="2011680" cy="777240"/>
          </a:xfrm>
          <a:prstGeom prst="chevron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164592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Planifier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2926080" y="1417320"/>
            <a:ext cx="2011680" cy="777240"/>
          </a:xfrm>
          <a:prstGeom prst="chevron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063240" y="164592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Générer QR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74920" y="1417320"/>
            <a:ext cx="2011680" cy="777240"/>
          </a:xfrm>
          <a:prstGeom prst="chevron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212080" y="164592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Émarger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7223760" y="1417320"/>
            <a:ext cx="2011680" cy="777240"/>
          </a:xfrm>
          <a:prstGeom prst="chevron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60920" y="164592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Remplir fiche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9372600" y="1417320"/>
            <a:ext cx="2011680" cy="777240"/>
          </a:xfrm>
          <a:prstGeom prst="chevron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509760" y="164592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Calculer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1097280" y="2788920"/>
            <a:ext cx="1965960" cy="297180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1" name="Image 1" descr="MEMOIRE/Capture d'ecran application web et mobile/Screenshot_20260702_213120_mobile-ionic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70432" y="2862072"/>
            <a:ext cx="1819656" cy="2825496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3703320" y="2788920"/>
            <a:ext cx="1965960" cy="297180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3" name="Image 2" descr="MEMOIRE/Capture d'ecran application web et mobile/Screenshot_20260702_213134_mobile-ionic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776472" y="2862072"/>
            <a:ext cx="1819656" cy="282549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6309360" y="2788920"/>
            <a:ext cx="1965960" cy="297180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5" name="Image 3" descr="MEMOIRE/Capture d'ecran application web et mobile/Screenshot_20260702_213143_mobile-ionic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82512" y="2862072"/>
            <a:ext cx="1819656" cy="2825496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8915400" y="2788920"/>
            <a:ext cx="1965960" cy="297180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7" name="Image 4" descr="MEMOIRE/Capture d'ecran application web et mobile/Screenshot_20260702_213212_mobile-ionic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988552" y="2862072"/>
            <a:ext cx="1819656" cy="282549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38328"/>
            <a:ext cx="8732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</a:rPr>
              <a:t>Architecture du projet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9052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Organisation technique simple du système.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29800" y="201168"/>
            <a:ext cx="16916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CBD5E1">
                <a:alpha val="75000"/>
              </a:srgbClr>
            </a:solidFill>
            <a:prstDash val="solid"/>
          </a:ln>
        </p:spPr>
      </p:sp>
      <p:pic>
        <p:nvPicPr>
          <p:cNvPr id="6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930384" y="283464"/>
            <a:ext cx="1490472" cy="39319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6629400"/>
            <a:ext cx="4114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EduTrack — Soutenance Licence 3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0972800" y="6629400"/>
            <a:ext cx="731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5/9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731520" y="1051560"/>
            <a:ext cx="10744200" cy="5166360"/>
          </a:xfrm>
          <a:prstGeom prst="roundRect">
            <a:avLst>
              <a:gd name="adj" fmla="val 141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1" name="Image 1" descr="MEMOIRE/generated_schemas/architecture_systeme_edutrack_simple_PNG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04672" y="1124712"/>
            <a:ext cx="10597896" cy="50200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38328"/>
            <a:ext cx="8732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</a:rPr>
              <a:t>Outils utilisés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9052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Technologies retenues pour construire le projet.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29800" y="201168"/>
            <a:ext cx="16916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CBD5E1">
                <a:alpha val="75000"/>
              </a:srgbClr>
            </a:solidFill>
            <a:prstDash val="solid"/>
          </a:ln>
        </p:spPr>
      </p:sp>
      <p:pic>
        <p:nvPicPr>
          <p:cNvPr id="6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930384" y="283464"/>
            <a:ext cx="1490472" cy="39319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6629400"/>
            <a:ext cx="4114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EduTrack — Soutenance Licence 3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0972800" y="6629400"/>
            <a:ext cx="731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6/9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85800" y="1234440"/>
            <a:ext cx="3246120" cy="141732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5800" y="1234440"/>
            <a:ext cx="91440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41832" y="14173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220"/>
                </a:solidFill>
              </a:rPr>
              <a:t>Backend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941832" y="1920240"/>
            <a:ext cx="283464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</a:rPr>
              <a:t>Spring Boot 3.4.3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</a:rPr>
              <a:t>Java 17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</a:rPr>
              <a:t>Spring Security + JWT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480560" y="1234440"/>
            <a:ext cx="3246120" cy="141732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480560" y="1234440"/>
            <a:ext cx="91440" cy="14173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36592" y="14173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220"/>
                </a:solidFill>
              </a:rPr>
              <a:t>Application Web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4736592" y="1920240"/>
            <a:ext cx="283464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</a:rPr>
              <a:t>Angular 21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</a:rPr>
              <a:t>PrimeNG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</a:rPr>
              <a:t>Chart.js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8275320" y="1234440"/>
            <a:ext cx="3246120" cy="141732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75320" y="1234440"/>
            <a:ext cx="91440" cy="1417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531352" y="14173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220"/>
                </a:solidFill>
              </a:rPr>
              <a:t>Application Mobile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8531352" y="1920240"/>
            <a:ext cx="283464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</a:rPr>
              <a:t>Ionic 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</a:rPr>
              <a:t>Angular 20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</a:rPr>
              <a:t>Capacitor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85800" y="3337560"/>
            <a:ext cx="3246120" cy="141732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85800" y="3337560"/>
            <a:ext cx="91440" cy="14173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41832" y="35204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220"/>
                </a:solidFill>
              </a:rPr>
              <a:t>Base de données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941832" y="4023360"/>
            <a:ext cx="283464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</a:rPr>
              <a:t>PostgreSQL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</a:rPr>
              <a:t>JPA / Hibernate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4480560" y="3337560"/>
            <a:ext cx="3246120" cy="141732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480560" y="3337560"/>
            <a:ext cx="91440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736592" y="35204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220"/>
                </a:solidFill>
              </a:rPr>
              <a:t>Documentation API</a:t>
            </a:r>
            <a:endParaRPr lang="en-US" sz="2000" dirty="0"/>
          </a:p>
        </p:txBody>
      </p:sp>
      <p:sp>
        <p:nvSpPr>
          <p:cNvPr id="29" name="Text 26"/>
          <p:cNvSpPr/>
          <p:nvPr/>
        </p:nvSpPr>
        <p:spPr>
          <a:xfrm>
            <a:off x="4736592" y="4023360"/>
            <a:ext cx="283464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</a:rPr>
              <a:t>Swagger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</a:rPr>
              <a:t>OpenAPI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8275320" y="3337560"/>
            <a:ext cx="3246120" cy="141732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275320" y="3337560"/>
            <a:ext cx="91440" cy="14173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531352" y="35204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220"/>
                </a:solidFill>
              </a:rPr>
              <a:t>Conception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8531352" y="4023360"/>
            <a:ext cx="283464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</a:rPr>
              <a:t>UML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</a:rPr>
              <a:t>Draw.io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</a:rPr>
              <a:t>Diagrammes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38328"/>
            <a:ext cx="8732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</a:rPr>
              <a:t>Apports du projet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9052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Ce que la solution améliore pour l’établissement.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29800" y="201168"/>
            <a:ext cx="16916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CBD5E1">
                <a:alpha val="75000"/>
              </a:srgbClr>
            </a:solidFill>
            <a:prstDash val="solid"/>
          </a:ln>
        </p:spPr>
      </p:sp>
      <p:pic>
        <p:nvPicPr>
          <p:cNvPr id="6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930384" y="283464"/>
            <a:ext cx="1490472" cy="39319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6629400"/>
            <a:ext cx="4114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EduTrack — Soutenance Licence 3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0972800" y="6629400"/>
            <a:ext cx="731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7/9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777240" y="1325880"/>
            <a:ext cx="3520440" cy="3611880"/>
          </a:xfrm>
          <a:prstGeom prst="roundRect">
            <a:avLst>
              <a:gd name="adj" fmla="val 2078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77240" y="1325880"/>
            <a:ext cx="91440" cy="36118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33272" y="15087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1220"/>
                </a:solidFill>
              </a:rPr>
              <a:t>Traçabilité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1033272" y="2011680"/>
            <a:ext cx="3108960" cy="2834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</a:rPr>
              <a:t>Chaque séance peut être suivie depuis la planification jusqu’à l’émargement et la fiche de progression.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4526280" y="1325880"/>
            <a:ext cx="3520440" cy="3611880"/>
          </a:xfrm>
          <a:prstGeom prst="roundRect">
            <a:avLst>
              <a:gd name="adj" fmla="val 2078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26280" y="1325880"/>
            <a:ext cx="91440" cy="36118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82312" y="15087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1220"/>
                </a:solidFill>
              </a:rPr>
              <a:t>Fiabilité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4782312" y="2011680"/>
            <a:ext cx="3108960" cy="2834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</a:rPr>
              <a:t>La centralisation réduit les pertes d’information et les erreurs liées au traitement manuel.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8275320" y="1325880"/>
            <a:ext cx="3154680" cy="3611880"/>
          </a:xfrm>
          <a:prstGeom prst="roundRect">
            <a:avLst>
              <a:gd name="adj" fmla="val 2319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75320" y="1325880"/>
            <a:ext cx="91440" cy="3611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531352" y="1508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1220"/>
                </a:solidFill>
              </a:rPr>
              <a:t>Transparence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531352" y="2011680"/>
            <a:ext cx="2743200" cy="2834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</a:rPr>
              <a:t>Les honoraires sont calculés à partir des séances réellement effectuées.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38328"/>
            <a:ext cx="8732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</a:rPr>
              <a:t>Perspectives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896112"/>
            <a:ext cx="9052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Évolutions prévues après cette première version.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29800" y="201168"/>
            <a:ext cx="16916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CBD5E1">
                <a:alpha val="75000"/>
              </a:srgbClr>
            </a:solidFill>
            <a:prstDash val="solid"/>
          </a:ln>
        </p:spPr>
      </p:sp>
      <p:pic>
        <p:nvPicPr>
          <p:cNvPr id="6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930384" y="283464"/>
            <a:ext cx="1490472" cy="39319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6629400"/>
            <a:ext cx="4114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EduTrack — Soutenance Licence 3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0972800" y="6629400"/>
            <a:ext cx="731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8/9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85800" y="1234440"/>
            <a:ext cx="5212080" cy="1005840"/>
          </a:xfrm>
          <a:prstGeom prst="round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5800" y="1234440"/>
            <a:ext cx="91440" cy="10058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41832" y="141732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220"/>
                </a:solidFill>
              </a:rPr>
              <a:t>Module étudiant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941832" y="1920240"/>
            <a:ext cx="480060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</a:rPr>
              <a:t>Ajouter un espace de suivi individuel des étudiants.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263640" y="1234440"/>
            <a:ext cx="5212080" cy="1005840"/>
          </a:xfrm>
          <a:prstGeom prst="round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263640" y="1234440"/>
            <a:ext cx="91440" cy="10058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19672" y="141732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220"/>
                </a:solidFill>
              </a:rPr>
              <a:t>Notifications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519672" y="1920240"/>
            <a:ext cx="480060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</a:rPr>
              <a:t>Envoyer des alertes automatiques par email ou SMS.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85800" y="2697480"/>
            <a:ext cx="5212080" cy="1005840"/>
          </a:xfrm>
          <a:prstGeom prst="round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85800" y="2697480"/>
            <a:ext cx="91440" cy="10058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41832" y="288036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220"/>
                </a:solidFill>
              </a:rPr>
              <a:t>Communication interne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941832" y="3383280"/>
            <a:ext cx="480060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</a:rPr>
              <a:t>Faciliter les échanges entre administration et enseignants.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6263640" y="2697480"/>
            <a:ext cx="5212080" cy="1005840"/>
          </a:xfrm>
          <a:prstGeom prst="round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263640" y="2697480"/>
            <a:ext cx="91440" cy="1005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19672" y="288036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220"/>
                </a:solidFill>
              </a:rPr>
              <a:t>Paiement externe éventuel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6519672" y="3383280"/>
            <a:ext cx="480060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</a:rPr>
              <a:t>Connecter plus tard un système de paiement électronique.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2743200" y="4160520"/>
            <a:ext cx="6720840" cy="1005840"/>
          </a:xfrm>
          <a:prstGeom prst="round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743200" y="4160520"/>
            <a:ext cx="91440" cy="10058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999232" y="434340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B1220"/>
                </a:solidFill>
              </a:rPr>
              <a:t>Production</a:t>
            </a:r>
            <a:endParaRPr lang="en-US" sz="2000" dirty="0"/>
          </a:p>
        </p:txBody>
      </p:sp>
      <p:sp>
        <p:nvSpPr>
          <p:cNvPr id="29" name="Text 26"/>
          <p:cNvSpPr/>
          <p:nvPr/>
        </p:nvSpPr>
        <p:spPr>
          <a:xfrm>
            <a:off x="2999232" y="4846320"/>
            <a:ext cx="630936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</a:rPr>
              <a:t>Renforcer les tests automatisés et préparer le déploiement.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29800" y="201168"/>
            <a:ext cx="16916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FFFFFF">
                <a:alpha val="75000"/>
              </a:srgbClr>
            </a:solidFill>
            <a:prstDash val="solid"/>
          </a:ln>
        </p:spPr>
      </p:sp>
      <p:pic>
        <p:nvPicPr>
          <p:cNvPr id="3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930384" y="283464"/>
            <a:ext cx="1490472" cy="3931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77724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Démonstration du projet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1051560" y="14173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38BDF8"/>
                </a:solidFill>
              </a:rPr>
              <a:t>Parcours : connexion → planning → QR Code → fiche de progression → honoraires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1828800" y="2057400"/>
            <a:ext cx="1600200" cy="3474720"/>
          </a:xfrm>
          <a:prstGeom prst="roundRect">
            <a:avLst>
              <a:gd name="adj" fmla="val 685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65000"/>
              </a:srgbClr>
            </a:solidFill>
            <a:prstDash val="solid"/>
          </a:ln>
        </p:spPr>
      </p:sp>
      <p:pic>
        <p:nvPicPr>
          <p:cNvPr id="7" name="Image 1" descr="MEMOIRE/Capture d'ecran application web et mobile/Screenshot_20260702_213134_mobile-ionic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920240" y="2148840"/>
            <a:ext cx="1417320" cy="32918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3977640" y="2057400"/>
            <a:ext cx="1600200" cy="3474720"/>
          </a:xfrm>
          <a:prstGeom prst="roundRect">
            <a:avLst>
              <a:gd name="adj" fmla="val 685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65000"/>
              </a:srgbClr>
            </a:solidFill>
            <a:prstDash val="solid"/>
          </a:ln>
        </p:spPr>
      </p:sp>
      <p:pic>
        <p:nvPicPr>
          <p:cNvPr id="9" name="Image 2" descr="MEMOIRE/Capture d'ecran application web et mobile/Screenshot_20260702_213120_mobile-ionic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069080" y="2148840"/>
            <a:ext cx="1417320" cy="329184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6126480" y="2057400"/>
            <a:ext cx="1600200" cy="3474720"/>
          </a:xfrm>
          <a:prstGeom prst="roundRect">
            <a:avLst>
              <a:gd name="adj" fmla="val 685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65000"/>
              </a:srgbClr>
            </a:solidFill>
            <a:prstDash val="solid"/>
          </a:ln>
        </p:spPr>
      </p:sp>
      <p:pic>
        <p:nvPicPr>
          <p:cNvPr id="11" name="Image 3" descr="MEMOIRE/Capture d'ecran application web et mobile/Screenshot_20260702_213143_mobile-ionic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17920" y="2148840"/>
            <a:ext cx="1417320" cy="329184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8275320" y="2057400"/>
            <a:ext cx="1600200" cy="3474720"/>
          </a:xfrm>
          <a:prstGeom prst="roundRect">
            <a:avLst>
              <a:gd name="adj" fmla="val 685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65000"/>
              </a:srgbClr>
            </a:solidFill>
            <a:prstDash val="solid"/>
          </a:ln>
        </p:spPr>
      </p:sp>
      <p:pic>
        <p:nvPicPr>
          <p:cNvPr id="13" name="Image 4" descr="MEMOIRE/Capture d'ecran application web et mobile/Screenshot_20260702_213212_mobile-ionic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366760" y="2148840"/>
            <a:ext cx="1417320" cy="329184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914400" y="598932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9E0B"/>
                </a:solidFill>
              </a:rPr>
              <a:t>Place à la démonstration pratique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29800" y="201168"/>
            <a:ext cx="16916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FFFFFF">
                <a:alpha val="75000"/>
              </a:srgbClr>
            </a:solidFill>
            <a:prstDash val="solid"/>
          </a:ln>
        </p:spPr>
      </p:sp>
      <p:pic>
        <p:nvPicPr>
          <p:cNvPr id="3" name="Image 0" descr="backend/edutrack/src/main/resources/images/logo_INTEC_nom_Horizon-1-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930384" y="283464"/>
            <a:ext cx="1490472" cy="3931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60020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</a:rPr>
              <a:t>MERCI</a:t>
            </a:r>
            <a:endParaRPr lang="en-US" sz="6400" dirty="0"/>
          </a:p>
        </p:txBody>
      </p:sp>
      <p:sp>
        <p:nvSpPr>
          <p:cNvPr id="5" name="Text 2"/>
          <p:cNvSpPr/>
          <p:nvPr/>
        </p:nvSpPr>
        <p:spPr>
          <a:xfrm>
            <a:off x="914400" y="269748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8BDF8"/>
                </a:solidFill>
              </a:rPr>
              <a:t>DE VOTRE ATTENTION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1188720" y="379476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2E8F0"/>
                </a:solidFill>
              </a:rPr>
              <a:t>Nous sommes à votre disposition pour répondre à vos questions.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914400" y="5897880"/>
            <a:ext cx="10332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EduTrack — Suivi pédagogique et calcul des honoraires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INTEC SUP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EduTrack soutenance 2</dc:title>
  <dc:subject>Soutenance EduTrack</dc:subject>
  <dc:creator>EduTrack</dc:creator>
  <cp:lastModifiedBy>EduTrack</cp:lastModifiedBy>
  <cp:revision>1</cp:revision>
  <dcterms:created xsi:type="dcterms:W3CDTF">2026-07-04T03:35:34Z</dcterms:created>
  <dcterms:modified xsi:type="dcterms:W3CDTF">2026-07-04T03:35:34Z</dcterms:modified>
</cp:coreProperties>
</file>