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77" d="100"/>
          <a:sy n="77" d="100"/>
        </p:scale>
        <p:origin x="91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13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jpg"/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6.svg"/><Relationship Id="rId5" Type="http://schemas.openxmlformats.org/officeDocument/2006/relationships/image" Target="../media/image21.svg"/><Relationship Id="rId10" Type="http://schemas.openxmlformats.org/officeDocument/2006/relationships/image" Target="../media/image25.svg"/><Relationship Id="rId4" Type="http://schemas.openxmlformats.org/officeDocument/2006/relationships/image" Target="../media/image20.sv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45120" y="101119"/>
            <a:ext cx="1645560" cy="82345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backend/edutrack/src/main/resources/images/logo_INTEC_nom_Horizon-1-3-1.png"/>
          <p:cNvPicPr/>
          <p:nvPr/>
        </p:nvPicPr>
        <p:blipFill>
          <a:blip r:embed="rId3"/>
          <a:stretch/>
        </p:blipFill>
        <p:spPr>
          <a:xfrm>
            <a:off x="381960" y="330514"/>
            <a:ext cx="1462680" cy="422574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562831" y="966409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PROJET DE FIN DE CYCLE</a:t>
            </a:r>
            <a:endParaRPr lang="fr-FR" sz="2800" b="0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640440" y="1321782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 dirty="0" err="1">
                <a:solidFill>
                  <a:srgbClr val="0070C0"/>
                </a:solidFill>
                <a:latin typeface="Calibri"/>
              </a:rPr>
              <a:t>EduTrack</a:t>
            </a:r>
            <a:endParaRPr lang="fr-FR" sz="5400" b="0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3048001" y="2758624"/>
            <a:ext cx="56689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70C0"/>
                </a:solidFill>
                <a:latin typeface="Calibri"/>
              </a:rPr>
              <a:t>CONCEPTION ET DÉVELOPPEMENT D'UNE APPLICATION</a:t>
            </a:r>
            <a:endParaRPr lang="fr-FR" sz="2000" b="0" strike="noStrike" spc="-1" dirty="0">
              <a:solidFill>
                <a:srgbClr val="0070C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70C0"/>
                </a:solidFill>
                <a:latin typeface="Calibri"/>
              </a:rPr>
              <a:t>WEB ET MOBILE DE SUIVI PÉDAGOGIQUE ET DE CALCUL</a:t>
            </a:r>
            <a:endParaRPr lang="fr-FR" sz="2000" b="0" strike="noStrike" spc="-1" dirty="0">
              <a:solidFill>
                <a:srgbClr val="0070C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70C0"/>
                </a:solidFill>
                <a:latin typeface="Calibri"/>
              </a:rPr>
              <a:t>DES HONORAIRES DES ENSEIGNANTS</a:t>
            </a:r>
            <a:endParaRPr lang="fr-FR" sz="2000" b="0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486540" y="5404811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097280" y="5055262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 dirty="0" err="1">
                <a:solidFill>
                  <a:schemeClr val="bg2">
                    <a:lumMod val="10000"/>
                  </a:schemeClr>
                </a:solidFill>
                <a:latin typeface="Calibri"/>
              </a:rPr>
              <a:t>Présenté</a:t>
            </a:r>
            <a:r>
              <a:rPr lang="en-US" sz="1600" b="0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 par</a:t>
            </a:r>
            <a:endParaRPr lang="fr-FR" sz="1600" b="0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914220" y="5679131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MOUSSA BALLA KEITA &amp;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AYA BOURAMA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7617960" y="5492218"/>
            <a:ext cx="4114440" cy="103356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7020240" y="5065912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 dirty="0">
                <a:solidFill>
                  <a:schemeClr val="bg1"/>
                </a:solidFill>
                <a:latin typeface="Calibri"/>
              </a:rPr>
              <a:t>Sous la </a:t>
            </a:r>
            <a:r>
              <a:rPr lang="en-US" sz="1600" b="0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direction de</a:t>
            </a:r>
            <a:endParaRPr lang="fr-FR" sz="1600" b="0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7498620" y="5679131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M. </a:t>
            </a:r>
            <a:r>
              <a:rPr lang="en-US" sz="1800" b="1" strike="noStrike" spc="-1" dirty="0" err="1">
                <a:solidFill>
                  <a:srgbClr val="FFFFFF"/>
                </a:solidFill>
                <a:latin typeface="Calibri"/>
              </a:rPr>
              <a:t>MOUHAMOUD</a:t>
            </a: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 DEMBELE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INTEC SUP - 2025/2026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7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5" y="-13716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Problématique &amp; objectifs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A6E80"/>
                </a:solidFill>
              </a:rPr>
              <a:t>2 / 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4272"/>
                </a:solidFill>
              </a:rPr>
              <a:t>Avant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8368" y="1810512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online_icons/googlesheet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59536" y="1856232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01368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Feuilles Excel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01368" y="24140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Suivi dispersé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635508" y="29260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MEMOIRE/online_icons/readthedoc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5820" y="3022092"/>
            <a:ext cx="786384" cy="7863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01368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Formulaires papier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01368" y="35295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Saisie manuelle</a:t>
            </a:r>
            <a:endParaRPr lang="en-US" sz="1400" b="1" dirty="0"/>
          </a:p>
        </p:txBody>
      </p:sp>
      <p:sp>
        <p:nvSpPr>
          <p:cNvPr id="22" name="Shape 17"/>
          <p:cNvSpPr/>
          <p:nvPr/>
        </p:nvSpPr>
        <p:spPr>
          <a:xfrm>
            <a:off x="658368" y="404164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3" name="Image 3" descr="MEMOIRE/online_icons/databrick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45820" y="4114112"/>
            <a:ext cx="786384" cy="7863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01368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Données isolées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801368" y="4645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Peu de traçabilité</a:t>
            </a:r>
            <a:endParaRPr lang="en-US" sz="1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991856" y="1174015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0F4272"/>
                </a:solidFill>
              </a:rPr>
              <a:t>Objectifs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4796" y="1650825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e_centralis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3653" y="1686707"/>
            <a:ext cx="786384" cy="7863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18520" y="1737905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Centraliser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18520" y="2214407"/>
            <a:ext cx="19540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Tout au </a:t>
            </a:r>
            <a:r>
              <a:rPr sz="1400" b="1" dirty="0" err="1">
                <a:solidFill>
                  <a:srgbClr val="304152"/>
                </a:solidFill>
              </a:rPr>
              <a:t>même</a:t>
            </a:r>
            <a:r>
              <a:rPr sz="1400" b="1" dirty="0">
                <a:solidFill>
                  <a:srgbClr val="304152"/>
                </a:solidFill>
              </a:rPr>
              <a:t> </a:t>
            </a:r>
            <a:r>
              <a:rPr sz="1400" b="1" dirty="0" err="1">
                <a:solidFill>
                  <a:srgbClr val="304152"/>
                </a:solidFill>
              </a:rPr>
              <a:t>endroit</a:t>
            </a:r>
            <a:endParaRPr sz="1400" b="1" dirty="0">
              <a:solidFill>
                <a:srgbClr val="30415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34796" y="2855773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e_fiabilis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8615" y="2939796"/>
            <a:ext cx="786384" cy="7863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18520" y="2932863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Fiabiliser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18520" y="3378074"/>
            <a:ext cx="165128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Données </a:t>
            </a:r>
            <a:r>
              <a:rPr sz="1400" b="1" dirty="0" err="1">
                <a:solidFill>
                  <a:srgbClr val="304152"/>
                </a:solidFill>
              </a:rPr>
              <a:t>vérifiées</a:t>
            </a:r>
            <a:endParaRPr sz="1400" b="1" dirty="0">
              <a:solidFill>
                <a:srgbClr val="30415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34796" y="3959352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ne_automatis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1856" y="4039720"/>
            <a:ext cx="786384" cy="7863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95660" y="4172792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Automatiser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58894" y="4545208"/>
            <a:ext cx="17452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304152"/>
                </a:solidFill>
              </a:rPr>
              <a:t>Calculs</a:t>
            </a:r>
            <a:r>
              <a:rPr sz="1400" b="1" dirty="0">
                <a:solidFill>
                  <a:srgbClr val="304152"/>
                </a:solidFill>
              </a:rPr>
              <a:t> et rapports</a:t>
            </a:r>
          </a:p>
        </p:txBody>
      </p:sp>
      <p:pic>
        <p:nvPicPr>
          <p:cNvPr id="39" name="Picture 38" descr="arrow_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0540" y="2994334"/>
            <a:ext cx="3456884" cy="754706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" y="6476238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Solution proposée : EduTrack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A6E80"/>
                </a:solidFill>
              </a:rPr>
              <a:t>3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3246120" cy="3246120"/>
          </a:xfrm>
          <a:prstGeom prst="ellipse">
            <a:avLst/>
          </a:prstGeom>
          <a:solidFill>
            <a:srgbClr val="3B82F6">
              <a:alpha val="86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mobile-ionic/src/assets/logo_edutra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62272" y="1865376"/>
            <a:ext cx="3246120" cy="325526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13232" y="13716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4400" y="1572768"/>
            <a:ext cx="786384" cy="7863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Administration web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56232" y="19751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Gestion, planning, suivi</a:t>
            </a:r>
            <a:endParaRPr lang="en-US" sz="1400" b="1" dirty="0"/>
          </a:p>
        </p:txBody>
      </p:sp>
      <p:sp>
        <p:nvSpPr>
          <p:cNvPr id="19" name="Shape 14"/>
          <p:cNvSpPr/>
          <p:nvPr/>
        </p:nvSpPr>
        <p:spPr>
          <a:xfrm>
            <a:off x="713232" y="425196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MEMOIRE/online_icons/q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0" y="4453128"/>
            <a:ext cx="786384" cy="7863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56232" y="4489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Émargement QR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856232" y="48554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Scan </a:t>
            </a:r>
            <a:r>
              <a:rPr lang="en-US" sz="1400" b="1" dirty="0" err="1">
                <a:solidFill>
                  <a:srgbClr val="304152"/>
                </a:solidFill>
              </a:rPr>
              <a:t>rapide</a:t>
            </a:r>
            <a:r>
              <a:rPr lang="en-US" sz="1400" b="1" dirty="0">
                <a:solidFill>
                  <a:srgbClr val="304152"/>
                </a:solidFill>
              </a:rPr>
              <a:t> sur mobile</a:t>
            </a:r>
            <a:endParaRPr lang="en-US" sz="1400" b="1" dirty="0"/>
          </a:p>
        </p:txBody>
      </p:sp>
      <p:sp>
        <p:nvSpPr>
          <p:cNvPr id="23" name="Shape 17"/>
          <p:cNvSpPr/>
          <p:nvPr/>
        </p:nvSpPr>
        <p:spPr>
          <a:xfrm>
            <a:off x="7818120" y="137160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96112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Fiche de progression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96112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Séance et contenu réalisé</a:t>
            </a:r>
            <a:endParaRPr lang="en-US" sz="1400" b="1" dirty="0"/>
          </a:p>
        </p:txBody>
      </p:sp>
      <p:sp>
        <p:nvSpPr>
          <p:cNvPr id="27" name="Shape 20"/>
          <p:cNvSpPr/>
          <p:nvPr/>
        </p:nvSpPr>
        <p:spPr>
          <a:xfrm>
            <a:off x="7818120" y="425196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MEMOIRE/online_icons/cashap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019288" y="4453128"/>
            <a:ext cx="786384" cy="7863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6112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8961120" y="4855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Calcul automatique à partir des séances émargées</a:t>
            </a:r>
            <a:endParaRPr lang="en-US" sz="1400" b="1" dirty="0"/>
          </a:p>
        </p:txBody>
      </p:sp>
      <p:sp>
        <p:nvSpPr>
          <p:cNvPr id="31" name="Shape 23"/>
          <p:cNvSpPr/>
          <p:nvPr/>
        </p:nvSpPr>
        <p:spPr>
          <a:xfrm>
            <a:off x="4059936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 rot="10800000">
            <a:off x="7461504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 descr="fiche_progression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288" y="1572768"/>
            <a:ext cx="786384" cy="78638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74904" y="6464808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Fonctionnement du système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A6E80"/>
                </a:solidFill>
              </a:rPr>
              <a:t>4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6928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14984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1520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Planifier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3232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Créer la séance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2423160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871216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19272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035808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962656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QR Code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3017520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Identifiant unique</a:t>
            </a:r>
            <a:endParaRPr lang="en-US" sz="1400" b="1" dirty="0"/>
          </a:p>
        </p:txBody>
      </p:sp>
      <p:sp>
        <p:nvSpPr>
          <p:cNvPr id="25" name="Shape 20"/>
          <p:cNvSpPr/>
          <p:nvPr/>
        </p:nvSpPr>
        <p:spPr>
          <a:xfrm>
            <a:off x="4727448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175504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23560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24728" y="2029968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0096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266944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Scanner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5321808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Action mobile</a:t>
            </a:r>
            <a:endParaRPr lang="en-US" sz="1400" b="1" dirty="0"/>
          </a:p>
        </p:txBody>
      </p:sp>
      <p:sp>
        <p:nvSpPr>
          <p:cNvPr id="32" name="Shape 26"/>
          <p:cNvSpPr/>
          <p:nvPr/>
        </p:nvSpPr>
        <p:spPr>
          <a:xfrm>
            <a:off x="7031736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79792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927848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7644384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580376" y="307833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Enregistrer automatiquement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7644384" y="37100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Émargement tracé</a:t>
            </a:r>
            <a:endParaRPr lang="en-US" sz="1400" b="1" dirty="0"/>
          </a:p>
        </p:txBody>
      </p:sp>
      <p:sp>
        <p:nvSpPr>
          <p:cNvPr id="39" name="Shape 32"/>
          <p:cNvSpPr/>
          <p:nvPr/>
        </p:nvSpPr>
        <p:spPr>
          <a:xfrm>
            <a:off x="9336024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9784080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10232136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33304" y="2029968"/>
            <a:ext cx="640080" cy="6400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48672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75520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Calculer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9930384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Honoraires</a:t>
            </a:r>
            <a:endParaRPr lang="en-US" sz="1400" b="1" dirty="0"/>
          </a:p>
        </p:txBody>
      </p:sp>
      <p:pic>
        <p:nvPicPr>
          <p:cNvPr id="48" name="Picture 47" descr="planifier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152" y="2029968"/>
            <a:ext cx="640080" cy="640080"/>
          </a:xfrm>
          <a:prstGeom prst="rect">
            <a:avLst/>
          </a:prstGeom>
        </p:spPr>
      </p:pic>
      <p:pic>
        <p:nvPicPr>
          <p:cNvPr id="49" name="Picture 48" descr="qrcode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2029968"/>
            <a:ext cx="640080" cy="64008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9016" y="2029968"/>
            <a:ext cx="640080" cy="64008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06324" y="6501384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E12D51-A84A-18D6-D4FF-75EC1E2A91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D0CAA12-6401-FFCD-1C3F-C7C012AA76D6}"/>
              </a:ext>
            </a:extLst>
          </p:cNvPr>
          <p:cNvSpPr txBox="1"/>
          <p:nvPr/>
        </p:nvSpPr>
        <p:spPr>
          <a:xfrm>
            <a:off x="736600" y="482600"/>
            <a:ext cx="7874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900" b="1" dirty="0">
                <a:solidFill>
                  <a:srgbClr val="0F4272"/>
                </a:solidFill>
                <a:latin typeface="Aptos" panose="020B0004020202020204" pitchFamily="34" charset="0"/>
              </a:rPr>
              <a:t>Architecture technique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C14E7-9006-1832-215C-1AAB924F569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481C299D-92FD-8617-4226-14EE41FB9E83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4A72CB6A-E367-A464-A06F-F93FF498171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 dirty="0">
                <a:solidFill>
                  <a:srgbClr val="304152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08121A8-B21F-38AA-02A5-66827246C4A3}"/>
              </a:ext>
            </a:extLst>
          </p:cNvPr>
          <p:cNvSpPr txBox="1"/>
          <p:nvPr/>
        </p:nvSpPr>
        <p:spPr>
          <a:xfrm>
            <a:off x="11023600" y="6477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fr-FR" sz="1000" b="1">
                <a:solidFill>
                  <a:srgbClr val="304152"/>
                </a:solidFill>
                <a:latin typeface="Aptos" panose="020B0004020202020204" pitchFamily="34" charset="0"/>
              </a:rPr>
              <a:t>5 / 9</a:t>
            </a:r>
          </a:p>
        </p:txBody>
      </p:sp>
      <p:pic>
        <p:nvPicPr>
          <p:cNvPr id="22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005307D4-6BFC-949F-F519-900D8A9C9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36" name="Ellipse 35">
            <a:extLst>
              <a:ext uri="{FF2B5EF4-FFF2-40B4-BE49-F238E27FC236}">
                <a16:creationId xmlns:a16="http://schemas.microsoft.com/office/drawing/2014/main" id="{E4AE8CB9-C204-4599-CCFA-0AEDE436ED6E}"/>
              </a:ext>
            </a:extLst>
          </p:cNvPr>
          <p:cNvSpPr/>
          <p:nvPr/>
        </p:nvSpPr>
        <p:spPr>
          <a:xfrm>
            <a:off x="35814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3BC23CF-A8B1-76BB-7D65-200377837808}"/>
              </a:ext>
            </a:extLst>
          </p:cNvPr>
          <p:cNvSpPr/>
          <p:nvPr/>
        </p:nvSpPr>
        <p:spPr>
          <a:xfrm>
            <a:off x="37465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0C38833-D127-CEC7-557B-FC3E073F7CF2}"/>
              </a:ext>
            </a:extLst>
          </p:cNvPr>
          <p:cNvSpPr/>
          <p:nvPr/>
        </p:nvSpPr>
        <p:spPr>
          <a:xfrm>
            <a:off x="39116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29C200DF-B028-3E33-377A-F00DD35DC088}"/>
              </a:ext>
            </a:extLst>
          </p:cNvPr>
          <p:cNvCxnSpPr/>
          <p:nvPr/>
        </p:nvCxnSpPr>
        <p:spPr>
          <a:xfrm flipH="1">
            <a:off x="3937000" y="5207000"/>
            <a:ext cx="5486400" cy="0"/>
          </a:xfrm>
          <a:prstGeom prst="line">
            <a:avLst/>
          </a:prstGeom>
          <a:ln w="21590">
            <a:solidFill>
              <a:srgbClr val="4755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BAC3447E-83A0-B0CC-668E-C42FB08480CB}"/>
              </a:ext>
            </a:extLst>
          </p:cNvPr>
          <p:cNvSpPr txBox="1"/>
          <p:nvPr/>
        </p:nvSpPr>
        <p:spPr>
          <a:xfrm>
            <a:off x="5651500" y="52959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304152"/>
                </a:solidFill>
                <a:latin typeface="Aptos" panose="020B0004020202020204" pitchFamily="34" charset="0"/>
              </a:rPr>
              <a:t>Réponse vers les interfaces</a:t>
            </a:r>
          </a:p>
        </p:txBody>
      </p:sp>
      <p:sp>
        <p:nvSpPr>
          <p:cNvPr id="500" name="Bonus EduTrack">
            <a:extLst>
              <a:ext uri="{FF2B5EF4-FFF2-40B4-BE49-F238E27FC236}">
                <a16:creationId xmlns:a16="http://schemas.microsoft.com/office/drawing/2014/main" id="{00000000-0000-0000-0000-000000000500}"/>
              </a:ext>
            </a:extLst>
          </p:cNvPr>
          <p:cNvSpPr txBox="1"/>
          <p:nvPr/>
        </p:nvSpPr>
        <p:spPr>
          <a:xfrm>
            <a:off x="2423400" y="5956849"/>
            <a:ext cx="7000000" cy="35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200" b="1" dirty="0">
                <a:solidFill>
                  <a:srgbClr val="304152"/>
                </a:solidFill>
                <a:latin typeface="Aptos" panose="020B0004020202020204" pitchFamily="34" charset="0"/>
              </a:rPr>
              <a:t>Points forts : authentification sécurisée (JWT) · calcul automatisé des honoraires</a:t>
            </a:r>
          </a:p>
        </p:txBody>
      </p:sp>
      <p:sp>
        <p:nvSpPr>
          <p:cNvPr id="501" name="Rectangle 50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Rectangle 503"/>
          <p:cNvSpPr/>
          <p:nvPr/>
        </p:nvSpPr>
        <p:spPr>
          <a:xfrm>
            <a:off x="347472" y="6392761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DBA7B-6905-576C-1AAB-1F7CDFD62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86447"/>
            <a:ext cx="12058022" cy="51454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Technologies &amp; </a:t>
            </a:r>
            <a:r>
              <a:rPr lang="en-US" sz="2900" b="1" dirty="0" err="1">
                <a:solidFill>
                  <a:srgbClr val="0F4272"/>
                </a:solidFill>
              </a:rPr>
              <a:t>Outils</a:t>
            </a:r>
            <a:r>
              <a:rPr lang="en-US" sz="2900" b="1" dirty="0">
                <a:solidFill>
                  <a:srgbClr val="0F4272"/>
                </a:solidFill>
              </a:rPr>
              <a:t> </a:t>
            </a:r>
            <a:r>
              <a:rPr lang="en-US" sz="2900" b="1" dirty="0" err="1">
                <a:solidFill>
                  <a:srgbClr val="0F4272"/>
                </a:solidFill>
              </a:rPr>
              <a:t>utilisés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A6E80"/>
                </a:solidFill>
              </a:rPr>
              <a:t>6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2728" y="17373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logos/spr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856232" y="1920240"/>
            <a:ext cx="768096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62456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252728" y="320040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logos/jav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56232" y="3383280"/>
            <a:ext cx="768096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245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Java 17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252728" y="46634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MEMOIRE/logos/postgresq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856232" y="4846320"/>
            <a:ext cx="768096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2456" y="5596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11480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1148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FRONTEND ( WEB &amp; MOBILE )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81888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22392" y="2606040"/>
            <a:ext cx="768096" cy="6583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Angular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81888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MEMOIRE/logos/ioni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422392" y="4160520"/>
            <a:ext cx="768096" cy="6583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2861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Ionic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7680960" y="1143000"/>
            <a:ext cx="4114800" cy="5120640"/>
          </a:xfrm>
          <a:prstGeom prst="roundRect">
            <a:avLst>
              <a:gd name="adj" fmla="val 222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6809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OUTILS &amp; CONCEPTION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74496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MEMOIRE/online_icons/gi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348472" y="2606040"/>
            <a:ext cx="768096" cy="6583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85469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Git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975664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7" name="Image 7" descr="MEMOIRE/online_icons/github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360152" y="2606040"/>
            <a:ext cx="768096" cy="6583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66376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GitHub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774496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8" descr="MEMOIRE/online_icons/firebas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348472" y="4160520"/>
            <a:ext cx="768096" cy="6583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85469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Swagger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975664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9" descr="MEMOIRE/online_icons/googleclou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360152" y="4160520"/>
            <a:ext cx="768096" cy="6583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86637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UML</a:t>
            </a:r>
            <a:endParaRPr lang="en-US" sz="1400" dirty="0"/>
          </a:p>
        </p:txBody>
      </p:sp>
      <p:sp>
        <p:nvSpPr>
          <p:cNvPr id="45" name="Rectangle 44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4340" y="6483096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9938BB8-2425-650F-44FC-1A16207B7A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9488" y="2390201"/>
            <a:ext cx="1305348" cy="11148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5FBEE11-17BF-B88E-DFCC-1B86629DA5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4A33213-FC21-D06B-6734-ED14965DE48E}"/>
              </a:ext>
            </a:extLst>
          </p:cNvPr>
          <p:cNvSpPr/>
          <p:nvPr/>
        </p:nvSpPr>
        <p:spPr>
          <a:xfrm>
            <a:off x="3159252" y="1436894"/>
            <a:ext cx="6604000" cy="6604000"/>
          </a:xfrm>
          <a:prstGeom prst="ellipse">
            <a:avLst/>
          </a:prstGeom>
          <a:solidFill>
            <a:srgbClr val="F8FAFC">
              <a:alpha val="2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5C1F05B-035D-5C59-24FA-E47EBFB6E315}"/>
              </a:ext>
            </a:extLst>
          </p:cNvPr>
          <p:cNvSpPr txBox="1"/>
          <p:nvPr/>
        </p:nvSpPr>
        <p:spPr>
          <a:xfrm>
            <a:off x="736600" y="4826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 dirty="0">
                <a:solidFill>
                  <a:srgbClr val="0F4272"/>
                </a:solidFill>
                <a:latin typeface="Aptos" panose="020B0004020202020204" pitchFamily="34" charset="0"/>
              </a:rPr>
              <a:t>DÉMONSTRATION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7E7A8-36B9-A4E0-6F40-5267DC3CD35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DAD39A9-9EFF-10CD-6329-5F73C0FD9766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60F70830-A789-A977-3A8B-264EF010625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304152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9607FFD-D2E0-FE34-0EA5-D010A643BB2A}"/>
              </a:ext>
            </a:extLst>
          </p:cNvPr>
          <p:cNvSpPr txBox="1"/>
          <p:nvPr/>
        </p:nvSpPr>
        <p:spPr>
          <a:xfrm>
            <a:off x="11023600" y="6477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fr-FR" sz="1000" b="1">
                <a:solidFill>
                  <a:srgbClr val="304152"/>
                </a:solidFill>
                <a:latin typeface="Aptos" panose="020B0004020202020204" pitchFamily="34" charset="0"/>
              </a:rPr>
              <a:t>7 / 9</a:t>
            </a:r>
          </a:p>
        </p:txBody>
      </p:sp>
      <p:pic>
        <p:nvPicPr>
          <p:cNvPr id="21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7671DBA6-268E-2522-1A08-EE104386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CB0193D-B7C3-C014-659F-73765B54102F}"/>
              </a:ext>
            </a:extLst>
          </p:cNvPr>
          <p:cNvSpPr txBox="1"/>
          <p:nvPr/>
        </p:nvSpPr>
        <p:spPr>
          <a:xfrm>
            <a:off x="1409700" y="1298395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 dirty="0">
                <a:solidFill>
                  <a:srgbClr val="304152"/>
                </a:solidFill>
                <a:latin typeface="Aptos" panose="020B0004020202020204" pitchFamily="34" charset="0"/>
              </a:rPr>
              <a:t>Mobile enseignant et interface web administrateur pendant la démonstration.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0EDE91E6-1F75-8C77-AA8D-BEE78AE747C0}"/>
              </a:ext>
            </a:extLst>
          </p:cNvPr>
          <p:cNvSpPr/>
          <p:nvPr/>
        </p:nvSpPr>
        <p:spPr>
          <a:xfrm>
            <a:off x="4114800" y="3175000"/>
            <a:ext cx="635000" cy="1498600"/>
          </a:xfrm>
          <a:prstGeom prst="round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CB5654-6584-0CDA-B5DB-6E7E502EF8C6}"/>
              </a:ext>
            </a:extLst>
          </p:cNvPr>
          <p:cNvSpPr/>
          <p:nvPr/>
        </p:nvSpPr>
        <p:spPr>
          <a:xfrm>
            <a:off x="41529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E3ADCC-6956-7647-B17A-02B770C6C96C}"/>
              </a:ext>
            </a:extLst>
          </p:cNvPr>
          <p:cNvSpPr/>
          <p:nvPr/>
        </p:nvSpPr>
        <p:spPr>
          <a:xfrm>
            <a:off x="42672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151A43-70DD-7D4B-6DCC-EF5FEFBF49B6}"/>
              </a:ext>
            </a:extLst>
          </p:cNvPr>
          <p:cNvSpPr/>
          <p:nvPr/>
        </p:nvSpPr>
        <p:spPr>
          <a:xfrm>
            <a:off x="43815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D2D262-8EA9-AC21-FD36-0A1DC685EA05}"/>
              </a:ext>
            </a:extLst>
          </p:cNvPr>
          <p:cNvSpPr/>
          <p:nvPr/>
        </p:nvSpPr>
        <p:spPr>
          <a:xfrm>
            <a:off x="46101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277FBF-E136-ABAB-7AF1-8C134A206916}"/>
              </a:ext>
            </a:extLst>
          </p:cNvPr>
          <p:cNvSpPr/>
          <p:nvPr/>
        </p:nvSpPr>
        <p:spPr>
          <a:xfrm>
            <a:off x="41529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2784CE-CF35-279E-DDD9-6EC5567A77B9}"/>
              </a:ext>
            </a:extLst>
          </p:cNvPr>
          <p:cNvSpPr/>
          <p:nvPr/>
        </p:nvSpPr>
        <p:spPr>
          <a:xfrm>
            <a:off x="43815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CB8A71-3752-63DD-A188-6AFA15CF9B81}"/>
              </a:ext>
            </a:extLst>
          </p:cNvPr>
          <p:cNvSpPr/>
          <p:nvPr/>
        </p:nvSpPr>
        <p:spPr>
          <a:xfrm>
            <a:off x="41529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31074B-6C1B-CA84-D36A-01406297A10D}"/>
              </a:ext>
            </a:extLst>
          </p:cNvPr>
          <p:cNvSpPr/>
          <p:nvPr/>
        </p:nvSpPr>
        <p:spPr>
          <a:xfrm>
            <a:off x="43815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824D08-E438-8093-5C28-7E9ED02EABA6}"/>
              </a:ext>
            </a:extLst>
          </p:cNvPr>
          <p:cNvSpPr/>
          <p:nvPr/>
        </p:nvSpPr>
        <p:spPr>
          <a:xfrm>
            <a:off x="44958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EEDA38-FC14-3642-651A-4C97C871284E}"/>
              </a:ext>
            </a:extLst>
          </p:cNvPr>
          <p:cNvSpPr/>
          <p:nvPr/>
        </p:nvSpPr>
        <p:spPr>
          <a:xfrm>
            <a:off x="46101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7D8E05-E0CA-16FB-C337-69C3AC6B6B8E}"/>
              </a:ext>
            </a:extLst>
          </p:cNvPr>
          <p:cNvSpPr/>
          <p:nvPr/>
        </p:nvSpPr>
        <p:spPr>
          <a:xfrm>
            <a:off x="42672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03B30B-6280-DA39-2F7F-940B7BDDDF5D}"/>
              </a:ext>
            </a:extLst>
          </p:cNvPr>
          <p:cNvSpPr/>
          <p:nvPr/>
        </p:nvSpPr>
        <p:spPr>
          <a:xfrm>
            <a:off x="44958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F0FF23-79EF-2F98-7B7D-ED288E0F6D61}"/>
              </a:ext>
            </a:extLst>
          </p:cNvPr>
          <p:cNvSpPr/>
          <p:nvPr/>
        </p:nvSpPr>
        <p:spPr>
          <a:xfrm>
            <a:off x="46101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51A5B0-3265-EB1C-0DED-C7E1156C10FE}"/>
              </a:ext>
            </a:extLst>
          </p:cNvPr>
          <p:cNvSpPr/>
          <p:nvPr/>
        </p:nvSpPr>
        <p:spPr>
          <a:xfrm>
            <a:off x="43815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FC195F-A04A-3F35-B7A7-CBB43F7383AF}"/>
              </a:ext>
            </a:extLst>
          </p:cNvPr>
          <p:cNvSpPr/>
          <p:nvPr/>
        </p:nvSpPr>
        <p:spPr>
          <a:xfrm>
            <a:off x="46101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79904067-202A-E3C4-F012-7DC73409BCB8}"/>
              </a:ext>
            </a:extLst>
          </p:cNvPr>
          <p:cNvSpPr/>
          <p:nvPr/>
        </p:nvSpPr>
        <p:spPr>
          <a:xfrm>
            <a:off x="66675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A0E070B2-B428-068D-3662-6FA951F7DEC1}"/>
              </a:ext>
            </a:extLst>
          </p:cNvPr>
          <p:cNvSpPr/>
          <p:nvPr/>
        </p:nvSpPr>
        <p:spPr>
          <a:xfrm>
            <a:off x="68326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91D1BAF-C429-C86E-A17C-F1C372EA36B9}"/>
              </a:ext>
            </a:extLst>
          </p:cNvPr>
          <p:cNvSpPr/>
          <p:nvPr/>
        </p:nvSpPr>
        <p:spPr>
          <a:xfrm>
            <a:off x="69977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34D102B1-3389-A615-4CD0-15D8D95BC2F3}"/>
              </a:ext>
            </a:extLst>
          </p:cNvPr>
          <p:cNvCxnSpPr>
            <a:cxnSpLocks/>
          </p:cNvCxnSpPr>
          <p:nvPr/>
        </p:nvCxnSpPr>
        <p:spPr>
          <a:xfrm flipH="1">
            <a:off x="3498850" y="4109679"/>
            <a:ext cx="1625600" cy="0"/>
          </a:xfrm>
          <a:prstGeom prst="line">
            <a:avLst/>
          </a:prstGeom>
          <a:ln w="3048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AF6B023-7290-D059-A22A-180211FFFCEE}"/>
              </a:ext>
            </a:extLst>
          </p:cNvPr>
          <p:cNvSpPr txBox="1"/>
          <p:nvPr/>
        </p:nvSpPr>
        <p:spPr>
          <a:xfrm>
            <a:off x="4584700" y="4247101"/>
            <a:ext cx="4826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600" b="1" dirty="0">
                <a:solidFill>
                  <a:srgbClr val="304152"/>
                </a:solidFill>
                <a:latin typeface="Aptos" panose="020B0004020202020204" pitchFamily="34" charset="0"/>
              </a:rPr>
              <a:t>API</a:t>
            </a:r>
          </a:p>
        </p:txBody>
      </p: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94B1F0D5-2515-3569-B456-9E3E679BBA7E}"/>
              </a:ext>
            </a:extLst>
          </p:cNvPr>
          <p:cNvSpPr/>
          <p:nvPr/>
        </p:nvSpPr>
        <p:spPr>
          <a:xfrm>
            <a:off x="2387600" y="5689600"/>
            <a:ext cx="7429500" cy="457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56DC26CF-9897-91D3-21BF-C9E39F109D29}"/>
              </a:ext>
            </a:extLst>
          </p:cNvPr>
          <p:cNvSpPr txBox="1"/>
          <p:nvPr/>
        </p:nvSpPr>
        <p:spPr>
          <a:xfrm>
            <a:off x="2667000" y="5829300"/>
            <a:ext cx="685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100" b="1">
                <a:solidFill>
                  <a:srgbClr val="304152"/>
                </a:solidFill>
                <a:latin typeface="Aptos" panose="020B0004020202020204" pitchFamily="34" charset="0"/>
              </a:rPr>
              <a:t>Parcours : connexion -&gt; planning -&gt; scan QR -&gt; fiche -&gt; honoraires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41706" y="6383293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9EDBC73C-F4A6-3B21-410B-2FD8D9C8F624}"/>
              </a:ext>
            </a:extLst>
          </p:cNvPr>
          <p:cNvSpPr/>
          <p:nvPr/>
        </p:nvSpPr>
        <p:spPr>
          <a:xfrm>
            <a:off x="6159500" y="1951080"/>
            <a:ext cx="5668920" cy="3382920"/>
          </a:xfrm>
          <a:prstGeom prst="roundRect">
            <a:avLst>
              <a:gd name="adj" fmla="val 1351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50254D91-ACD4-38D8-DEAD-BF657E9D95BE}"/>
              </a:ext>
            </a:extLst>
          </p:cNvPr>
          <p:cNvSpPr/>
          <p:nvPr/>
        </p:nvSpPr>
        <p:spPr>
          <a:xfrm>
            <a:off x="1022800" y="1864589"/>
            <a:ext cx="1737000" cy="3657240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" name="Picture 7" descr="arrow_right.png">
            <a:extLst>
              <a:ext uri="{FF2B5EF4-FFF2-40B4-BE49-F238E27FC236}">
                <a16:creationId xmlns:a16="http://schemas.microsoft.com/office/drawing/2014/main" id="{11C8A91D-2CBB-6A21-8326-7E53E16E5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68" y="3226479"/>
            <a:ext cx="2491684" cy="421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2CB397-7B45-2E40-421A-D8E409375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290" y="1954405"/>
            <a:ext cx="1686020" cy="3501487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5CE95D23-44FC-7A4D-EAB9-674C078C8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650" y="1995388"/>
            <a:ext cx="5569965" cy="33022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Conclusion &amp; perspectives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A6E80"/>
                </a:solidFill>
              </a:rPr>
              <a:t>8 / 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" y="358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272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41248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MEMOIRE/online_icons/googleclou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2416" y="4241800"/>
            <a:ext cx="786384" cy="7863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84248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Suivi centralisé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984248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Données regroupées</a:t>
            </a:r>
            <a:endParaRPr lang="en-US" sz="1400" b="1" dirty="0"/>
          </a:p>
        </p:txBody>
      </p:sp>
      <p:sp>
        <p:nvSpPr>
          <p:cNvPr id="17" name="Shape 13"/>
          <p:cNvSpPr/>
          <p:nvPr/>
        </p:nvSpPr>
        <p:spPr>
          <a:xfrm>
            <a:off x="4416552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online_icons/firebas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617720" y="4241800"/>
            <a:ext cx="786384" cy="7863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59552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Émargement fiable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559552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Émargement traçable</a:t>
            </a:r>
            <a:endParaRPr lang="en-US" sz="1400" b="1" dirty="0"/>
          </a:p>
        </p:txBody>
      </p:sp>
      <p:sp>
        <p:nvSpPr>
          <p:cNvPr id="21" name="Shape 16"/>
          <p:cNvSpPr/>
          <p:nvPr/>
        </p:nvSpPr>
        <p:spPr>
          <a:xfrm>
            <a:off x="7991856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134856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134856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Calcul automatisé</a:t>
            </a:r>
            <a:endParaRPr lang="en-US" sz="1400" b="1" dirty="0"/>
          </a:p>
        </p:txBody>
      </p:sp>
      <p:sp>
        <p:nvSpPr>
          <p:cNvPr id="25" name="Shape 19"/>
          <p:cNvSpPr/>
          <p:nvPr/>
        </p:nvSpPr>
        <p:spPr>
          <a:xfrm>
            <a:off x="841248" y="3154680"/>
            <a:ext cx="10561320" cy="32004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41248" y="113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272"/>
                </a:solidFill>
              </a:rPr>
              <a:t>Perspectives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841248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MEMOIRE/online_icons/studen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2416" y="1793240"/>
            <a:ext cx="786384" cy="7863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84248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Module étudiant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1984248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Espace dédié</a:t>
            </a:r>
            <a:endParaRPr lang="en-US" sz="1400" b="1" dirty="0"/>
          </a:p>
        </p:txBody>
      </p:sp>
      <p:sp>
        <p:nvSpPr>
          <p:cNvPr id="31" name="Shape 24"/>
          <p:cNvSpPr/>
          <p:nvPr/>
        </p:nvSpPr>
        <p:spPr>
          <a:xfrm>
            <a:off x="3639312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MEMOIRE/online_icons/gmai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840480" y="1793240"/>
            <a:ext cx="786384" cy="7863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82312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4782312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Email / SMS</a:t>
            </a:r>
            <a:endParaRPr lang="en-US" sz="1400" b="1" dirty="0"/>
          </a:p>
        </p:txBody>
      </p:sp>
      <p:sp>
        <p:nvSpPr>
          <p:cNvPr id="35" name="Shape 27"/>
          <p:cNvSpPr/>
          <p:nvPr/>
        </p:nvSpPr>
        <p:spPr>
          <a:xfrm>
            <a:off x="6437376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MEMOIRE/online_icons/strip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638544" y="1793240"/>
            <a:ext cx="786384" cy="7863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80376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Paiement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7580376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Mobile money</a:t>
            </a:r>
            <a:endParaRPr lang="en-US" sz="1400" b="1" dirty="0"/>
          </a:p>
        </p:txBody>
      </p:sp>
      <p:sp>
        <p:nvSpPr>
          <p:cNvPr id="39" name="Shape 30"/>
          <p:cNvSpPr/>
          <p:nvPr/>
        </p:nvSpPr>
        <p:spPr>
          <a:xfrm>
            <a:off x="9235440" y="1592072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31"/>
          <p:cNvSpPr txBox="1"/>
          <p:nvPr/>
        </p:nvSpPr>
        <p:spPr>
          <a:xfrm>
            <a:off x="10378440" y="1829816"/>
            <a:ext cx="145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4272"/>
                </a:solidFill>
              </a:rPr>
              <a:t>Signature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10378440" y="2195576"/>
            <a:ext cx="145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Enseignants</a:t>
            </a:r>
          </a:p>
        </p:txBody>
      </p:sp>
      <p:pic>
        <p:nvPicPr>
          <p:cNvPr id="43" name="Picture 42" descr="clock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4241800"/>
            <a:ext cx="786384" cy="786384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6608" y="1793240"/>
            <a:ext cx="786384" cy="786384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47472" y="6565392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Oval 182"/>
          <p:cNvSpPr/>
          <p:nvPr/>
        </p:nvSpPr>
        <p:spPr>
          <a:xfrm>
            <a:off x="7772400" y="61331"/>
            <a:ext cx="3657600" cy="3657600"/>
          </a:xfrm>
          <a:prstGeom prst="ellipse">
            <a:avLst/>
          </a:prstGeom>
          <a:solidFill>
            <a:srgbClr val="0F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183"/>
          <p:cNvSpPr/>
          <p:nvPr/>
        </p:nvSpPr>
        <p:spPr>
          <a:xfrm>
            <a:off x="338328" y="155448"/>
            <a:ext cx="1481328" cy="749808"/>
          </a:xfrm>
          <a:prstGeom prst="roundRect">
            <a:avLst>
              <a:gd name="adj" fmla="val 12000"/>
            </a:avLst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5" name="Picture 18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3464"/>
            <a:ext cx="1344168" cy="393192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384048" y="1315397"/>
            <a:ext cx="261796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1868AB"/>
                </a:solidFill>
                <a:latin typeface="Aptos"/>
              </a:rPr>
              <a:t>PROJET DE FIN DE CYCLE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84048" y="1737360"/>
            <a:ext cx="5532120" cy="1325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F4272"/>
                </a:solidFill>
                <a:latin typeface="Aptos Display"/>
              </a:rPr>
              <a:t>Merci pour</a:t>
            </a:r>
            <a:br/>
            <a:r>
              <a:rPr sz="3400" b="1">
                <a:solidFill>
                  <a:srgbClr val="0F4272"/>
                </a:solidFill>
                <a:latin typeface="Aptos Display"/>
              </a:rPr>
              <a:t>votre attention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84048" y="3246120"/>
            <a:ext cx="960120" cy="64008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384048" y="3529584"/>
            <a:ext cx="219456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1868AB"/>
                </a:solidFill>
                <a:latin typeface="Aptos Display"/>
              </a:rPr>
              <a:t>EduTrack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84048" y="4133754"/>
            <a:ext cx="3760260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>
                <a:solidFill>
                  <a:srgbClr val="304152"/>
                </a:solidFill>
                <a:latin typeface="Aptos"/>
              </a:rPr>
              <a:t>Une solution web et mobile pour un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suivi</a:t>
            </a:r>
            <a:br>
              <a:rPr b="1" dirty="0"/>
            </a:br>
            <a:r>
              <a:rPr sz="16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 plus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fiable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 et plus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fluide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93776" y="5824728"/>
            <a:ext cx="31546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MOUSSA BALLA KEITA  ·  AYA BOURAMA</a:t>
            </a:r>
          </a:p>
        </p:txBody>
      </p:sp>
      <p:sp>
        <p:nvSpPr>
          <p:cNvPr id="196" name="Oval 195"/>
          <p:cNvSpPr/>
          <p:nvPr/>
        </p:nvSpPr>
        <p:spPr>
          <a:xfrm>
            <a:off x="4890030" y="2545937"/>
            <a:ext cx="2148840" cy="4160520"/>
          </a:xfrm>
          <a:prstGeom prst="ellipse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5A6E80"/>
                </a:solidFill>
                <a:latin typeface="Aptos"/>
              </a:rPr>
              <a:t>09 / 09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336</Words>
  <Application>Microsoft Office PowerPoint</Application>
  <PresentationFormat>Widescreen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INTEC 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EduTrack soutenance 3</dc:title>
  <dc:subject>Soutenance EduTrack</dc:subject>
  <dc:creator>EduTrack</dc:creator>
  <cp:lastModifiedBy>Bourama Aya</cp:lastModifiedBy>
  <cp:revision>36</cp:revision>
  <dcterms:created xsi:type="dcterms:W3CDTF">2026-07-12T14:22:44Z</dcterms:created>
  <dcterms:modified xsi:type="dcterms:W3CDTF">2026-08-27T14:37:23Z</dcterms:modified>
</cp:coreProperties>
</file>