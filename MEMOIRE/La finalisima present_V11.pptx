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rama Aya" userId="bc3cf622bba950c8" providerId="LiveId" clId="{80D05DEE-435E-45B8-940D-BDCD6398AD36}"/>
    <pc:docChg chg="modSld">
      <pc:chgData name="Bourama Aya" userId="bc3cf622bba950c8" providerId="LiveId" clId="{80D05DEE-435E-45B8-940D-BDCD6398AD36}" dt="2026-08-22T15:09:59.832" v="57" actId="255"/>
      <pc:docMkLst>
        <pc:docMk/>
      </pc:docMkLst>
      <pc:sldChg chg="addSp delSp modSp mod">
        <pc:chgData name="Bourama Aya" userId="bc3cf622bba950c8" providerId="LiveId" clId="{80D05DEE-435E-45B8-940D-BDCD6398AD36}" dt="2026-08-22T15:09:59.832" v="57" actId="255"/>
        <pc:sldMkLst>
          <pc:docMk/>
          <pc:sldMk cId="0" sldId="256"/>
        </pc:sldMkLst>
        <pc:spChg chg="mod">
          <ac:chgData name="Bourama Aya" userId="bc3cf622bba950c8" providerId="LiveId" clId="{80D05DEE-435E-45B8-940D-BDCD6398AD36}" dt="2026-08-11T20:25:47.160" v="29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5:20.977" v="28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Bourama Aya" userId="bc3cf622bba950c8" providerId="LiveId" clId="{80D05DEE-435E-45B8-940D-BDCD6398AD36}" dt="2026-08-22T15:09:45.677" v="55" actId="255"/>
          <ac:spMkLst>
            <pc:docMk/>
            <pc:sldMk cId="0" sldId="256"/>
            <ac:spMk id="16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6:56.661" v="42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Bourama Aya" userId="bc3cf622bba950c8" providerId="LiveId" clId="{80D05DEE-435E-45B8-940D-BDCD6398AD36}" dt="2026-08-22T15:09:59.832" v="57" actId="255"/>
          <ac:spMkLst>
            <pc:docMk/>
            <pc:sldMk cId="0" sldId="256"/>
            <ac:spMk id="19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7:02.160" v="43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6:48.134" v="39" actId="1076"/>
          <ac:spMkLst>
            <pc:docMk/>
            <pc:sldMk cId="0" sldId="256"/>
            <ac:spMk id="32" creationId="{00000000-0000-0000-0000-000000000000}"/>
          </ac:spMkLst>
        </pc:spChg>
        <pc:picChg chg="mod">
          <ac:chgData name="Bourama Aya" userId="bc3cf622bba950c8" providerId="LiveId" clId="{80D05DEE-435E-45B8-940D-BDCD6398AD36}" dt="2026-08-11T20:26:45.198" v="38" actId="1076"/>
          <ac:picMkLst>
            <pc:docMk/>
            <pc:sldMk cId="0" sldId="256"/>
            <ac:picMk id="3" creationId="{00000000-0000-0000-0000-000000000000}"/>
          </ac:picMkLst>
        </pc:picChg>
        <pc:picChg chg="mod">
          <ac:chgData name="Bourama Aya" userId="bc3cf622bba950c8" providerId="LiveId" clId="{80D05DEE-435E-45B8-940D-BDCD6398AD36}" dt="2026-08-11T20:26:51.119" v="40" actId="1076"/>
          <ac:picMkLst>
            <pc:docMk/>
            <pc:sldMk cId="0" sldId="256"/>
            <ac:picMk id="4" creationId="{00000000-0000-0000-0000-000000000000}"/>
          </ac:picMkLst>
        </pc:picChg>
        <pc:picChg chg="mod">
          <ac:chgData name="Bourama Aya" userId="bc3cf622bba950c8" providerId="LiveId" clId="{80D05DEE-435E-45B8-940D-BDCD6398AD36}" dt="2026-08-11T20:25:15.178" v="27" actId="1076"/>
          <ac:picMkLst>
            <pc:docMk/>
            <pc:sldMk cId="0" sldId="256"/>
            <ac:picMk id="11" creationId="{00000000-0000-0000-0000-000000000000}"/>
          </ac:picMkLst>
        </pc:picChg>
      </pc:sldChg>
      <pc:sldChg chg="modTransition">
        <pc:chgData name="Bourama Aya" userId="bc3cf622bba950c8" providerId="LiveId" clId="{80D05DEE-435E-45B8-940D-BDCD6398AD36}" dt="2026-08-05T22:27:19.439" v="3"/>
        <pc:sldMkLst>
          <pc:docMk/>
          <pc:sldMk cId="0" sldId="257"/>
        </pc:sldMkLst>
      </pc:sldChg>
      <pc:sldChg chg="modTransition">
        <pc:chgData name="Bourama Aya" userId="bc3cf622bba950c8" providerId="LiveId" clId="{80D05DEE-435E-45B8-940D-BDCD6398AD36}" dt="2026-08-05T22:27:24.957" v="4"/>
        <pc:sldMkLst>
          <pc:docMk/>
          <pc:sldMk cId="0" sldId="258"/>
        </pc:sldMkLst>
      </pc:sldChg>
      <pc:sldChg chg="modTransition">
        <pc:chgData name="Bourama Aya" userId="bc3cf622bba950c8" providerId="LiveId" clId="{80D05DEE-435E-45B8-940D-BDCD6398AD36}" dt="2026-08-05T22:27:28.822" v="5"/>
        <pc:sldMkLst>
          <pc:docMk/>
          <pc:sldMk cId="0" sldId="259"/>
        </pc:sldMkLst>
      </pc:sldChg>
      <pc:sldChg chg="modTransition">
        <pc:chgData name="Bourama Aya" userId="bc3cf622bba950c8" providerId="LiveId" clId="{80D05DEE-435E-45B8-940D-BDCD6398AD36}" dt="2026-08-05T22:27:32.641" v="6"/>
        <pc:sldMkLst>
          <pc:docMk/>
          <pc:sldMk cId="0" sldId="260"/>
        </pc:sldMkLst>
      </pc:sldChg>
      <pc:sldChg chg="modTransition">
        <pc:chgData name="Bourama Aya" userId="bc3cf622bba950c8" providerId="LiveId" clId="{80D05DEE-435E-45B8-940D-BDCD6398AD36}" dt="2026-08-05T22:27:39.585" v="7"/>
        <pc:sldMkLst>
          <pc:docMk/>
          <pc:sldMk cId="0" sldId="261"/>
        </pc:sldMkLst>
      </pc:sldChg>
      <pc:sldChg chg="modTransition">
        <pc:chgData name="Bourama Aya" userId="bc3cf622bba950c8" providerId="LiveId" clId="{80D05DEE-435E-45B8-940D-BDCD6398AD36}" dt="2026-08-11T20:23:57.272" v="24"/>
        <pc:sldMkLst>
          <pc:docMk/>
          <pc:sldMk cId="0" sldId="263"/>
        </pc:sldMkLst>
      </pc:sldChg>
      <pc:sldChg chg="modTransition">
        <pc:chgData name="Bourama Aya" userId="bc3cf622bba950c8" providerId="LiveId" clId="{80D05DEE-435E-45B8-940D-BDCD6398AD36}" dt="2026-08-11T20:24:06.305" v="26"/>
        <pc:sldMkLst>
          <pc:docMk/>
          <pc:sldMk cId="0" sldId="264"/>
        </pc:sldMkLst>
      </pc:sldChg>
      <pc:sldChg chg="modTransition">
        <pc:chgData name="Bourama Aya" userId="bc3cf622bba950c8" providerId="LiveId" clId="{80D05DEE-435E-45B8-940D-BDCD6398AD36}" dt="2026-08-05T22:28:21.707" v="11"/>
        <pc:sldMkLst>
          <pc:docMk/>
          <pc:sldMk cId="0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4131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12" Type="http://schemas.openxmlformats.org/officeDocument/2006/relationships/image" Target="../media/image3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svg"/><Relationship Id="rId11" Type="http://schemas.openxmlformats.org/officeDocument/2006/relationships/image" Target="../media/image31.svg"/><Relationship Id="rId5" Type="http://schemas.openxmlformats.org/officeDocument/2006/relationships/image" Target="../media/image26.svg"/><Relationship Id="rId10" Type="http://schemas.openxmlformats.org/officeDocument/2006/relationships/image" Target="../media/image30.svg"/><Relationship Id="rId4" Type="http://schemas.openxmlformats.org/officeDocument/2006/relationships/image" Target="../media/image25.svg"/><Relationship Id="rId9" Type="http://schemas.openxmlformats.org/officeDocument/2006/relationships/image" Target="../media/image2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1.png"/><Relationship Id="rId7" Type="http://schemas.openxmlformats.org/officeDocument/2006/relationships/image" Target="../media/image3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5" Type="http://schemas.openxmlformats.org/officeDocument/2006/relationships/image" Target="../media/image34.svg"/><Relationship Id="rId10" Type="http://schemas.openxmlformats.org/officeDocument/2006/relationships/image" Target="../media/image39.png"/><Relationship Id="rId4" Type="http://schemas.openxmlformats.org/officeDocument/2006/relationships/image" Target="../media/image33.svg"/><Relationship Id="rId9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-1828800" y="-1828800"/>
            <a:ext cx="5486040" cy="5486040"/>
          </a:xfrm>
          <a:prstGeom prst="ellipse">
            <a:avLst/>
          </a:prstGeom>
          <a:solidFill>
            <a:srgbClr val="3B82F6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9144000" y="3657600"/>
            <a:ext cx="5486040" cy="5486040"/>
          </a:xfrm>
          <a:prstGeom prst="ellipse">
            <a:avLst/>
          </a:prstGeom>
          <a:solidFill>
            <a:srgbClr val="06B6D4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345120" y="101119"/>
            <a:ext cx="1645560" cy="823452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Image 0" descr="backend/edutrack/src/main/resources/images/logo_INTEC_nom_Horizon-1-3-1.png"/>
          <p:cNvPicPr/>
          <p:nvPr/>
        </p:nvPicPr>
        <p:blipFill>
          <a:blip r:embed="rId3"/>
          <a:stretch/>
        </p:blipFill>
        <p:spPr>
          <a:xfrm>
            <a:off x="381960" y="330514"/>
            <a:ext cx="1462680" cy="422574"/>
          </a:xfrm>
          <a:prstGeom prst="rect">
            <a:avLst/>
          </a:prstGeom>
          <a:ln w="0">
            <a:noFill/>
          </a:ln>
        </p:spPr>
      </p:pic>
      <p:sp>
        <p:nvSpPr>
          <p:cNvPr id="12" name="Text 3"/>
          <p:cNvSpPr/>
          <p:nvPr/>
        </p:nvSpPr>
        <p:spPr>
          <a:xfrm>
            <a:off x="345120" y="1478292"/>
            <a:ext cx="10332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06B6D4"/>
                </a:solidFill>
                <a:latin typeface="Calibri"/>
              </a:rPr>
              <a:t>PROJET DE FIN DE CYCLE</a:t>
            </a:r>
            <a:endParaRPr lang="fr-FR" sz="1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281877" y="1798037"/>
            <a:ext cx="103323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strike="noStrike" spc="-1" dirty="0" err="1">
                <a:solidFill>
                  <a:srgbClr val="FFFFFF"/>
                </a:solidFill>
                <a:latin typeface="Calibri"/>
              </a:rPr>
              <a:t>EduTrack</a:t>
            </a:r>
            <a:endParaRPr lang="fr-FR" sz="7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381960" y="3403080"/>
            <a:ext cx="566892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CONCEPTION ET DÉVELOPPEMENT D'UNE APPLICATION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WEB ET MOBILE DE SUIVI PÉDAGOGIQUE ET DE CALCUL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DES HONORAIRES DES ENSEIGNANTS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6"/>
          <p:cNvSpPr/>
          <p:nvPr/>
        </p:nvSpPr>
        <p:spPr>
          <a:xfrm>
            <a:off x="0" y="5404811"/>
            <a:ext cx="4114440" cy="109692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1097280" y="5055262"/>
            <a:ext cx="3657240" cy="293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 dirty="0" err="1">
                <a:solidFill>
                  <a:schemeClr val="bg1"/>
                </a:solidFill>
                <a:latin typeface="Calibri"/>
              </a:rPr>
              <a:t>Présenté</a:t>
            </a:r>
            <a:r>
              <a:rPr lang="en-US" sz="1600" b="0" strike="noStrike" spc="-1" dirty="0">
                <a:solidFill>
                  <a:schemeClr val="bg1"/>
                </a:solidFill>
                <a:latin typeface="Calibri"/>
              </a:rPr>
              <a:t> par</a:t>
            </a:r>
            <a:endParaRPr lang="fr-FR" sz="16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40440" y="5688802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MOUSSA BALLA KEITA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AYA BOURAMA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9"/>
          <p:cNvSpPr/>
          <p:nvPr/>
        </p:nvSpPr>
        <p:spPr>
          <a:xfrm>
            <a:off x="6757118" y="5446162"/>
            <a:ext cx="4114440" cy="103356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0"/>
          <p:cNvSpPr/>
          <p:nvPr/>
        </p:nvSpPr>
        <p:spPr>
          <a:xfrm>
            <a:off x="6757118" y="5030340"/>
            <a:ext cx="3657240" cy="293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 dirty="0">
                <a:solidFill>
                  <a:schemeClr val="bg1"/>
                </a:solidFill>
                <a:latin typeface="Calibri"/>
              </a:rPr>
              <a:t>Sous la direction de</a:t>
            </a:r>
            <a:endParaRPr lang="fr-FR" sz="16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0" name="Text 11"/>
          <p:cNvSpPr/>
          <p:nvPr/>
        </p:nvSpPr>
        <p:spPr>
          <a:xfrm>
            <a:off x="6501142" y="5664213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M. </a:t>
            </a:r>
            <a:r>
              <a:rPr lang="en-US" sz="1800" b="1" strike="noStrike" spc="-1" dirty="0" err="1">
                <a:solidFill>
                  <a:srgbClr val="FFFFFF"/>
                </a:solidFill>
                <a:latin typeface="Calibri"/>
              </a:rPr>
              <a:t>MOUHAMOUD</a:t>
            </a: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 DEMBELE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INTEC SUP - 2025/2026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Shape 8"/>
          <p:cNvSpPr/>
          <p:nvPr/>
        </p:nvSpPr>
        <p:spPr>
          <a:xfrm>
            <a:off x="6320700" y="212973"/>
            <a:ext cx="5668920" cy="3382920"/>
          </a:xfrm>
          <a:prstGeom prst="roundRect">
            <a:avLst>
              <a:gd name="adj" fmla="val 1351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Image 2"/>
          <p:cNvPicPr/>
          <p:nvPr/>
        </p:nvPicPr>
        <p:blipFill>
          <a:blip r:embed="rId4"/>
          <a:stretch/>
        </p:blipFill>
        <p:spPr>
          <a:xfrm>
            <a:off x="6361552" y="289245"/>
            <a:ext cx="5587216" cy="3246151"/>
          </a:xfrm>
          <a:prstGeom prst="rect">
            <a:avLst/>
          </a:prstGeom>
          <a:ln w="0">
            <a:noFill/>
          </a:ln>
        </p:spPr>
      </p:pic>
      <p:sp>
        <p:nvSpPr>
          <p:cNvPr id="32" name="Shape 9"/>
          <p:cNvSpPr/>
          <p:nvPr/>
        </p:nvSpPr>
        <p:spPr>
          <a:xfrm>
            <a:off x="10075399" y="1843545"/>
            <a:ext cx="1737000" cy="3657240"/>
          </a:xfrm>
          <a:prstGeom prst="roundRect">
            <a:avLst>
              <a:gd name="adj" fmla="val 7895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" name="Image 2" descr="MEMOIRE/Capture d'ecran application web et mobile/Screenshot_20260702_213134_mobile-ionic.jpg"/>
          <p:cNvPicPr/>
          <p:nvPr/>
        </p:nvPicPr>
        <p:blipFill>
          <a:blip r:embed="rId5"/>
          <a:stretch/>
        </p:blipFill>
        <p:spPr>
          <a:xfrm>
            <a:off x="10166839" y="1962131"/>
            <a:ext cx="1554120" cy="3474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75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9832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Problématique &amp; objectifs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2 / 9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1325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</a:rPr>
              <a:t>Avant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58368" y="1810512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MEMOIRE/online_icons/googlesheet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859536" y="1856232"/>
            <a:ext cx="786384" cy="786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01368" y="204825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Feuilles Excel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1801368" y="24140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Suivi dispersé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35508" y="2926080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MEMOIRE/online_icons/readthedoc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45820" y="3022092"/>
            <a:ext cx="786384" cy="7863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01368" y="316382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Formulaires papier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1801368" y="35295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Saisie manuelle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" y="4041648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23" name="Image 3" descr="MEMOIRE/online_icons/databricks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45820" y="4114112"/>
            <a:ext cx="786384" cy="7863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801368" y="4279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Données isolées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801368" y="464515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Peu de traçabilité</a:t>
            </a:r>
            <a:endParaRPr lang="en-US" sz="1250" dirty="0"/>
          </a:p>
        </p:txBody>
      </p:sp>
      <p:sp>
        <p:nvSpPr>
          <p:cNvPr id="26" name="TextBox 25"/>
          <p:cNvSpPr txBox="1"/>
          <p:nvPr/>
        </p:nvSpPr>
        <p:spPr>
          <a:xfrm>
            <a:off x="5500000" y="1325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2C55E"/>
                </a:solidFill>
              </a:rPr>
              <a:t>Objectifs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00000" y="1810512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one_centralis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1168" y="1856232"/>
            <a:ext cx="786384" cy="78638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43000" y="2048256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Centraliser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3000" y="2375512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Tout au même endroit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0000" y="2926080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one_fiabili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1168" y="2971800"/>
            <a:ext cx="786384" cy="7863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43000" y="3163824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Fiabiliser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3000" y="3491080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Données vérifiées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00000" y="4041648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cone_automatis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1168" y="4087368"/>
            <a:ext cx="786384" cy="7863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43000" y="4279392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Automatiser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3000" y="4606648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Calculs et rapports</a:t>
            </a:r>
          </a:p>
        </p:txBody>
      </p:sp>
      <p:pic>
        <p:nvPicPr>
          <p:cNvPr id="39" name="Picture 38" descr="arrow_r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0000" y="3000000"/>
            <a:ext cx="800000" cy="500000"/>
          </a:xfrm>
          <a:prstGeom prst="rect">
            <a:avLst/>
          </a:prstGeom>
        </p:spPr>
      </p:pic>
    </p:spTree>
  </p:cSld>
  <p:clrMapOvr>
    <a:masterClrMapping/>
  </p:clrMapOvr>
  <p:transition spd="slow">
    <p:randomBar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33192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Solution proposée : EduTrack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3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434840" y="1874520"/>
            <a:ext cx="3246120" cy="3246120"/>
          </a:xfrm>
          <a:prstGeom prst="ellipse">
            <a:avLst/>
          </a:prstGeom>
          <a:solidFill>
            <a:srgbClr val="3B82F6">
              <a:alpha val="86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mobile-ionic/src/assets/logo_edutra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62272" y="1865376"/>
            <a:ext cx="3246120" cy="32552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10912" y="39136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6B6D4"/>
                </a:solidFill>
              </a:rPr>
              <a:t>Web + Mobile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" y="137160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MEMOIRE/logos/angula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4400" y="1572768"/>
            <a:ext cx="786384" cy="7863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56232" y="160934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Administration web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56232" y="1975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Gestion, planning, suivi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13232" y="425196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MEMOIRE/online_icons/q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14400" y="4453128"/>
            <a:ext cx="786384" cy="7863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856232" y="448970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QR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1856232" y="485546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Scan rapide sur mobile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818120" y="137160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8"/>
          <p:cNvSpPr/>
          <p:nvPr/>
        </p:nvSpPr>
        <p:spPr>
          <a:xfrm>
            <a:off x="8961120" y="16093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Fiche de progression</a:t>
            </a:r>
            <a:endParaRPr lang="en-US" sz="1700" dirty="0"/>
          </a:p>
        </p:txBody>
      </p:sp>
      <p:sp>
        <p:nvSpPr>
          <p:cNvPr id="26" name="Text 19"/>
          <p:cNvSpPr/>
          <p:nvPr/>
        </p:nvSpPr>
        <p:spPr>
          <a:xfrm>
            <a:off x="8961120" y="19751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Séance et contenu réalisé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7818120" y="425196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5" descr="MEMOIRE/online_icons/cashap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019288" y="4453128"/>
            <a:ext cx="786384" cy="7863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961120" y="4489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8961120" y="48554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plus transparent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4059936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 rot="10800000">
            <a:off x="7461504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Picture 32" descr="fiche_progression_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9288" y="1572768"/>
            <a:ext cx="786384" cy="7863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43024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Fonctionnement du système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4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66928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014984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731520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58368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Planifier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13232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Créer la séance</a:t>
            </a:r>
            <a:endParaRPr lang="en-US" sz="1220" dirty="0"/>
          </a:p>
        </p:txBody>
      </p:sp>
      <p:sp>
        <p:nvSpPr>
          <p:cNvPr id="18" name="Shape 14"/>
          <p:cNvSpPr/>
          <p:nvPr/>
        </p:nvSpPr>
        <p:spPr>
          <a:xfrm>
            <a:off x="2423160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2871216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319272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3035808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B6D4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2962656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QR Code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3017520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Identifiant unique</a:t>
            </a:r>
            <a:endParaRPr lang="en-US" sz="1220" dirty="0"/>
          </a:p>
        </p:txBody>
      </p:sp>
      <p:sp>
        <p:nvSpPr>
          <p:cNvPr id="25" name="Shape 20"/>
          <p:cNvSpPr/>
          <p:nvPr/>
        </p:nvSpPr>
        <p:spPr>
          <a:xfrm>
            <a:off x="4727448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5175504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623560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824728" y="2029968"/>
            <a:ext cx="640080" cy="6400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40096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5266944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Scanner</a:t>
            </a:r>
            <a:endParaRPr lang="en-US" sz="1700" dirty="0"/>
          </a:p>
        </p:txBody>
      </p:sp>
      <p:sp>
        <p:nvSpPr>
          <p:cNvPr id="31" name="Text 25"/>
          <p:cNvSpPr/>
          <p:nvPr/>
        </p:nvSpPr>
        <p:spPr>
          <a:xfrm>
            <a:off x="5321808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Action mobile</a:t>
            </a:r>
            <a:endParaRPr lang="en-US" sz="1220" dirty="0"/>
          </a:p>
        </p:txBody>
      </p:sp>
      <p:sp>
        <p:nvSpPr>
          <p:cNvPr id="32" name="Shape 26"/>
          <p:cNvSpPr/>
          <p:nvPr/>
        </p:nvSpPr>
        <p:spPr>
          <a:xfrm>
            <a:off x="7031736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7479792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7927848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9"/>
          <p:cNvSpPr/>
          <p:nvPr/>
        </p:nvSpPr>
        <p:spPr>
          <a:xfrm>
            <a:off x="7644384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4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7571232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Valider</a:t>
            </a:r>
            <a:endParaRPr lang="en-US" sz="1700" dirty="0"/>
          </a:p>
        </p:txBody>
      </p:sp>
      <p:sp>
        <p:nvSpPr>
          <p:cNvPr id="38" name="Text 31"/>
          <p:cNvSpPr/>
          <p:nvPr/>
        </p:nvSpPr>
        <p:spPr>
          <a:xfrm>
            <a:off x="7626096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Trace fiable</a:t>
            </a:r>
            <a:endParaRPr lang="en-US" sz="1220" dirty="0"/>
          </a:p>
        </p:txBody>
      </p:sp>
      <p:sp>
        <p:nvSpPr>
          <p:cNvPr id="39" name="Shape 32"/>
          <p:cNvSpPr/>
          <p:nvPr/>
        </p:nvSpPr>
        <p:spPr>
          <a:xfrm>
            <a:off x="9336024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3"/>
          <p:cNvSpPr/>
          <p:nvPr/>
        </p:nvSpPr>
        <p:spPr>
          <a:xfrm>
            <a:off x="9784080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4"/>
          <p:cNvSpPr/>
          <p:nvPr/>
        </p:nvSpPr>
        <p:spPr>
          <a:xfrm>
            <a:off x="10232136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433304" y="2029968"/>
            <a:ext cx="640080" cy="6400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9948672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</a:rPr>
              <a:t>5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9875520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Calculer</a:t>
            </a:r>
            <a:endParaRPr lang="en-US" sz="1700" dirty="0"/>
          </a:p>
        </p:txBody>
      </p:sp>
      <p:sp>
        <p:nvSpPr>
          <p:cNvPr id="45" name="Text 37"/>
          <p:cNvSpPr/>
          <p:nvPr/>
        </p:nvSpPr>
        <p:spPr>
          <a:xfrm>
            <a:off x="9930384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Honoraires</a:t>
            </a:r>
            <a:endParaRPr lang="en-US" sz="1220" dirty="0"/>
          </a:p>
        </p:txBody>
      </p:sp>
      <p:sp>
        <p:nvSpPr>
          <p:cNvPr id="46" name="Text 38"/>
          <p:cNvSpPr/>
          <p:nvPr/>
        </p:nvSpPr>
        <p:spPr>
          <a:xfrm>
            <a:off x="1920240" y="55321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4A3B8"/>
                </a:solidFill>
              </a:rPr>
              <a:t>Le public écoute le scénario pendant que la slide montre uniquement le flux.</a:t>
            </a:r>
            <a:endParaRPr lang="en-US" sz="1500" dirty="0"/>
          </a:p>
        </p:txBody>
      </p:sp>
      <p:pic>
        <p:nvPicPr>
          <p:cNvPr id="48" name="Picture 47" descr="planifier_ic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152" y="2029968"/>
            <a:ext cx="640080" cy="640080"/>
          </a:xfrm>
          <a:prstGeom prst="rect">
            <a:avLst/>
          </a:prstGeom>
        </p:spPr>
      </p:pic>
      <p:pic>
        <p:nvPicPr>
          <p:cNvPr id="49" name="Picture 48" descr="qrcode_ic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2029968"/>
            <a:ext cx="640080" cy="64008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9016" y="2029968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3E12D51-A84A-18D6-D4FF-75EC1E2A91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D1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D19CD38-FE71-2906-AA99-C76CAF72A0DC}"/>
              </a:ext>
            </a:extLst>
          </p:cNvPr>
          <p:cNvSpPr/>
          <p:nvPr/>
        </p:nvSpPr>
        <p:spPr>
          <a:xfrm>
            <a:off x="8763000" y="1524000"/>
            <a:ext cx="5334000" cy="5334000"/>
          </a:xfrm>
          <a:prstGeom prst="ellipse">
            <a:avLst/>
          </a:prstGeom>
          <a:solidFill>
            <a:srgbClr val="0C1834">
              <a:alpha val="5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80AEC5C-1934-FB41-3469-B00ED9E1C1CB}"/>
              </a:ext>
            </a:extLst>
          </p:cNvPr>
          <p:cNvSpPr/>
          <p:nvPr/>
        </p:nvSpPr>
        <p:spPr>
          <a:xfrm>
            <a:off x="3302000" y="1524000"/>
            <a:ext cx="6604000" cy="6604000"/>
          </a:xfrm>
          <a:prstGeom prst="ellipse">
            <a:avLst/>
          </a:prstGeom>
          <a:solidFill>
            <a:srgbClr val="0F172A">
              <a:alpha val="2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0CAA12-6401-FFCD-1C3F-C7C012AA76D6}"/>
              </a:ext>
            </a:extLst>
          </p:cNvPr>
          <p:cNvSpPr txBox="1"/>
          <p:nvPr/>
        </p:nvSpPr>
        <p:spPr>
          <a:xfrm>
            <a:off x="736600" y="482600"/>
            <a:ext cx="7874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2900" b="1" dirty="0">
                <a:solidFill>
                  <a:srgbClr val="FFFFFF"/>
                </a:solidFill>
                <a:latin typeface="Aptos" panose="020B0004020202020204" pitchFamily="34" charset="0"/>
              </a:rPr>
              <a:t>Architecture technique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5C14E7-9006-1832-215C-1AAB924F569B}"/>
              </a:ext>
            </a:extLst>
          </p:cNvPr>
          <p:cNvSpPr/>
          <p:nvPr/>
        </p:nvSpPr>
        <p:spPr>
          <a:xfrm>
            <a:off x="762000" y="1193800"/>
            <a:ext cx="1905000" cy="762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481C299D-92FD-8617-4226-14EE41FB9E83}"/>
              </a:ext>
            </a:extLst>
          </p:cNvPr>
          <p:cNvCxnSpPr/>
          <p:nvPr/>
        </p:nvCxnSpPr>
        <p:spPr>
          <a:xfrm>
            <a:off x="660400" y="6324600"/>
            <a:ext cx="108712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4A72CB6A-E367-A464-A06F-F93FF498171B}"/>
              </a:ext>
            </a:extLst>
          </p:cNvPr>
          <p:cNvSpPr txBox="1"/>
          <p:nvPr/>
        </p:nvSpPr>
        <p:spPr>
          <a:xfrm>
            <a:off x="673100" y="6477000"/>
            <a:ext cx="330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EduTrack - Projet de Licence 3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08121A8-B21F-38AA-02A5-66827246C4A3}"/>
              </a:ext>
            </a:extLst>
          </p:cNvPr>
          <p:cNvSpPr txBox="1"/>
          <p:nvPr/>
        </p:nvSpPr>
        <p:spPr>
          <a:xfrm>
            <a:off x="11023600" y="6477000"/>
            <a:ext cx="508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fr-FR" sz="1000" b="1">
                <a:solidFill>
                  <a:srgbClr val="00BCD4"/>
                </a:solidFill>
                <a:latin typeface="Aptos" panose="020B0004020202020204" pitchFamily="34" charset="0"/>
              </a:rPr>
              <a:t>5 / 9</a:t>
            </a:r>
          </a:p>
        </p:txBody>
      </p:sp>
      <p:pic>
        <p:nvPicPr>
          <p:cNvPr id="22" name="Image 0" descr="backend/edutrack/src/main/resources/images/logo_INTEC_nom_Horizon-1-3-1.png">
            <a:extLst>
              <a:ext uri="{FF2B5EF4-FFF2-40B4-BE49-F238E27FC236}">
                <a16:creationId xmlns:a16="http://schemas.microsoft.com/office/drawing/2014/main" id="{005307D4-6BFC-949F-F519-900D8A9C90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F96FBBC-A736-283A-3BF9-12A17E489403}"/>
              </a:ext>
            </a:extLst>
          </p:cNvPr>
          <p:cNvSpPr txBox="1"/>
          <p:nvPr/>
        </p:nvSpPr>
        <p:spPr>
          <a:xfrm>
            <a:off x="736600" y="1473200"/>
            <a:ext cx="10668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300">
                <a:solidFill>
                  <a:srgbClr val="94A3B8"/>
                </a:solidFill>
                <a:latin typeface="Aptos" panose="020B0004020202020204" pitchFamily="34" charset="0"/>
              </a:rPr>
              <a:t>Modèle MVC simplifié du système EduTrack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A413A29C-02AA-8568-38D1-87ADFD41F0AD}"/>
              </a:ext>
            </a:extLst>
          </p:cNvPr>
          <p:cNvSpPr/>
          <p:nvPr/>
        </p:nvSpPr>
        <p:spPr>
          <a:xfrm>
            <a:off x="952500" y="2070100"/>
            <a:ext cx="1587500" cy="2667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4B44ABFC-EEDF-BDD5-6C5E-1C05F895BDE7}"/>
              </a:ext>
            </a:extLst>
          </p:cNvPr>
          <p:cNvSpPr txBox="1"/>
          <p:nvPr/>
        </p:nvSpPr>
        <p:spPr>
          <a:xfrm>
            <a:off x="1244600" y="2362200"/>
            <a:ext cx="9906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200" b="1">
                <a:solidFill>
                  <a:srgbClr val="00BCD4"/>
                </a:solidFill>
                <a:latin typeface="Aptos" panose="020B0004020202020204" pitchFamily="34" charset="0"/>
              </a:rPr>
              <a:t>ACTEURS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FBA2B8E2-4DB7-E60C-1F47-6317C9399EBA}"/>
              </a:ext>
            </a:extLst>
          </p:cNvPr>
          <p:cNvSpPr/>
          <p:nvPr/>
        </p:nvSpPr>
        <p:spPr>
          <a:xfrm>
            <a:off x="1549400" y="2946400"/>
            <a:ext cx="381000" cy="381000"/>
          </a:xfrm>
          <a:prstGeom prst="ellipse">
            <a:avLst/>
          </a:prstGeom>
          <a:solidFill>
            <a:srgbClr val="14B8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A6322126-2E5D-2D23-FF22-4B3412B8CFD7}"/>
              </a:ext>
            </a:extLst>
          </p:cNvPr>
          <p:cNvSpPr/>
          <p:nvPr/>
        </p:nvSpPr>
        <p:spPr>
          <a:xfrm>
            <a:off x="1295400" y="3390900"/>
            <a:ext cx="889000" cy="6096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9872179B-A1FF-B3B1-9547-33EFB681E438}"/>
              </a:ext>
            </a:extLst>
          </p:cNvPr>
          <p:cNvSpPr txBox="1"/>
          <p:nvPr/>
        </p:nvSpPr>
        <p:spPr>
          <a:xfrm>
            <a:off x="1219200" y="4191000"/>
            <a:ext cx="10414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Admin / Enseignant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F4123FB0-BF2B-A9B6-5C93-202200BAB2A9}"/>
              </a:ext>
            </a:extLst>
          </p:cNvPr>
          <p:cNvSpPr/>
          <p:nvPr/>
        </p:nvSpPr>
        <p:spPr>
          <a:xfrm>
            <a:off x="3111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C97C7238-5494-665A-04A8-FD2E6819A3DB}"/>
              </a:ext>
            </a:extLst>
          </p:cNvPr>
          <p:cNvSpPr txBox="1"/>
          <p:nvPr/>
        </p:nvSpPr>
        <p:spPr>
          <a:xfrm>
            <a:off x="3733800" y="2108200"/>
            <a:ext cx="10414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00BCD4"/>
                </a:solidFill>
                <a:latin typeface="Aptos" panose="020B0004020202020204" pitchFamily="34" charset="0"/>
              </a:rPr>
              <a:t>VUE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0E2D3723-73E1-9EB4-9A8E-A67105101FC8}"/>
              </a:ext>
            </a:extLst>
          </p:cNvPr>
          <p:cNvSpPr txBox="1"/>
          <p:nvPr/>
        </p:nvSpPr>
        <p:spPr>
          <a:xfrm>
            <a:off x="3505200" y="2489200"/>
            <a:ext cx="1498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Web et mobile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30EFDF53-7ADC-80A0-D7C4-460604A94DB0}"/>
              </a:ext>
            </a:extLst>
          </p:cNvPr>
          <p:cNvSpPr/>
          <p:nvPr/>
        </p:nvSpPr>
        <p:spPr>
          <a:xfrm>
            <a:off x="3454400" y="2870200"/>
            <a:ext cx="1041400" cy="7874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F0B82C-AC60-1EF8-B38B-FEF088E2B664}"/>
              </a:ext>
            </a:extLst>
          </p:cNvPr>
          <p:cNvSpPr/>
          <p:nvPr/>
        </p:nvSpPr>
        <p:spPr>
          <a:xfrm>
            <a:off x="3454400" y="2870200"/>
            <a:ext cx="1041400" cy="2286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E4AE8CB9-C204-4599-CCFA-0AEDE436ED6E}"/>
              </a:ext>
            </a:extLst>
          </p:cNvPr>
          <p:cNvSpPr/>
          <p:nvPr/>
        </p:nvSpPr>
        <p:spPr>
          <a:xfrm>
            <a:off x="35814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33BC23CF-A8B1-76BB-7D65-200377837808}"/>
              </a:ext>
            </a:extLst>
          </p:cNvPr>
          <p:cNvSpPr/>
          <p:nvPr/>
        </p:nvSpPr>
        <p:spPr>
          <a:xfrm>
            <a:off x="37465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C38833-D127-CEC7-557B-FC3E073F7CF2}"/>
              </a:ext>
            </a:extLst>
          </p:cNvPr>
          <p:cNvSpPr/>
          <p:nvPr/>
        </p:nvSpPr>
        <p:spPr>
          <a:xfrm>
            <a:off x="39116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CF341352-95BD-6778-4A8F-D1EE58E31835}"/>
              </a:ext>
            </a:extLst>
          </p:cNvPr>
          <p:cNvSpPr/>
          <p:nvPr/>
        </p:nvSpPr>
        <p:spPr>
          <a:xfrm>
            <a:off x="3632200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4C700820-0EEE-83AC-1A84-E189525CD798}"/>
              </a:ext>
            </a:extLst>
          </p:cNvPr>
          <p:cNvSpPr/>
          <p:nvPr/>
        </p:nvSpPr>
        <p:spPr>
          <a:xfrm>
            <a:off x="3793067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8A7F9F3E-4FCC-C16C-ED76-FDBBAB9E4DBF}"/>
              </a:ext>
            </a:extLst>
          </p:cNvPr>
          <p:cNvSpPr/>
          <p:nvPr/>
        </p:nvSpPr>
        <p:spPr>
          <a:xfrm>
            <a:off x="3953933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18AC7EB8-BF33-F590-DF5E-D77F4C798621}"/>
              </a:ext>
            </a:extLst>
          </p:cNvPr>
          <p:cNvSpPr/>
          <p:nvPr/>
        </p:nvSpPr>
        <p:spPr>
          <a:xfrm>
            <a:off x="3670300" y="3937000"/>
            <a:ext cx="4318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55140E4E-7F2E-BC41-9A3C-884BC539E5B7}"/>
              </a:ext>
            </a:extLst>
          </p:cNvPr>
          <p:cNvSpPr/>
          <p:nvPr/>
        </p:nvSpPr>
        <p:spPr>
          <a:xfrm>
            <a:off x="3670300" y="4064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D919280C-E79C-A80B-207F-3B477E40F61E}"/>
              </a:ext>
            </a:extLst>
          </p:cNvPr>
          <p:cNvSpPr/>
          <p:nvPr/>
        </p:nvSpPr>
        <p:spPr>
          <a:xfrm>
            <a:off x="3670300" y="4191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A5CCF1A4-6154-33AF-A8AF-AD86422D7409}"/>
              </a:ext>
            </a:extLst>
          </p:cNvPr>
          <p:cNvSpPr/>
          <p:nvPr/>
        </p:nvSpPr>
        <p:spPr>
          <a:xfrm>
            <a:off x="3670300" y="4318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4EB3A4A-47C7-9E07-14AF-2D792285BD3B}"/>
              </a:ext>
            </a:extLst>
          </p:cNvPr>
          <p:cNvSpPr/>
          <p:nvPr/>
        </p:nvSpPr>
        <p:spPr>
          <a:xfrm>
            <a:off x="4533900" y="2705100"/>
            <a:ext cx="482600" cy="1117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B43EFC89-C0B9-B260-3345-5C7DBE62D9C6}"/>
              </a:ext>
            </a:extLst>
          </p:cNvPr>
          <p:cNvSpPr/>
          <p:nvPr/>
        </p:nvSpPr>
        <p:spPr>
          <a:xfrm>
            <a:off x="4610100" y="2832100"/>
            <a:ext cx="330200" cy="863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F5ABFC-A042-BDB5-97A1-9A1C93A58EF0}"/>
              </a:ext>
            </a:extLst>
          </p:cNvPr>
          <p:cNvSpPr/>
          <p:nvPr/>
        </p:nvSpPr>
        <p:spPr>
          <a:xfrm>
            <a:off x="4610100" y="2832100"/>
            <a:ext cx="3302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 : coins arrondis 50">
            <a:extLst>
              <a:ext uri="{FF2B5EF4-FFF2-40B4-BE49-F238E27FC236}">
                <a16:creationId xmlns:a16="http://schemas.microsoft.com/office/drawing/2014/main" id="{D7009B24-FA9D-24B3-8F77-6029AAB10D24}"/>
              </a:ext>
            </a:extLst>
          </p:cNvPr>
          <p:cNvSpPr/>
          <p:nvPr/>
        </p:nvSpPr>
        <p:spPr>
          <a:xfrm>
            <a:off x="4711700" y="32385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 : coins arrondis 51">
            <a:extLst>
              <a:ext uri="{FF2B5EF4-FFF2-40B4-BE49-F238E27FC236}">
                <a16:creationId xmlns:a16="http://schemas.microsoft.com/office/drawing/2014/main" id="{41D7D167-E4FC-5D10-2317-C9465E4FE2B4}"/>
              </a:ext>
            </a:extLst>
          </p:cNvPr>
          <p:cNvSpPr/>
          <p:nvPr/>
        </p:nvSpPr>
        <p:spPr>
          <a:xfrm>
            <a:off x="4711700" y="34544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2DC97589-8C3D-9DE7-59F1-DA800F565A05}"/>
              </a:ext>
            </a:extLst>
          </p:cNvPr>
          <p:cNvSpPr/>
          <p:nvPr/>
        </p:nvSpPr>
        <p:spPr>
          <a:xfrm>
            <a:off x="4711700" y="36703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4C5D8E39-0F2B-04AE-CB50-6678A66839A0}"/>
              </a:ext>
            </a:extLst>
          </p:cNvPr>
          <p:cNvSpPr/>
          <p:nvPr/>
        </p:nvSpPr>
        <p:spPr>
          <a:xfrm>
            <a:off x="4711700" y="38862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1009FDBF-6D30-6C96-3915-6AB093EA3DD8}"/>
              </a:ext>
            </a:extLst>
          </p:cNvPr>
          <p:cNvSpPr/>
          <p:nvPr/>
        </p:nvSpPr>
        <p:spPr>
          <a:xfrm>
            <a:off x="4711700" y="3238500"/>
            <a:ext cx="127000" cy="127000"/>
          </a:xfrm>
          <a:prstGeom prst="round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8" name="Graphique 57">
            <a:extLst>
              <a:ext uri="{FF2B5EF4-FFF2-40B4-BE49-F238E27FC236}">
                <a16:creationId xmlns:a16="http://schemas.microsoft.com/office/drawing/2014/main" id="{E7093606-D026-80D0-D5F1-D81816F885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6800" y="3873500"/>
            <a:ext cx="431800" cy="431800"/>
          </a:xfrm>
          <a:prstGeom prst="rect">
            <a:avLst/>
          </a:prstGeom>
        </p:spPr>
      </p:pic>
      <p:pic>
        <p:nvPicPr>
          <p:cNvPr id="60" name="Graphique 59">
            <a:extLst>
              <a:ext uri="{FF2B5EF4-FFF2-40B4-BE49-F238E27FC236}">
                <a16:creationId xmlns:a16="http://schemas.microsoft.com/office/drawing/2014/main" id="{DCF34814-8A15-45F9-6A9B-78AE580F324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91000" y="3873500"/>
            <a:ext cx="431800" cy="431800"/>
          </a:xfrm>
          <a:prstGeom prst="rect">
            <a:avLst/>
          </a:prstGeom>
        </p:spPr>
      </p:pic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A133CE21-46FD-C1F7-129A-EBE7885BAA37}"/>
              </a:ext>
            </a:extLst>
          </p:cNvPr>
          <p:cNvSpPr/>
          <p:nvPr/>
        </p:nvSpPr>
        <p:spPr>
          <a:xfrm>
            <a:off x="3581400" y="4508500"/>
            <a:ext cx="1346200" cy="317500"/>
          </a:xfrm>
          <a:prstGeom prst="roundRect">
            <a:avLst/>
          </a:prstGeom>
          <a:solidFill>
            <a:srgbClr val="00BCD4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10AABFE4-ACFE-B2F0-902E-0C0BF7934A4D}"/>
              </a:ext>
            </a:extLst>
          </p:cNvPr>
          <p:cNvSpPr txBox="1"/>
          <p:nvPr/>
        </p:nvSpPr>
        <p:spPr>
          <a:xfrm>
            <a:off x="3581400" y="45720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Angular + Ionic</a:t>
            </a: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97FE4477-706D-4B83-8125-66546EA2CE0D}"/>
              </a:ext>
            </a:extLst>
          </p:cNvPr>
          <p:cNvSpPr/>
          <p:nvPr/>
        </p:nvSpPr>
        <p:spPr>
          <a:xfrm>
            <a:off x="6159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813B5618-E909-7A1F-B139-4FD4964233F9}"/>
              </a:ext>
            </a:extLst>
          </p:cNvPr>
          <p:cNvSpPr txBox="1"/>
          <p:nvPr/>
        </p:nvSpPr>
        <p:spPr>
          <a:xfrm>
            <a:off x="6502400" y="2108200"/>
            <a:ext cx="16002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10B981"/>
                </a:solidFill>
                <a:latin typeface="Aptos" panose="020B0004020202020204" pitchFamily="34" charset="0"/>
              </a:rPr>
              <a:t>CONTROLEUR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F3A6BEB6-29DD-08B3-0502-B5E3A16D13EC}"/>
              </a:ext>
            </a:extLst>
          </p:cNvPr>
          <p:cNvSpPr txBox="1"/>
          <p:nvPr/>
        </p:nvSpPr>
        <p:spPr>
          <a:xfrm>
            <a:off x="6654800" y="2489200"/>
            <a:ext cx="1295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API REST</a:t>
            </a:r>
          </a:p>
        </p:txBody>
      </p:sp>
      <p:pic>
        <p:nvPicPr>
          <p:cNvPr id="67" name="Graphique 66">
            <a:extLst>
              <a:ext uri="{FF2B5EF4-FFF2-40B4-BE49-F238E27FC236}">
                <a16:creationId xmlns:a16="http://schemas.microsoft.com/office/drawing/2014/main" id="{FB58B629-2721-4AF9-1E3C-5D45E3E04B3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34200" y="2921000"/>
            <a:ext cx="736600" cy="736600"/>
          </a:xfrm>
          <a:prstGeom prst="rect">
            <a:avLst/>
          </a:prstGeom>
        </p:spPr>
      </p:pic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30A1F8C4-57EA-A079-117C-5E62DCA3B776}"/>
              </a:ext>
            </a:extLst>
          </p:cNvPr>
          <p:cNvSpPr/>
          <p:nvPr/>
        </p:nvSpPr>
        <p:spPr>
          <a:xfrm>
            <a:off x="6629400" y="4000500"/>
            <a:ext cx="1346200" cy="317500"/>
          </a:xfrm>
          <a:prstGeom prst="roundRect">
            <a:avLst/>
          </a:prstGeom>
          <a:solidFill>
            <a:srgbClr val="10B981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AE034FCE-19F2-6D94-4348-D16653111C68}"/>
              </a:ext>
            </a:extLst>
          </p:cNvPr>
          <p:cNvSpPr txBox="1"/>
          <p:nvPr/>
        </p:nvSpPr>
        <p:spPr>
          <a:xfrm>
            <a:off x="6629400" y="40640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 dirty="0">
                <a:solidFill>
                  <a:srgbClr val="FFFFFF"/>
                </a:solidFill>
                <a:latin typeface="Aptos" panose="020B0004020202020204" pitchFamily="34" charset="0"/>
              </a:rPr>
              <a:t>Spring Boot</a:t>
            </a:r>
          </a:p>
        </p:txBody>
      </p:sp>
      <p:sp>
        <p:nvSpPr>
          <p:cNvPr id="98" name="Rectangle : coins arrondis 97">
            <a:extLst>
              <a:ext uri="{FF2B5EF4-FFF2-40B4-BE49-F238E27FC236}">
                <a16:creationId xmlns:a16="http://schemas.microsoft.com/office/drawing/2014/main" id="{E776AC96-CDF4-796F-8B97-54FC6FD598B6}"/>
              </a:ext>
            </a:extLst>
          </p:cNvPr>
          <p:cNvSpPr/>
          <p:nvPr/>
        </p:nvSpPr>
        <p:spPr>
          <a:xfrm>
            <a:off x="6629400" y="4445000"/>
            <a:ext cx="1346200" cy="317500"/>
          </a:xfrm>
          <a:prstGeom prst="roundRect">
            <a:avLst/>
          </a:prstGeom>
          <a:solidFill>
            <a:srgbClr val="4361EE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CEDB50BA-A3BF-65E8-24EB-9A99A2E69CF1}"/>
              </a:ext>
            </a:extLst>
          </p:cNvPr>
          <p:cNvSpPr txBox="1"/>
          <p:nvPr/>
        </p:nvSpPr>
        <p:spPr>
          <a:xfrm>
            <a:off x="6629400" y="45085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JWT</a:t>
            </a:r>
          </a:p>
        </p:txBody>
      </p:sp>
      <p:sp>
        <p:nvSpPr>
          <p:cNvPr id="119" name="Rectangle : coins arrondis 118">
            <a:extLst>
              <a:ext uri="{FF2B5EF4-FFF2-40B4-BE49-F238E27FC236}">
                <a16:creationId xmlns:a16="http://schemas.microsoft.com/office/drawing/2014/main" id="{BD7288E9-7C54-9D23-E158-9EDBE0131683}"/>
              </a:ext>
            </a:extLst>
          </p:cNvPr>
          <p:cNvSpPr/>
          <p:nvPr/>
        </p:nvSpPr>
        <p:spPr>
          <a:xfrm>
            <a:off x="9207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1" name="ZoneTexte 130">
            <a:extLst>
              <a:ext uri="{FF2B5EF4-FFF2-40B4-BE49-F238E27FC236}">
                <a16:creationId xmlns:a16="http://schemas.microsoft.com/office/drawing/2014/main" id="{98E36338-DF29-C3B5-8967-0368015722CD}"/>
              </a:ext>
            </a:extLst>
          </p:cNvPr>
          <p:cNvSpPr txBox="1"/>
          <p:nvPr/>
        </p:nvSpPr>
        <p:spPr>
          <a:xfrm>
            <a:off x="9779000" y="2108200"/>
            <a:ext cx="1143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F59E0B"/>
                </a:solidFill>
                <a:latin typeface="Aptos" panose="020B0004020202020204" pitchFamily="34" charset="0"/>
              </a:rPr>
              <a:t>MODELE</a:t>
            </a:r>
          </a:p>
        </p:txBody>
      </p:sp>
      <p:sp>
        <p:nvSpPr>
          <p:cNvPr id="132" name="ZoneTexte 131">
            <a:extLst>
              <a:ext uri="{FF2B5EF4-FFF2-40B4-BE49-F238E27FC236}">
                <a16:creationId xmlns:a16="http://schemas.microsoft.com/office/drawing/2014/main" id="{4D4ADF1D-3AA3-E339-C46B-373303CB2965}"/>
              </a:ext>
            </a:extLst>
          </p:cNvPr>
          <p:cNvSpPr txBox="1"/>
          <p:nvPr/>
        </p:nvSpPr>
        <p:spPr>
          <a:xfrm>
            <a:off x="9499600" y="2489200"/>
            <a:ext cx="17018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Données du système</a:t>
            </a:r>
          </a:p>
        </p:txBody>
      </p:sp>
      <p:pic>
        <p:nvPicPr>
          <p:cNvPr id="134" name="Graphique 133">
            <a:extLst>
              <a:ext uri="{FF2B5EF4-FFF2-40B4-BE49-F238E27FC236}">
                <a16:creationId xmlns:a16="http://schemas.microsoft.com/office/drawing/2014/main" id="{8B8B30DB-D87F-4204-78EC-EC1C30A0487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82200" y="2857500"/>
            <a:ext cx="736600" cy="736600"/>
          </a:xfrm>
          <a:prstGeom prst="rect">
            <a:avLst/>
          </a:prstGeom>
        </p:spPr>
      </p:pic>
      <p:sp>
        <p:nvSpPr>
          <p:cNvPr id="135" name="Rectangle : coins arrondis 134">
            <a:extLst>
              <a:ext uri="{FF2B5EF4-FFF2-40B4-BE49-F238E27FC236}">
                <a16:creationId xmlns:a16="http://schemas.microsoft.com/office/drawing/2014/main" id="{CC776E70-81DA-20B0-CC23-C63EE58FF542}"/>
              </a:ext>
            </a:extLst>
          </p:cNvPr>
          <p:cNvSpPr/>
          <p:nvPr/>
        </p:nvSpPr>
        <p:spPr>
          <a:xfrm>
            <a:off x="9664700" y="4000500"/>
            <a:ext cx="1371600" cy="317500"/>
          </a:xfrm>
          <a:prstGeom prst="roundRect">
            <a:avLst/>
          </a:prstGeom>
          <a:solidFill>
            <a:srgbClr val="F59E0B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AB4B2B3D-2D9F-E055-5898-C595B0802B79}"/>
              </a:ext>
            </a:extLst>
          </p:cNvPr>
          <p:cNvSpPr txBox="1"/>
          <p:nvPr/>
        </p:nvSpPr>
        <p:spPr>
          <a:xfrm>
            <a:off x="9664700" y="4064000"/>
            <a:ext cx="13716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PostgreSQL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F4C68F1E-CD1B-9854-E73F-3EF3ABF668F8}"/>
              </a:ext>
            </a:extLst>
          </p:cNvPr>
          <p:cNvSpPr txBox="1"/>
          <p:nvPr/>
        </p:nvSpPr>
        <p:spPr>
          <a:xfrm>
            <a:off x="9652000" y="4470400"/>
            <a:ext cx="1397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800">
                <a:solidFill>
                  <a:srgbClr val="CBD5E1"/>
                </a:solidFill>
                <a:latin typeface="Aptos" panose="020B0004020202020204" pitchFamily="34" charset="0"/>
              </a:rPr>
              <a:t>Classes, séances, émargements, honoraires</a:t>
            </a:r>
          </a:p>
        </p:txBody>
      </p: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F7BD3BD0-39A7-6808-CC68-FDFDFFCE7A61}"/>
              </a:ext>
            </a:extLst>
          </p:cNvPr>
          <p:cNvCxnSpPr/>
          <p:nvPr/>
        </p:nvCxnSpPr>
        <p:spPr>
          <a:xfrm>
            <a:off x="2540000" y="3403600"/>
            <a:ext cx="571500" cy="0"/>
          </a:xfrm>
          <a:prstGeom prst="line">
            <a:avLst/>
          </a:prstGeom>
          <a:ln w="30480">
            <a:solidFill>
              <a:srgbClr val="00BCD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138">
            <a:extLst>
              <a:ext uri="{FF2B5EF4-FFF2-40B4-BE49-F238E27FC236}">
                <a16:creationId xmlns:a16="http://schemas.microsoft.com/office/drawing/2014/main" id="{96A852A6-8759-81EC-3902-B0F6841C8BCF}"/>
              </a:ext>
            </a:extLst>
          </p:cNvPr>
          <p:cNvCxnSpPr/>
          <p:nvPr/>
        </p:nvCxnSpPr>
        <p:spPr>
          <a:xfrm>
            <a:off x="5397500" y="3403600"/>
            <a:ext cx="762000" cy="0"/>
          </a:xfrm>
          <a:prstGeom prst="line">
            <a:avLst/>
          </a:prstGeom>
          <a:ln w="30480">
            <a:solidFill>
              <a:srgbClr val="10B98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60931A54-8C66-30D0-9588-A13FF883505B}"/>
              </a:ext>
            </a:extLst>
          </p:cNvPr>
          <p:cNvCxnSpPr/>
          <p:nvPr/>
        </p:nvCxnSpPr>
        <p:spPr>
          <a:xfrm>
            <a:off x="8445500" y="3403600"/>
            <a:ext cx="762000" cy="0"/>
          </a:xfrm>
          <a:prstGeom prst="line">
            <a:avLst/>
          </a:prstGeom>
          <a:ln w="30480">
            <a:solidFill>
              <a:srgbClr val="F59E0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29C200DF-B028-3E33-377A-F00DD35DC088}"/>
              </a:ext>
            </a:extLst>
          </p:cNvPr>
          <p:cNvCxnSpPr/>
          <p:nvPr/>
        </p:nvCxnSpPr>
        <p:spPr>
          <a:xfrm flipH="1">
            <a:off x="3937000" y="5207000"/>
            <a:ext cx="5486400" cy="0"/>
          </a:xfrm>
          <a:prstGeom prst="line">
            <a:avLst/>
          </a:prstGeom>
          <a:ln w="21590">
            <a:solidFill>
              <a:srgbClr val="475569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BAC3447E-83A0-B0CC-668E-C42FB08480CB}"/>
              </a:ext>
            </a:extLst>
          </p:cNvPr>
          <p:cNvSpPr txBox="1"/>
          <p:nvPr/>
        </p:nvSpPr>
        <p:spPr>
          <a:xfrm>
            <a:off x="5651500" y="5295900"/>
            <a:ext cx="2159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800">
                <a:solidFill>
                  <a:srgbClr val="94A3B8"/>
                </a:solidFill>
                <a:latin typeface="Aptos" panose="020B0004020202020204" pitchFamily="34" charset="0"/>
              </a:rPr>
              <a:t>Réponse vers les interfaces</a:t>
            </a:r>
          </a:p>
        </p:txBody>
      </p:sp>
      <p:sp>
        <p:nvSpPr>
          <p:cNvPr id="500" name="Bonus EduTrack">
            <a:extLst>
              <a:ext uri="{FF2B5EF4-FFF2-40B4-BE49-F238E27FC236}">
                <a16:creationId xmlns:a16="http://schemas.microsoft.com/office/drawing/2014/main" id="{00000000-0000-0000-0000-000000000500}"/>
              </a:ext>
            </a:extLst>
          </p:cNvPr>
          <p:cNvSpPr txBox="1"/>
          <p:nvPr/>
        </p:nvSpPr>
        <p:spPr>
          <a:xfrm>
            <a:off x="2596000" y="6300000"/>
            <a:ext cx="7000000" cy="35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200" b="1">
                <a:solidFill>
                  <a:srgbClr val="F59E0B"/>
                </a:solidFill>
                <a:latin typeface="Aptos" panose="020B0004020202020204" pitchFamily="34" charset="0"/>
              </a:rPr>
              <a:t>Points forts : authentification sécurisée (JWT) · calcul automatisé des honoraires</a:t>
            </a:r>
          </a:p>
        </p:txBody>
      </p:sp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Technologies &amp; </a:t>
            </a:r>
            <a:r>
              <a:rPr lang="en-US" sz="2900" b="1" dirty="0" err="1">
                <a:solidFill>
                  <a:srgbClr val="FFFFFF"/>
                </a:solidFill>
              </a:rPr>
              <a:t>Outils</a:t>
            </a:r>
            <a:r>
              <a:rPr lang="en-US" sz="2900" b="1" dirty="0">
                <a:solidFill>
                  <a:srgbClr val="FFFFFF"/>
                </a:solidFill>
              </a:rPr>
              <a:t> </a:t>
            </a:r>
            <a:r>
              <a:rPr lang="en-US" sz="2900" b="1" dirty="0" err="1">
                <a:solidFill>
                  <a:srgbClr val="FFFFFF"/>
                </a:solidFill>
              </a:rPr>
              <a:t>utilisés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6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10B98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</a:rPr>
              <a:t>BACKEND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252728" y="17373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MEMOIRE/logos/spring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856232" y="1920240"/>
            <a:ext cx="768096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2670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Spring Boot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252728" y="320040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MEMOIRE/logos/java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856232" y="3383280"/>
            <a:ext cx="768096" cy="65836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62456" y="41330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Java 17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1252728" y="46634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MEMOIRE/logos/postgresql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856232" y="4846320"/>
            <a:ext cx="768096" cy="65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62456" y="55961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11480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06B6D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11480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B6D4"/>
                </a:solidFill>
              </a:rPr>
              <a:t>FRONTEND ( WEB &amp; MOBILE )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81888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MEMOIRE/logos/angular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5422392" y="2606040"/>
            <a:ext cx="768096" cy="6583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2861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Angular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481888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5" descr="MEMOIRE/logos/ionic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422392" y="4160520"/>
            <a:ext cx="768096" cy="6583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92861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Ionic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7680960" y="1143000"/>
            <a:ext cx="4114800" cy="5120640"/>
          </a:xfrm>
          <a:prstGeom prst="roundRect">
            <a:avLst>
              <a:gd name="adj" fmla="val 2222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F59E0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/>
          <p:nvPr/>
        </p:nvSpPr>
        <p:spPr>
          <a:xfrm>
            <a:off x="768096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</a:rPr>
              <a:t>OUTILS &amp; CONCEPTION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774496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MEMOIRE/online_icons/gi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348472" y="2606040"/>
            <a:ext cx="768096" cy="65836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785469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Git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975664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7" descr="MEMOIRE/online_icons/github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360152" y="2606040"/>
            <a:ext cx="768096" cy="6583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86637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GitHub</a:t>
            </a:r>
            <a:endParaRPr lang="en-US" sz="1400" dirty="0"/>
          </a:p>
        </p:txBody>
      </p:sp>
      <p:sp>
        <p:nvSpPr>
          <p:cNvPr id="39" name="Shape 29"/>
          <p:cNvSpPr/>
          <p:nvPr/>
        </p:nvSpPr>
        <p:spPr>
          <a:xfrm>
            <a:off x="774496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8" descr="MEMOIRE/online_icons/firebas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348472" y="4160520"/>
            <a:ext cx="768096" cy="6583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85469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Swagger</a:t>
            </a:r>
            <a:endParaRPr lang="en-US" sz="1400" dirty="0"/>
          </a:p>
        </p:txBody>
      </p:sp>
      <p:sp>
        <p:nvSpPr>
          <p:cNvPr id="42" name="Shape 31"/>
          <p:cNvSpPr/>
          <p:nvPr/>
        </p:nvSpPr>
        <p:spPr>
          <a:xfrm>
            <a:off x="975664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9" descr="MEMOIRE/online_icons/googlecloud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10360152" y="4160520"/>
            <a:ext cx="768096" cy="658368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986637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UML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5FBEE11-17BF-B88E-DFCC-1B86629DA5E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D1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589D6E8-E576-2100-F4A8-200AA1174CEE}"/>
              </a:ext>
            </a:extLst>
          </p:cNvPr>
          <p:cNvSpPr/>
          <p:nvPr/>
        </p:nvSpPr>
        <p:spPr>
          <a:xfrm>
            <a:off x="8763000" y="1524000"/>
            <a:ext cx="5334000" cy="5334000"/>
          </a:xfrm>
          <a:prstGeom prst="ellipse">
            <a:avLst/>
          </a:prstGeom>
          <a:solidFill>
            <a:srgbClr val="0C1834">
              <a:alpha val="5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4A33213-FC21-D06B-6734-ED14965DE48E}"/>
              </a:ext>
            </a:extLst>
          </p:cNvPr>
          <p:cNvSpPr/>
          <p:nvPr/>
        </p:nvSpPr>
        <p:spPr>
          <a:xfrm>
            <a:off x="3302000" y="1524000"/>
            <a:ext cx="6604000" cy="6604000"/>
          </a:xfrm>
          <a:prstGeom prst="ellipse">
            <a:avLst/>
          </a:prstGeom>
          <a:solidFill>
            <a:srgbClr val="0F172A">
              <a:alpha val="2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5C1F05B-035D-5C59-24FA-E47EBFB6E315}"/>
              </a:ext>
            </a:extLst>
          </p:cNvPr>
          <p:cNvSpPr txBox="1"/>
          <p:nvPr/>
        </p:nvSpPr>
        <p:spPr>
          <a:xfrm>
            <a:off x="736600" y="482600"/>
            <a:ext cx="78740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2400" b="1" dirty="0">
                <a:solidFill>
                  <a:srgbClr val="FFFFFF"/>
                </a:solidFill>
                <a:latin typeface="Aptos" panose="020B0004020202020204" pitchFamily="34" charset="0"/>
              </a:rPr>
              <a:t>DÉMONSTRATION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07E7A8-36B9-A4E0-6F40-5267DC3CD35B}"/>
              </a:ext>
            </a:extLst>
          </p:cNvPr>
          <p:cNvSpPr/>
          <p:nvPr/>
        </p:nvSpPr>
        <p:spPr>
          <a:xfrm>
            <a:off x="762000" y="1193800"/>
            <a:ext cx="1905000" cy="762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DAD39A9-9EFF-10CD-6329-5F73C0FD9766}"/>
              </a:ext>
            </a:extLst>
          </p:cNvPr>
          <p:cNvCxnSpPr/>
          <p:nvPr/>
        </p:nvCxnSpPr>
        <p:spPr>
          <a:xfrm>
            <a:off x="660400" y="6324600"/>
            <a:ext cx="108712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60F70830-A789-A977-3A8B-264EF010625B}"/>
              </a:ext>
            </a:extLst>
          </p:cNvPr>
          <p:cNvSpPr txBox="1"/>
          <p:nvPr/>
        </p:nvSpPr>
        <p:spPr>
          <a:xfrm>
            <a:off x="673100" y="6477000"/>
            <a:ext cx="330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EduTrack - Projet de Licence 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9607FFD-D2E0-FE34-0EA5-D010A643BB2A}"/>
              </a:ext>
            </a:extLst>
          </p:cNvPr>
          <p:cNvSpPr txBox="1"/>
          <p:nvPr/>
        </p:nvSpPr>
        <p:spPr>
          <a:xfrm>
            <a:off x="11023600" y="6477000"/>
            <a:ext cx="508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fr-FR" sz="1000" b="1">
                <a:solidFill>
                  <a:srgbClr val="00BCD4"/>
                </a:solidFill>
                <a:latin typeface="Aptos" panose="020B0004020202020204" pitchFamily="34" charset="0"/>
              </a:rPr>
              <a:t>7 / 9</a:t>
            </a:r>
          </a:p>
        </p:txBody>
      </p:sp>
      <p:pic>
        <p:nvPicPr>
          <p:cNvPr id="21" name="Image 0" descr="backend/edutrack/src/main/resources/images/logo_INTEC_nom_Horizon-1-3-1.png">
            <a:extLst>
              <a:ext uri="{FF2B5EF4-FFF2-40B4-BE49-F238E27FC236}">
                <a16:creationId xmlns:a16="http://schemas.microsoft.com/office/drawing/2014/main" id="{7671DBA6-268E-2522-1A08-EE10438623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BCB0193D-B7C3-C014-659F-73765B54102F}"/>
              </a:ext>
            </a:extLst>
          </p:cNvPr>
          <p:cNvSpPr txBox="1"/>
          <p:nvPr/>
        </p:nvSpPr>
        <p:spPr>
          <a:xfrm>
            <a:off x="736600" y="1473200"/>
            <a:ext cx="10668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300">
                <a:solidFill>
                  <a:srgbClr val="94A3B8"/>
                </a:solidFill>
                <a:latin typeface="Aptos" panose="020B0004020202020204" pitchFamily="34" charset="0"/>
              </a:rPr>
              <a:t>Mobile enseignant et interface web administrateur pendant la démonstration.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A0EEE8A9-E5E3-42EB-67A1-2102DCAE10C9}"/>
              </a:ext>
            </a:extLst>
          </p:cNvPr>
          <p:cNvSpPr/>
          <p:nvPr/>
        </p:nvSpPr>
        <p:spPr>
          <a:xfrm>
            <a:off x="990600" y="1905000"/>
            <a:ext cx="4191000" cy="35306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117102C-A02A-F83E-7B62-0B29B68B0A09}"/>
              </a:ext>
            </a:extLst>
          </p:cNvPr>
          <p:cNvSpPr txBox="1"/>
          <p:nvPr/>
        </p:nvSpPr>
        <p:spPr>
          <a:xfrm>
            <a:off x="1295400" y="2209800"/>
            <a:ext cx="2667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700" b="1">
                <a:solidFill>
                  <a:srgbClr val="00BCD4"/>
                </a:solidFill>
                <a:latin typeface="Aptos" panose="020B0004020202020204" pitchFamily="34" charset="0"/>
              </a:rPr>
              <a:t>Mobile enseignant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7C840B85-8193-EBA7-E300-FA8AF51079ED}"/>
              </a:ext>
            </a:extLst>
          </p:cNvPr>
          <p:cNvSpPr txBox="1"/>
          <p:nvPr/>
        </p:nvSpPr>
        <p:spPr>
          <a:xfrm>
            <a:off x="1295400" y="2552700"/>
            <a:ext cx="2997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Connexion, planning et scan QR</a:t>
            </a: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AC8E8DAB-0716-A4E6-79D4-58AA4BF1DF2B}"/>
              </a:ext>
            </a:extLst>
          </p:cNvPr>
          <p:cNvSpPr/>
          <p:nvPr/>
        </p:nvSpPr>
        <p:spPr>
          <a:xfrm>
            <a:off x="1549400" y="3048000"/>
            <a:ext cx="9652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03844CDA-0489-F9D8-505C-7C4322C1B7E7}"/>
              </a:ext>
            </a:extLst>
          </p:cNvPr>
          <p:cNvSpPr/>
          <p:nvPr/>
        </p:nvSpPr>
        <p:spPr>
          <a:xfrm>
            <a:off x="1625600" y="3175000"/>
            <a:ext cx="8128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F0F220-A1FB-C467-D1F4-9F4871106632}"/>
              </a:ext>
            </a:extLst>
          </p:cNvPr>
          <p:cNvSpPr/>
          <p:nvPr/>
        </p:nvSpPr>
        <p:spPr>
          <a:xfrm>
            <a:off x="1625600" y="3175000"/>
            <a:ext cx="8128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D0BF42AF-9338-E3E2-96B3-88B66CD42DA1}"/>
              </a:ext>
            </a:extLst>
          </p:cNvPr>
          <p:cNvSpPr/>
          <p:nvPr/>
        </p:nvSpPr>
        <p:spPr>
          <a:xfrm>
            <a:off x="1841500" y="3619500"/>
            <a:ext cx="381000" cy="381000"/>
          </a:xfrm>
          <a:prstGeom prst="ellipse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ACF933D7-F275-E00C-6B19-43C2EC5E5DA4}"/>
              </a:ext>
            </a:extLst>
          </p:cNvPr>
          <p:cNvSpPr/>
          <p:nvPr/>
        </p:nvSpPr>
        <p:spPr>
          <a:xfrm>
            <a:off x="1778000" y="4165600"/>
            <a:ext cx="508000" cy="889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C42249B9-8017-1C47-87CD-8E4F9E979D5E}"/>
              </a:ext>
            </a:extLst>
          </p:cNvPr>
          <p:cNvSpPr/>
          <p:nvPr/>
        </p:nvSpPr>
        <p:spPr>
          <a:xfrm>
            <a:off x="1778000" y="4356100"/>
            <a:ext cx="508000" cy="889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196D4B71-4227-2113-16B8-643DA1FB08D0}"/>
              </a:ext>
            </a:extLst>
          </p:cNvPr>
          <p:cNvSpPr/>
          <p:nvPr/>
        </p:nvSpPr>
        <p:spPr>
          <a:xfrm>
            <a:off x="2794000" y="3048000"/>
            <a:ext cx="9652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4767EA49-B1D7-80A2-A4ED-45FF1D957C66}"/>
              </a:ext>
            </a:extLst>
          </p:cNvPr>
          <p:cNvSpPr/>
          <p:nvPr/>
        </p:nvSpPr>
        <p:spPr>
          <a:xfrm>
            <a:off x="2870200" y="3175000"/>
            <a:ext cx="8128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4FD29A-562E-2C75-7F4B-3385178E7429}"/>
              </a:ext>
            </a:extLst>
          </p:cNvPr>
          <p:cNvSpPr/>
          <p:nvPr/>
        </p:nvSpPr>
        <p:spPr>
          <a:xfrm>
            <a:off x="2870200" y="3175000"/>
            <a:ext cx="8128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979FF9CF-70E6-4F22-81EC-6AE35E443321}"/>
              </a:ext>
            </a:extLst>
          </p:cNvPr>
          <p:cNvSpPr/>
          <p:nvPr/>
        </p:nvSpPr>
        <p:spPr>
          <a:xfrm>
            <a:off x="2971800" y="35814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615E9712-E0E2-E476-6152-B518C34C1589}"/>
              </a:ext>
            </a:extLst>
          </p:cNvPr>
          <p:cNvSpPr/>
          <p:nvPr/>
        </p:nvSpPr>
        <p:spPr>
          <a:xfrm>
            <a:off x="2971800" y="37973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6C95BDBC-1DEA-CB0F-5E3F-347E7CD42853}"/>
              </a:ext>
            </a:extLst>
          </p:cNvPr>
          <p:cNvSpPr/>
          <p:nvPr/>
        </p:nvSpPr>
        <p:spPr>
          <a:xfrm>
            <a:off x="2971800" y="40132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B0DA0D74-19E3-42FC-9BE7-F5D3A8DFDF11}"/>
              </a:ext>
            </a:extLst>
          </p:cNvPr>
          <p:cNvSpPr/>
          <p:nvPr/>
        </p:nvSpPr>
        <p:spPr>
          <a:xfrm>
            <a:off x="2971800" y="42291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58B43B38-447C-71C9-22CF-8B8833557C75}"/>
              </a:ext>
            </a:extLst>
          </p:cNvPr>
          <p:cNvSpPr/>
          <p:nvPr/>
        </p:nvSpPr>
        <p:spPr>
          <a:xfrm>
            <a:off x="2971800" y="3581400"/>
            <a:ext cx="609600" cy="127000"/>
          </a:xfrm>
          <a:prstGeom prst="round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6C21EC6D-C261-B203-D144-DB11CF5A3430}"/>
              </a:ext>
            </a:extLst>
          </p:cNvPr>
          <p:cNvSpPr/>
          <p:nvPr/>
        </p:nvSpPr>
        <p:spPr>
          <a:xfrm>
            <a:off x="4038600" y="3048000"/>
            <a:ext cx="7874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0EDE91E6-1F75-8C77-AA8D-BEE78AE747C0}"/>
              </a:ext>
            </a:extLst>
          </p:cNvPr>
          <p:cNvSpPr/>
          <p:nvPr/>
        </p:nvSpPr>
        <p:spPr>
          <a:xfrm>
            <a:off x="4114800" y="3175000"/>
            <a:ext cx="6350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04BDDD9-A7EE-D96A-9A27-68EBCEA3D8F0}"/>
              </a:ext>
            </a:extLst>
          </p:cNvPr>
          <p:cNvSpPr/>
          <p:nvPr/>
        </p:nvSpPr>
        <p:spPr>
          <a:xfrm>
            <a:off x="4114800" y="3175000"/>
            <a:ext cx="6350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CB5654-6584-0CDA-B5DB-6E7E502EF8C6}"/>
              </a:ext>
            </a:extLst>
          </p:cNvPr>
          <p:cNvSpPr/>
          <p:nvPr/>
        </p:nvSpPr>
        <p:spPr>
          <a:xfrm>
            <a:off x="41529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2E3ADCC-6956-7647-B17A-02B770C6C96C}"/>
              </a:ext>
            </a:extLst>
          </p:cNvPr>
          <p:cNvSpPr/>
          <p:nvPr/>
        </p:nvSpPr>
        <p:spPr>
          <a:xfrm>
            <a:off x="42672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8151A43-70DD-7D4B-6DCC-EF5FEFBF49B6}"/>
              </a:ext>
            </a:extLst>
          </p:cNvPr>
          <p:cNvSpPr/>
          <p:nvPr/>
        </p:nvSpPr>
        <p:spPr>
          <a:xfrm>
            <a:off x="43815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9D2D262-8EA9-AC21-FD36-0A1DC685EA05}"/>
              </a:ext>
            </a:extLst>
          </p:cNvPr>
          <p:cNvSpPr/>
          <p:nvPr/>
        </p:nvSpPr>
        <p:spPr>
          <a:xfrm>
            <a:off x="46101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F277FBF-E136-ABAB-7AF1-8C134A206916}"/>
              </a:ext>
            </a:extLst>
          </p:cNvPr>
          <p:cNvSpPr/>
          <p:nvPr/>
        </p:nvSpPr>
        <p:spPr>
          <a:xfrm>
            <a:off x="4152900" y="37211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E2784CE-CF35-279E-DDD9-6EC5567A77B9}"/>
              </a:ext>
            </a:extLst>
          </p:cNvPr>
          <p:cNvSpPr/>
          <p:nvPr/>
        </p:nvSpPr>
        <p:spPr>
          <a:xfrm>
            <a:off x="4381500" y="37211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CB8A71-3752-63DD-A188-6AFA15CF9B81}"/>
              </a:ext>
            </a:extLst>
          </p:cNvPr>
          <p:cNvSpPr/>
          <p:nvPr/>
        </p:nvSpPr>
        <p:spPr>
          <a:xfrm>
            <a:off x="41529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C31074B-6C1B-CA84-D36A-01406297A10D}"/>
              </a:ext>
            </a:extLst>
          </p:cNvPr>
          <p:cNvSpPr/>
          <p:nvPr/>
        </p:nvSpPr>
        <p:spPr>
          <a:xfrm>
            <a:off x="43815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2824D08-E438-8093-5C28-7E9ED02EABA6}"/>
              </a:ext>
            </a:extLst>
          </p:cNvPr>
          <p:cNvSpPr/>
          <p:nvPr/>
        </p:nvSpPr>
        <p:spPr>
          <a:xfrm>
            <a:off x="44958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EEDA38-FC14-3642-651A-4C97C871284E}"/>
              </a:ext>
            </a:extLst>
          </p:cNvPr>
          <p:cNvSpPr/>
          <p:nvPr/>
        </p:nvSpPr>
        <p:spPr>
          <a:xfrm>
            <a:off x="46101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7D8E05-E0CA-16FB-C337-69C3AC6B6B8E}"/>
              </a:ext>
            </a:extLst>
          </p:cNvPr>
          <p:cNvSpPr/>
          <p:nvPr/>
        </p:nvSpPr>
        <p:spPr>
          <a:xfrm>
            <a:off x="42672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03B30B-6280-DA39-2F7F-940B7BDDDF5D}"/>
              </a:ext>
            </a:extLst>
          </p:cNvPr>
          <p:cNvSpPr/>
          <p:nvPr/>
        </p:nvSpPr>
        <p:spPr>
          <a:xfrm>
            <a:off x="44958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FF0FF23-79EF-2F98-7B7D-ED288E0F6D61}"/>
              </a:ext>
            </a:extLst>
          </p:cNvPr>
          <p:cNvSpPr/>
          <p:nvPr/>
        </p:nvSpPr>
        <p:spPr>
          <a:xfrm>
            <a:off x="46101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651A5B0-3265-EB1C-0DED-C7E1156C10FE}"/>
              </a:ext>
            </a:extLst>
          </p:cNvPr>
          <p:cNvSpPr/>
          <p:nvPr/>
        </p:nvSpPr>
        <p:spPr>
          <a:xfrm>
            <a:off x="4381500" y="40640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FC195F-A04A-3F35-B7A7-CBB43F7383AF}"/>
              </a:ext>
            </a:extLst>
          </p:cNvPr>
          <p:cNvSpPr/>
          <p:nvPr/>
        </p:nvSpPr>
        <p:spPr>
          <a:xfrm>
            <a:off x="4610100" y="40640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EA5C17-B9CA-DBB5-C48C-46E0AB775684}"/>
              </a:ext>
            </a:extLst>
          </p:cNvPr>
          <p:cNvSpPr txBox="1"/>
          <p:nvPr/>
        </p:nvSpPr>
        <p:spPr>
          <a:xfrm>
            <a:off x="15494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Connexion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E38C5F5A-7990-7E18-249E-3F34F0ADB4A2}"/>
              </a:ext>
            </a:extLst>
          </p:cNvPr>
          <p:cNvSpPr txBox="1"/>
          <p:nvPr/>
        </p:nvSpPr>
        <p:spPr>
          <a:xfrm>
            <a:off x="27940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Planning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26DBBA44-AEEE-0A02-8D3F-F0F02FC0BAB3}"/>
              </a:ext>
            </a:extLst>
          </p:cNvPr>
          <p:cNvSpPr txBox="1"/>
          <p:nvPr/>
        </p:nvSpPr>
        <p:spPr>
          <a:xfrm>
            <a:off x="39370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Scan QR</a:t>
            </a: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28E09CAE-556A-D6D4-CEE6-EFD28E4E14BD}"/>
              </a:ext>
            </a:extLst>
          </p:cNvPr>
          <p:cNvSpPr/>
          <p:nvPr/>
        </p:nvSpPr>
        <p:spPr>
          <a:xfrm>
            <a:off x="5969000" y="1905000"/>
            <a:ext cx="5207000" cy="35306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6735D18-6FD4-1CAD-FC75-1CD46C1E8227}"/>
              </a:ext>
            </a:extLst>
          </p:cNvPr>
          <p:cNvSpPr txBox="1"/>
          <p:nvPr/>
        </p:nvSpPr>
        <p:spPr>
          <a:xfrm>
            <a:off x="6273800" y="2209800"/>
            <a:ext cx="3429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700" b="1">
                <a:solidFill>
                  <a:srgbClr val="F59E0B"/>
                </a:solidFill>
                <a:latin typeface="Aptos" panose="020B0004020202020204" pitchFamily="34" charset="0"/>
              </a:rPr>
              <a:t>Interface web administrateur</a:t>
            </a: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89AA1E97-8140-AC18-B6B6-022B1917911B}"/>
              </a:ext>
            </a:extLst>
          </p:cNvPr>
          <p:cNvSpPr txBox="1"/>
          <p:nvPr/>
        </p:nvSpPr>
        <p:spPr>
          <a:xfrm>
            <a:off x="6273800" y="2552700"/>
            <a:ext cx="3683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Tableau de bord, séances, honoraires et écran public de salle</a:t>
            </a:r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CA87D8C1-3A5D-49C1-F28B-2EFFBDE5E74D}"/>
              </a:ext>
            </a:extLst>
          </p:cNvPr>
          <p:cNvSpPr/>
          <p:nvPr/>
        </p:nvSpPr>
        <p:spPr>
          <a:xfrm>
            <a:off x="6540500" y="3022600"/>
            <a:ext cx="4000500" cy="1651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202F7BD-6E48-2FB2-44D2-CB0959D63F56}"/>
              </a:ext>
            </a:extLst>
          </p:cNvPr>
          <p:cNvSpPr/>
          <p:nvPr/>
        </p:nvSpPr>
        <p:spPr>
          <a:xfrm>
            <a:off x="6540500" y="3022600"/>
            <a:ext cx="4000500" cy="2286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79904067-202A-E3C4-F012-7DC73409BCB8}"/>
              </a:ext>
            </a:extLst>
          </p:cNvPr>
          <p:cNvSpPr/>
          <p:nvPr/>
        </p:nvSpPr>
        <p:spPr>
          <a:xfrm>
            <a:off x="66675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A0E070B2-B428-068D-3662-6FA951F7DEC1}"/>
              </a:ext>
            </a:extLst>
          </p:cNvPr>
          <p:cNvSpPr/>
          <p:nvPr/>
        </p:nvSpPr>
        <p:spPr>
          <a:xfrm>
            <a:off x="68326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D91D1BAF-C429-C86E-A17C-F1C372EA36B9}"/>
              </a:ext>
            </a:extLst>
          </p:cNvPr>
          <p:cNvSpPr/>
          <p:nvPr/>
        </p:nvSpPr>
        <p:spPr>
          <a:xfrm>
            <a:off x="69977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065921EB-8536-CD8D-A30D-25552DD3C712}"/>
              </a:ext>
            </a:extLst>
          </p:cNvPr>
          <p:cNvSpPr/>
          <p:nvPr/>
        </p:nvSpPr>
        <p:spPr>
          <a:xfrm>
            <a:off x="6718300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1BB7D90F-D343-1EF0-D7BB-E5E6E97F7A00}"/>
              </a:ext>
            </a:extLst>
          </p:cNvPr>
          <p:cNvSpPr/>
          <p:nvPr/>
        </p:nvSpPr>
        <p:spPr>
          <a:xfrm>
            <a:off x="7865533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07BCD79-EF4B-C0B6-44CF-DEC52DF0B708}"/>
              </a:ext>
            </a:extLst>
          </p:cNvPr>
          <p:cNvSpPr/>
          <p:nvPr/>
        </p:nvSpPr>
        <p:spPr>
          <a:xfrm>
            <a:off x="9012767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13147197-F3CD-D158-D81D-09FFF8112760}"/>
              </a:ext>
            </a:extLst>
          </p:cNvPr>
          <p:cNvSpPr/>
          <p:nvPr/>
        </p:nvSpPr>
        <p:spPr>
          <a:xfrm>
            <a:off x="6756400" y="4089400"/>
            <a:ext cx="33909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5CF8ED28-E6D7-DD72-C653-BC3F9EF0726B}"/>
              </a:ext>
            </a:extLst>
          </p:cNvPr>
          <p:cNvSpPr/>
          <p:nvPr/>
        </p:nvSpPr>
        <p:spPr>
          <a:xfrm>
            <a:off x="6756400" y="4216400"/>
            <a:ext cx="30861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6400718C-58B9-80C0-BB3A-78EAAE5C7747}"/>
              </a:ext>
            </a:extLst>
          </p:cNvPr>
          <p:cNvSpPr/>
          <p:nvPr/>
        </p:nvSpPr>
        <p:spPr>
          <a:xfrm>
            <a:off x="6756400" y="4343400"/>
            <a:ext cx="27813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0E342C3C-0F2C-3A83-7AD1-A13EF46C11BA}"/>
              </a:ext>
            </a:extLst>
          </p:cNvPr>
          <p:cNvSpPr/>
          <p:nvPr/>
        </p:nvSpPr>
        <p:spPr>
          <a:xfrm>
            <a:off x="6756400" y="4470400"/>
            <a:ext cx="24765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E6D62FDC-8EC8-242E-50E3-15F2CB33902A}"/>
              </a:ext>
            </a:extLst>
          </p:cNvPr>
          <p:cNvSpPr/>
          <p:nvPr/>
        </p:nvSpPr>
        <p:spPr>
          <a:xfrm>
            <a:off x="6832600" y="3327400"/>
            <a:ext cx="889000" cy="317500"/>
          </a:xfrm>
          <a:prstGeom prst="roundRect">
            <a:avLst/>
          </a:prstGeom>
          <a:solidFill>
            <a:srgbClr val="00BCD4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CE61A029-1710-0066-28C4-CCA4FF24FAD7}"/>
              </a:ext>
            </a:extLst>
          </p:cNvPr>
          <p:cNvSpPr txBox="1"/>
          <p:nvPr/>
        </p:nvSpPr>
        <p:spPr>
          <a:xfrm>
            <a:off x="6832600" y="3390900"/>
            <a:ext cx="889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Classes</a:t>
            </a:r>
          </a:p>
        </p:txBody>
      </p:sp>
      <p:sp>
        <p:nvSpPr>
          <p:cNvPr id="78" name="Rectangle : coins arrondis 77">
            <a:extLst>
              <a:ext uri="{FF2B5EF4-FFF2-40B4-BE49-F238E27FC236}">
                <a16:creationId xmlns:a16="http://schemas.microsoft.com/office/drawing/2014/main" id="{F5F30070-7C4E-FB22-9381-9BBEF370022D}"/>
              </a:ext>
            </a:extLst>
          </p:cNvPr>
          <p:cNvSpPr/>
          <p:nvPr/>
        </p:nvSpPr>
        <p:spPr>
          <a:xfrm>
            <a:off x="7950200" y="3327400"/>
            <a:ext cx="914400" cy="317500"/>
          </a:xfrm>
          <a:prstGeom prst="roundRect">
            <a:avLst/>
          </a:prstGeom>
          <a:solidFill>
            <a:srgbClr val="10B981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1EAF9F09-D461-0C3A-39AC-D9E868B38C52}"/>
              </a:ext>
            </a:extLst>
          </p:cNvPr>
          <p:cNvSpPr txBox="1"/>
          <p:nvPr/>
        </p:nvSpPr>
        <p:spPr>
          <a:xfrm>
            <a:off x="7950200" y="3390900"/>
            <a:ext cx="9144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Séances</a:t>
            </a:r>
          </a:p>
        </p:txBody>
      </p:sp>
      <p:sp>
        <p:nvSpPr>
          <p:cNvPr id="80" name="Rectangle : coins arrondis 79">
            <a:extLst>
              <a:ext uri="{FF2B5EF4-FFF2-40B4-BE49-F238E27FC236}">
                <a16:creationId xmlns:a16="http://schemas.microsoft.com/office/drawing/2014/main" id="{0FC262D0-B9DC-4FFE-80E0-582DFBD1C40C}"/>
              </a:ext>
            </a:extLst>
          </p:cNvPr>
          <p:cNvSpPr/>
          <p:nvPr/>
        </p:nvSpPr>
        <p:spPr>
          <a:xfrm>
            <a:off x="9093200" y="3327400"/>
            <a:ext cx="1143000" cy="317500"/>
          </a:xfrm>
          <a:prstGeom prst="roundRect">
            <a:avLst/>
          </a:prstGeom>
          <a:solidFill>
            <a:srgbClr val="F59E0B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18AF6EC7-B06E-605B-D7BC-BF6E9DC6B913}"/>
              </a:ext>
            </a:extLst>
          </p:cNvPr>
          <p:cNvSpPr txBox="1"/>
          <p:nvPr/>
        </p:nvSpPr>
        <p:spPr>
          <a:xfrm>
            <a:off x="9093200" y="3390900"/>
            <a:ext cx="1143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Honoraires</a:t>
            </a:r>
          </a:p>
        </p:txBody>
      </p:sp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293F3DC1-23C3-7C88-E01B-03FB77E0B3BC}"/>
              </a:ext>
            </a:extLst>
          </p:cNvPr>
          <p:cNvCxnSpPr/>
          <p:nvPr/>
        </p:nvCxnSpPr>
        <p:spPr>
          <a:xfrm>
            <a:off x="5207000" y="3581400"/>
            <a:ext cx="762000" cy="0"/>
          </a:xfrm>
          <a:prstGeom prst="line">
            <a:avLst/>
          </a:prstGeom>
          <a:ln w="30480">
            <a:solidFill>
              <a:srgbClr val="00BCD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34D102B1-3389-A615-4CD0-15D8D95BC2F3}"/>
              </a:ext>
            </a:extLst>
          </p:cNvPr>
          <p:cNvCxnSpPr/>
          <p:nvPr/>
        </p:nvCxnSpPr>
        <p:spPr>
          <a:xfrm flipH="1">
            <a:off x="5207000" y="3886200"/>
            <a:ext cx="762000" cy="0"/>
          </a:xfrm>
          <a:prstGeom prst="line">
            <a:avLst/>
          </a:prstGeom>
          <a:ln w="30480">
            <a:solidFill>
              <a:srgbClr val="F59E0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AF6B023-7290-D059-A22A-180211FFFCEE}"/>
              </a:ext>
            </a:extLst>
          </p:cNvPr>
          <p:cNvSpPr txBox="1"/>
          <p:nvPr/>
        </p:nvSpPr>
        <p:spPr>
          <a:xfrm>
            <a:off x="5359400" y="3962400"/>
            <a:ext cx="48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Aptos" panose="020B0004020202020204" pitchFamily="34" charset="0"/>
              </a:rPr>
              <a:t>API</a:t>
            </a:r>
          </a:p>
        </p:txBody>
      </p:sp>
      <p:sp>
        <p:nvSpPr>
          <p:cNvPr id="85" name="Rectangle : coins arrondis 84">
            <a:extLst>
              <a:ext uri="{FF2B5EF4-FFF2-40B4-BE49-F238E27FC236}">
                <a16:creationId xmlns:a16="http://schemas.microsoft.com/office/drawing/2014/main" id="{94B1F0D5-2515-3569-B456-9E3E679BBA7E}"/>
              </a:ext>
            </a:extLst>
          </p:cNvPr>
          <p:cNvSpPr/>
          <p:nvPr/>
        </p:nvSpPr>
        <p:spPr>
          <a:xfrm>
            <a:off x="2387600" y="5689600"/>
            <a:ext cx="7429500" cy="4572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4361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56DC26CF-9897-91D3-21BF-C9E39F109D29}"/>
              </a:ext>
            </a:extLst>
          </p:cNvPr>
          <p:cNvSpPr txBox="1"/>
          <p:nvPr/>
        </p:nvSpPr>
        <p:spPr>
          <a:xfrm>
            <a:off x="2667000" y="5829300"/>
            <a:ext cx="6858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100" b="1">
                <a:solidFill>
                  <a:srgbClr val="FFFFFF"/>
                </a:solidFill>
                <a:latin typeface="Aptos" panose="020B0004020202020204" pitchFamily="34" charset="0"/>
              </a:rPr>
              <a:t>Parcours : connexion -&gt; planning -&gt; scan QR -&gt; fiche -&gt; honoraires</a:t>
            </a:r>
          </a:p>
        </p:txBody>
      </p: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1610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Conclusion &amp; perspectives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8 / 9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" y="358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</a:rPr>
              <a:t>Conclusion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41248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MEMOIRE/online_icons/googlecloud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42416" y="4241800"/>
            <a:ext cx="786384" cy="7863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84248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Suivi centralisé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1984248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Données regroupées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416552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MEMOIRE/online_icons/firebas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617720" y="4241800"/>
            <a:ext cx="786384" cy="7863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59552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fiable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5559552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Validation traçable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991856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9134856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134856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automatisé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41248" y="3154680"/>
            <a:ext cx="10561320" cy="3200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841248" y="1134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</a:rPr>
              <a:t>Perspectives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841248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4" descr="MEMOIRE/online_icons/studen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042416" y="1793240"/>
            <a:ext cx="786384" cy="78638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984248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Module étudiant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1984248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Espace dédié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3639312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5" descr="MEMOIRE/online_icons/gmail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840480" y="1793240"/>
            <a:ext cx="786384" cy="78638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782312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Notifications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4782312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Email / SMS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37376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MEMOIRE/online_icons/stripe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6638544" y="1793240"/>
            <a:ext cx="786384" cy="7863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580376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Paiement</a:t>
            </a:r>
            <a:endParaRPr lang="en-US" sz="1700" dirty="0"/>
          </a:p>
        </p:txBody>
      </p:sp>
      <p:sp>
        <p:nvSpPr>
          <p:cNvPr id="38" name="Text 29"/>
          <p:cNvSpPr/>
          <p:nvPr/>
        </p:nvSpPr>
        <p:spPr>
          <a:xfrm>
            <a:off x="7580376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Mobile money</a:t>
            </a:r>
            <a:endParaRPr lang="en-US" sz="1250" dirty="0"/>
          </a:p>
        </p:txBody>
      </p:sp>
      <p:sp>
        <p:nvSpPr>
          <p:cNvPr id="39" name="Shape 30"/>
          <p:cNvSpPr/>
          <p:nvPr/>
        </p:nvSpPr>
        <p:spPr>
          <a:xfrm>
            <a:off x="9235440" y="1592072"/>
            <a:ext cx="2651760" cy="1051560"/>
          </a:xfrm>
          <a:prstGeom prst="roundRect">
            <a:avLst/>
          </a:prstGeom>
          <a:solidFill>
            <a:srgbClr val="172033"/>
          </a:solidFill>
          <a:ln w="1460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31"/>
          <p:cNvSpPr txBox="1"/>
          <p:nvPr/>
        </p:nvSpPr>
        <p:spPr>
          <a:xfrm>
            <a:off x="10378440" y="1829816"/>
            <a:ext cx="145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Signature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10378440" y="2195576"/>
            <a:ext cx="145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Enseignants</a:t>
            </a:r>
          </a:p>
        </p:txBody>
      </p:sp>
      <p:pic>
        <p:nvPicPr>
          <p:cNvPr id="43" name="Picture 42" descr="clock_ic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3024" y="4241800"/>
            <a:ext cx="786384" cy="786384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36608" y="1793240"/>
            <a:ext cx="786384" cy="7863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096D2D-056D-5860-58AC-2AEFB1EF66C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91C37"/>
              </a:gs>
              <a:gs pos="100000">
                <a:srgbClr val="FFFFFF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AEE2C089-44FE-ABDC-47F3-4F9822D666A5}"/>
              </a:ext>
            </a:extLst>
          </p:cNvPr>
          <p:cNvSpPr/>
          <p:nvPr/>
        </p:nvSpPr>
        <p:spPr>
          <a:xfrm>
            <a:off x="-1778000" y="-1270000"/>
            <a:ext cx="4191000" cy="4191000"/>
          </a:xfrm>
          <a:prstGeom prst="ellipse">
            <a:avLst/>
          </a:prstGeom>
          <a:solidFill>
            <a:srgbClr val="22C5B4">
              <a:alpha val="1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6361415-5FC3-359A-BEB5-7D95CF8256EB}"/>
              </a:ext>
            </a:extLst>
          </p:cNvPr>
          <p:cNvSpPr/>
          <p:nvPr/>
        </p:nvSpPr>
        <p:spPr>
          <a:xfrm>
            <a:off x="9334500" y="4572000"/>
            <a:ext cx="3937000" cy="3937000"/>
          </a:xfrm>
          <a:prstGeom prst="ellipse">
            <a:avLst/>
          </a:prstGeom>
          <a:solidFill>
            <a:srgbClr val="4F46E5">
              <a:alpha val="1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423EF58B-3106-0FB2-6A2E-B1478BF01922}"/>
              </a:ext>
            </a:extLst>
          </p:cNvPr>
          <p:cNvSpPr/>
          <p:nvPr/>
        </p:nvSpPr>
        <p:spPr>
          <a:xfrm>
            <a:off x="7493000" y="571500"/>
            <a:ext cx="1587500" cy="1587500"/>
          </a:xfrm>
          <a:prstGeom prst="ellipse">
            <a:avLst/>
          </a:prstGeom>
          <a:solidFill>
            <a:srgbClr val="22C5B4">
              <a:alpha val="1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BFF4CE88-2075-8740-B41D-B401A75ADEFB}"/>
              </a:ext>
            </a:extLst>
          </p:cNvPr>
          <p:cNvSpPr/>
          <p:nvPr/>
        </p:nvSpPr>
        <p:spPr>
          <a:xfrm>
            <a:off x="914400" y="1600200"/>
            <a:ext cx="6604000" cy="3175000"/>
          </a:xfrm>
          <a:prstGeom prst="roundRect">
            <a:avLst/>
          </a:prstGeom>
          <a:solidFill>
            <a:srgbClr val="F4FCFC">
              <a:alpha val="93000"/>
            </a:srgbClr>
          </a:solidFill>
          <a:ln w="15875" cap="flat" cmpd="sng" algn="ctr">
            <a:solidFill>
              <a:srgbClr val="9DE8DE">
                <a:alpha val="48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7F6AE460-95E1-4F7E-7D3C-C95B1A258A60}"/>
              </a:ext>
            </a:extLst>
          </p:cNvPr>
          <p:cNvSpPr/>
          <p:nvPr/>
        </p:nvSpPr>
        <p:spPr>
          <a:xfrm>
            <a:off x="1206500" y="1943100"/>
            <a:ext cx="88900" cy="2159000"/>
          </a:xfrm>
          <a:prstGeom prst="roundRect">
            <a:avLst/>
          </a:prstGeom>
          <a:solidFill>
            <a:srgbClr val="14B8A6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ABE66D9-AB53-9743-A479-900D06B65C80}"/>
              </a:ext>
            </a:extLst>
          </p:cNvPr>
          <p:cNvSpPr/>
          <p:nvPr/>
        </p:nvSpPr>
        <p:spPr>
          <a:xfrm>
            <a:off x="1587500" y="4305300"/>
            <a:ext cx="2095500" cy="76200"/>
          </a:xfrm>
          <a:prstGeom prst="roundRect">
            <a:avLst/>
          </a:prstGeom>
          <a:solidFill>
            <a:srgbClr val="0D9488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A49BA19C-56A9-30AB-13FF-5F130901DBB0}"/>
              </a:ext>
            </a:extLst>
          </p:cNvPr>
          <p:cNvSpPr/>
          <p:nvPr/>
        </p:nvSpPr>
        <p:spPr>
          <a:xfrm>
            <a:off x="3886200" y="4254500"/>
            <a:ext cx="165100" cy="165100"/>
          </a:xfrm>
          <a:prstGeom prst="ellipse">
            <a:avLst/>
          </a:prstGeom>
          <a:solidFill>
            <a:srgbClr val="0A3052">
              <a:alpha val="9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E8879E9-E9F0-8626-F3E7-EAE0E64097F0}"/>
              </a:ext>
            </a:extLst>
          </p:cNvPr>
          <p:cNvSpPr/>
          <p:nvPr/>
        </p:nvSpPr>
        <p:spPr>
          <a:xfrm>
            <a:off x="4178300" y="4254500"/>
            <a:ext cx="165100" cy="165100"/>
          </a:xfrm>
          <a:prstGeom prst="ellipse">
            <a:avLst/>
          </a:prstGeom>
          <a:solidFill>
            <a:srgbClr val="0D9488">
              <a:alpha val="9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B17E2447-B54B-7D24-2BF9-799774E6E594}"/>
              </a:ext>
            </a:extLst>
          </p:cNvPr>
          <p:cNvSpPr/>
          <p:nvPr/>
        </p:nvSpPr>
        <p:spPr>
          <a:xfrm>
            <a:off x="6883400" y="1320800"/>
            <a:ext cx="4127500" cy="3632200"/>
          </a:xfrm>
          <a:prstGeom prst="roundRect">
            <a:avLst/>
          </a:prstGeom>
          <a:solidFill>
            <a:srgbClr val="F2FAFC">
              <a:alpha val="96000"/>
            </a:srgbClr>
          </a:solidFill>
          <a:ln w="15875" cap="flat" cmpd="sng" algn="ctr">
            <a:solidFill>
              <a:srgbClr val="9DE8DE">
                <a:alpha val="5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881685EC-4868-58C2-CCA7-A02AE598052A}"/>
              </a:ext>
            </a:extLst>
          </p:cNvPr>
          <p:cNvSpPr/>
          <p:nvPr/>
        </p:nvSpPr>
        <p:spPr>
          <a:xfrm>
            <a:off x="7264400" y="1739900"/>
            <a:ext cx="3238500" cy="1905000"/>
          </a:xfrm>
          <a:prstGeom prst="roundRect">
            <a:avLst/>
          </a:prstGeom>
          <a:solidFill>
            <a:srgbClr val="FAFDFF"/>
          </a:solidFill>
          <a:ln w="21590">
            <a:solidFill>
              <a:srgbClr val="1E5E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225F6E-6A63-2D40-1C04-551BC9862AE1}"/>
              </a:ext>
            </a:extLst>
          </p:cNvPr>
          <p:cNvSpPr/>
          <p:nvPr/>
        </p:nvSpPr>
        <p:spPr>
          <a:xfrm>
            <a:off x="7264400" y="1739900"/>
            <a:ext cx="3238500" cy="3175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Ellipse 77">
            <a:extLst>
              <a:ext uri="{FF2B5EF4-FFF2-40B4-BE49-F238E27FC236}">
                <a16:creationId xmlns:a16="http://schemas.microsoft.com/office/drawing/2014/main" id="{BB11F6EA-8D63-3137-C070-E3F74B2932D1}"/>
              </a:ext>
            </a:extLst>
          </p:cNvPr>
          <p:cNvSpPr/>
          <p:nvPr/>
        </p:nvSpPr>
        <p:spPr>
          <a:xfrm>
            <a:off x="7467600" y="1854200"/>
            <a:ext cx="88900" cy="88900"/>
          </a:xfrm>
          <a:prstGeom prst="ellipse">
            <a:avLst/>
          </a:prstGeom>
          <a:solidFill>
            <a:srgbClr val="14B8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7555255-E04F-2228-8C76-976E4C7FC288}"/>
              </a:ext>
            </a:extLst>
          </p:cNvPr>
          <p:cNvSpPr/>
          <p:nvPr/>
        </p:nvSpPr>
        <p:spPr>
          <a:xfrm>
            <a:off x="7645400" y="1854200"/>
            <a:ext cx="88900" cy="88900"/>
          </a:xfrm>
          <a:prstGeom prst="ellipse">
            <a:avLst/>
          </a:prstGeom>
          <a:solidFill>
            <a:srgbClr val="E6F5F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83166995-34D1-A68A-749B-8158C7526F81}"/>
              </a:ext>
            </a:extLst>
          </p:cNvPr>
          <p:cNvSpPr/>
          <p:nvPr/>
        </p:nvSpPr>
        <p:spPr>
          <a:xfrm>
            <a:off x="7823200" y="1854200"/>
            <a:ext cx="88900" cy="88900"/>
          </a:xfrm>
          <a:prstGeom prst="ellipse">
            <a:avLst/>
          </a:prstGeom>
          <a:solidFill>
            <a:srgbClr val="AFCFD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Rectangle : coins arrondis 80">
            <a:extLst>
              <a:ext uri="{FF2B5EF4-FFF2-40B4-BE49-F238E27FC236}">
                <a16:creationId xmlns:a16="http://schemas.microsoft.com/office/drawing/2014/main" id="{B5666486-60E2-357C-E42B-425E8DEEC6DF}"/>
              </a:ext>
            </a:extLst>
          </p:cNvPr>
          <p:cNvSpPr/>
          <p:nvPr/>
        </p:nvSpPr>
        <p:spPr>
          <a:xfrm>
            <a:off x="7493000" y="2298700"/>
            <a:ext cx="812800" cy="596900"/>
          </a:xfrm>
          <a:prstGeom prst="roundRect">
            <a:avLst/>
          </a:prstGeom>
          <a:solidFill>
            <a:srgbClr val="DBF9F5"/>
          </a:solidFill>
          <a:ln w="12700" cap="flat" cmpd="sng" algn="ctr">
            <a:solidFill>
              <a:srgbClr val="9BDCD5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E4009A1A-851A-11BA-AFA1-03AEF574C5A2}"/>
              </a:ext>
            </a:extLst>
          </p:cNvPr>
          <p:cNvSpPr/>
          <p:nvPr/>
        </p:nvSpPr>
        <p:spPr>
          <a:xfrm>
            <a:off x="8432800" y="2298700"/>
            <a:ext cx="812800" cy="596900"/>
          </a:xfrm>
          <a:prstGeom prst="roundRect">
            <a:avLst/>
          </a:prstGeom>
          <a:solidFill>
            <a:srgbClr val="E7EEFF"/>
          </a:solidFill>
          <a:ln w="12700" cap="flat" cmpd="sng" algn="ctr">
            <a:solidFill>
              <a:srgbClr val="AABEE6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Rectangle : coins arrondis 82">
            <a:extLst>
              <a:ext uri="{FF2B5EF4-FFF2-40B4-BE49-F238E27FC236}">
                <a16:creationId xmlns:a16="http://schemas.microsoft.com/office/drawing/2014/main" id="{9EE3C8D9-8409-F82C-2A27-498EBE2930DE}"/>
              </a:ext>
            </a:extLst>
          </p:cNvPr>
          <p:cNvSpPr/>
          <p:nvPr/>
        </p:nvSpPr>
        <p:spPr>
          <a:xfrm>
            <a:off x="9372600" y="2298700"/>
            <a:ext cx="812800" cy="596900"/>
          </a:xfrm>
          <a:prstGeom prst="roundRect">
            <a:avLst/>
          </a:prstGeom>
          <a:solidFill>
            <a:srgbClr val="E8F4FA"/>
          </a:solidFill>
          <a:ln w="12700" cap="flat" cmpd="sng" algn="ctr">
            <a:solidFill>
              <a:srgbClr val="A8C6D6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A8974C37-E9AD-46B7-0639-BD2D92A49B61}"/>
              </a:ext>
            </a:extLst>
          </p:cNvPr>
          <p:cNvSpPr/>
          <p:nvPr/>
        </p:nvSpPr>
        <p:spPr>
          <a:xfrm>
            <a:off x="7518400" y="3111500"/>
            <a:ext cx="22606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Rectangle : coins arrondis 84">
            <a:extLst>
              <a:ext uri="{FF2B5EF4-FFF2-40B4-BE49-F238E27FC236}">
                <a16:creationId xmlns:a16="http://schemas.microsoft.com/office/drawing/2014/main" id="{AA28F8A6-9852-1FC7-7088-CEC28E332908}"/>
              </a:ext>
            </a:extLst>
          </p:cNvPr>
          <p:cNvSpPr/>
          <p:nvPr/>
        </p:nvSpPr>
        <p:spPr>
          <a:xfrm>
            <a:off x="7518400" y="3213100"/>
            <a:ext cx="20320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Rectangle : coins arrondis 85">
            <a:extLst>
              <a:ext uri="{FF2B5EF4-FFF2-40B4-BE49-F238E27FC236}">
                <a16:creationId xmlns:a16="http://schemas.microsoft.com/office/drawing/2014/main" id="{756B1776-79EB-17F9-596A-1C0FFA8C3753}"/>
              </a:ext>
            </a:extLst>
          </p:cNvPr>
          <p:cNvSpPr/>
          <p:nvPr/>
        </p:nvSpPr>
        <p:spPr>
          <a:xfrm>
            <a:off x="7518400" y="3314700"/>
            <a:ext cx="18034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Rectangle : coins arrondis 86">
            <a:extLst>
              <a:ext uri="{FF2B5EF4-FFF2-40B4-BE49-F238E27FC236}">
                <a16:creationId xmlns:a16="http://schemas.microsoft.com/office/drawing/2014/main" id="{98502C19-4FA3-A5ED-7A77-8E127CE11E6B}"/>
              </a:ext>
            </a:extLst>
          </p:cNvPr>
          <p:cNvSpPr/>
          <p:nvPr/>
        </p:nvSpPr>
        <p:spPr>
          <a:xfrm>
            <a:off x="7518400" y="3416300"/>
            <a:ext cx="15748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13328F-EAD8-07B8-99FA-8596C6594469}"/>
              </a:ext>
            </a:extLst>
          </p:cNvPr>
          <p:cNvSpPr/>
          <p:nvPr/>
        </p:nvSpPr>
        <p:spPr>
          <a:xfrm>
            <a:off x="8636000" y="3657600"/>
            <a:ext cx="482600" cy="355600"/>
          </a:xfrm>
          <a:prstGeom prst="rect">
            <a:avLst/>
          </a:prstGeom>
          <a:solidFill>
            <a:srgbClr val="678F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36AB37AF-EF16-113D-14A9-A890CF3DE648}"/>
              </a:ext>
            </a:extLst>
          </p:cNvPr>
          <p:cNvSpPr/>
          <p:nvPr/>
        </p:nvSpPr>
        <p:spPr>
          <a:xfrm>
            <a:off x="8077200" y="3987800"/>
            <a:ext cx="1600200" cy="127000"/>
          </a:xfrm>
          <a:prstGeom prst="roundRect">
            <a:avLst/>
          </a:prstGeom>
          <a:solidFill>
            <a:srgbClr val="678F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0" name="Rectangle : coins arrondis 89">
            <a:extLst>
              <a:ext uri="{FF2B5EF4-FFF2-40B4-BE49-F238E27FC236}">
                <a16:creationId xmlns:a16="http://schemas.microsoft.com/office/drawing/2014/main" id="{9CE3BE60-855D-50DA-7209-CCCD6DCD9F78}"/>
              </a:ext>
            </a:extLst>
          </p:cNvPr>
          <p:cNvSpPr/>
          <p:nvPr/>
        </p:nvSpPr>
        <p:spPr>
          <a:xfrm>
            <a:off x="9855200" y="3009900"/>
            <a:ext cx="1041400" cy="1727200"/>
          </a:xfrm>
          <a:prstGeom prst="roundRect">
            <a:avLst/>
          </a:prstGeom>
          <a:solidFill>
            <a:srgbClr val="07233A"/>
          </a:solidFill>
          <a:ln w="22860">
            <a:solidFill>
              <a:srgbClr val="082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08F18F04-27A0-40B2-A82F-64A998B1A09A}"/>
              </a:ext>
            </a:extLst>
          </p:cNvPr>
          <p:cNvSpPr/>
          <p:nvPr/>
        </p:nvSpPr>
        <p:spPr>
          <a:xfrm>
            <a:off x="9956800" y="3175000"/>
            <a:ext cx="838200" cy="1371600"/>
          </a:xfrm>
          <a:prstGeom prst="roundRect">
            <a:avLst/>
          </a:prstGeom>
          <a:solidFill>
            <a:srgbClr val="F0FDFA"/>
          </a:solidFill>
          <a:ln w="12700" cap="flat" cmpd="sng" algn="ctr">
            <a:solidFill>
              <a:srgbClr val="B4DCE1">
                <a:alpha val="7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4324DA1-D338-CB23-D800-4104C663F146}"/>
              </a:ext>
            </a:extLst>
          </p:cNvPr>
          <p:cNvSpPr/>
          <p:nvPr/>
        </p:nvSpPr>
        <p:spPr>
          <a:xfrm>
            <a:off x="101219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E3DDAC03-F085-E870-E4C5-FDDDADCD825E}"/>
              </a:ext>
            </a:extLst>
          </p:cNvPr>
          <p:cNvSpPr/>
          <p:nvPr/>
        </p:nvSpPr>
        <p:spPr>
          <a:xfrm>
            <a:off x="102108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80BC2C8-1363-3665-AEA1-FC665DEF74AE}"/>
              </a:ext>
            </a:extLst>
          </p:cNvPr>
          <p:cNvSpPr/>
          <p:nvPr/>
        </p:nvSpPr>
        <p:spPr>
          <a:xfrm>
            <a:off x="102997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A41F64E-961C-ADB5-B7D3-03B5ABE8AC95}"/>
              </a:ext>
            </a:extLst>
          </p:cNvPr>
          <p:cNvSpPr/>
          <p:nvPr/>
        </p:nvSpPr>
        <p:spPr>
          <a:xfrm>
            <a:off x="104775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ACC388A-2370-E684-4F2A-EB5D7A7C8909}"/>
              </a:ext>
            </a:extLst>
          </p:cNvPr>
          <p:cNvSpPr/>
          <p:nvPr/>
        </p:nvSpPr>
        <p:spPr>
          <a:xfrm>
            <a:off x="106553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E3D291B-0D8B-2C65-79F1-9ED14154DFA2}"/>
              </a:ext>
            </a:extLst>
          </p:cNvPr>
          <p:cNvSpPr/>
          <p:nvPr/>
        </p:nvSpPr>
        <p:spPr>
          <a:xfrm>
            <a:off x="101219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452713-25DC-4624-CFEB-3F8674BC2AAD}"/>
              </a:ext>
            </a:extLst>
          </p:cNvPr>
          <p:cNvSpPr/>
          <p:nvPr/>
        </p:nvSpPr>
        <p:spPr>
          <a:xfrm>
            <a:off x="102997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B70FF76-E22A-0949-F6A7-1E1803C9935B}"/>
              </a:ext>
            </a:extLst>
          </p:cNvPr>
          <p:cNvSpPr/>
          <p:nvPr/>
        </p:nvSpPr>
        <p:spPr>
          <a:xfrm>
            <a:off x="105664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6103B3B-D260-19FA-C0D9-C388E47B7C2E}"/>
              </a:ext>
            </a:extLst>
          </p:cNvPr>
          <p:cNvSpPr/>
          <p:nvPr/>
        </p:nvSpPr>
        <p:spPr>
          <a:xfrm>
            <a:off x="101219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3D109222-F49B-DC9E-DBB0-3610455A032D}"/>
              </a:ext>
            </a:extLst>
          </p:cNvPr>
          <p:cNvSpPr/>
          <p:nvPr/>
        </p:nvSpPr>
        <p:spPr>
          <a:xfrm>
            <a:off x="102108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D48AE54-FA6C-9351-7BA2-652EDEF80E0B}"/>
              </a:ext>
            </a:extLst>
          </p:cNvPr>
          <p:cNvSpPr/>
          <p:nvPr/>
        </p:nvSpPr>
        <p:spPr>
          <a:xfrm>
            <a:off x="102997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F4B2680-FF6F-8837-2A1C-6C7AA49D2579}"/>
              </a:ext>
            </a:extLst>
          </p:cNvPr>
          <p:cNvSpPr/>
          <p:nvPr/>
        </p:nvSpPr>
        <p:spPr>
          <a:xfrm>
            <a:off x="104775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583363C-0E5D-DA20-87E7-374A73F1C053}"/>
              </a:ext>
            </a:extLst>
          </p:cNvPr>
          <p:cNvSpPr/>
          <p:nvPr/>
        </p:nvSpPr>
        <p:spPr>
          <a:xfrm>
            <a:off x="105664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8843454-C67E-ABC1-6362-4842EBEE9FDC}"/>
              </a:ext>
            </a:extLst>
          </p:cNvPr>
          <p:cNvSpPr/>
          <p:nvPr/>
        </p:nvSpPr>
        <p:spPr>
          <a:xfrm>
            <a:off x="106553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C8B645B8-6EF3-8246-306F-375F3CAA358A}"/>
              </a:ext>
            </a:extLst>
          </p:cNvPr>
          <p:cNvSpPr/>
          <p:nvPr/>
        </p:nvSpPr>
        <p:spPr>
          <a:xfrm>
            <a:off x="10388600" y="36449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D58851D-EA27-6962-73C9-9D01714E5E9F}"/>
              </a:ext>
            </a:extLst>
          </p:cNvPr>
          <p:cNvSpPr/>
          <p:nvPr/>
        </p:nvSpPr>
        <p:spPr>
          <a:xfrm>
            <a:off x="101219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DE10AD1-3F01-4E16-0871-42C3F457F194}"/>
              </a:ext>
            </a:extLst>
          </p:cNvPr>
          <p:cNvSpPr/>
          <p:nvPr/>
        </p:nvSpPr>
        <p:spPr>
          <a:xfrm>
            <a:off x="102997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F40504EA-C1FD-5C4F-49EA-A2A613DB3921}"/>
              </a:ext>
            </a:extLst>
          </p:cNvPr>
          <p:cNvSpPr/>
          <p:nvPr/>
        </p:nvSpPr>
        <p:spPr>
          <a:xfrm>
            <a:off x="103886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1192888-57E4-ACEA-46C7-FFB07BCEADEA}"/>
              </a:ext>
            </a:extLst>
          </p:cNvPr>
          <p:cNvSpPr/>
          <p:nvPr/>
        </p:nvSpPr>
        <p:spPr>
          <a:xfrm>
            <a:off x="104775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9A714929-A232-354E-25E7-23986E2CAD53}"/>
              </a:ext>
            </a:extLst>
          </p:cNvPr>
          <p:cNvSpPr/>
          <p:nvPr/>
        </p:nvSpPr>
        <p:spPr>
          <a:xfrm>
            <a:off x="106553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C2EB483-4381-5F63-162F-025C53FCB59E}"/>
              </a:ext>
            </a:extLst>
          </p:cNvPr>
          <p:cNvSpPr/>
          <p:nvPr/>
        </p:nvSpPr>
        <p:spPr>
          <a:xfrm>
            <a:off x="102108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70DD90C-C8DD-A3F6-51E3-3EA70C419CAA}"/>
              </a:ext>
            </a:extLst>
          </p:cNvPr>
          <p:cNvSpPr/>
          <p:nvPr/>
        </p:nvSpPr>
        <p:spPr>
          <a:xfrm>
            <a:off x="104775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9ACDA90-2449-4C87-852C-CC35C3AB0FC8}"/>
              </a:ext>
            </a:extLst>
          </p:cNvPr>
          <p:cNvSpPr/>
          <p:nvPr/>
        </p:nvSpPr>
        <p:spPr>
          <a:xfrm>
            <a:off x="105664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EF96766-5CC6-FAF2-B7FB-231F4DAC4922}"/>
              </a:ext>
            </a:extLst>
          </p:cNvPr>
          <p:cNvSpPr/>
          <p:nvPr/>
        </p:nvSpPr>
        <p:spPr>
          <a:xfrm>
            <a:off x="101219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D1666FE-12B2-0A26-C243-F2863323371F}"/>
              </a:ext>
            </a:extLst>
          </p:cNvPr>
          <p:cNvSpPr/>
          <p:nvPr/>
        </p:nvSpPr>
        <p:spPr>
          <a:xfrm>
            <a:off x="102997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8BBECE3-AED9-AAF4-8306-5DFFE95B1961}"/>
              </a:ext>
            </a:extLst>
          </p:cNvPr>
          <p:cNvSpPr/>
          <p:nvPr/>
        </p:nvSpPr>
        <p:spPr>
          <a:xfrm>
            <a:off x="103886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55B1C68-20D7-3742-92ED-2ACF970AC67C}"/>
              </a:ext>
            </a:extLst>
          </p:cNvPr>
          <p:cNvSpPr/>
          <p:nvPr/>
        </p:nvSpPr>
        <p:spPr>
          <a:xfrm>
            <a:off x="105664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A9DF7BCF-41CB-2695-34D2-4AD4DDB797FD}"/>
              </a:ext>
            </a:extLst>
          </p:cNvPr>
          <p:cNvSpPr/>
          <p:nvPr/>
        </p:nvSpPr>
        <p:spPr>
          <a:xfrm>
            <a:off x="106553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Rectangle : coins arrondis 119">
            <a:extLst>
              <a:ext uri="{FF2B5EF4-FFF2-40B4-BE49-F238E27FC236}">
                <a16:creationId xmlns:a16="http://schemas.microsoft.com/office/drawing/2014/main" id="{13CF84AE-A1F6-0407-D2B0-0C645DCE736C}"/>
              </a:ext>
            </a:extLst>
          </p:cNvPr>
          <p:cNvSpPr/>
          <p:nvPr/>
        </p:nvSpPr>
        <p:spPr>
          <a:xfrm>
            <a:off x="10121900" y="4140200"/>
            <a:ext cx="533400" cy="63500"/>
          </a:xfrm>
          <a:prstGeom prst="round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Rectangle : coins arrondis 120">
            <a:extLst>
              <a:ext uri="{FF2B5EF4-FFF2-40B4-BE49-F238E27FC236}">
                <a16:creationId xmlns:a16="http://schemas.microsoft.com/office/drawing/2014/main" id="{5DBE1C27-DB13-912C-BE88-7C46987BA2F6}"/>
              </a:ext>
            </a:extLst>
          </p:cNvPr>
          <p:cNvSpPr/>
          <p:nvPr/>
        </p:nvSpPr>
        <p:spPr>
          <a:xfrm>
            <a:off x="10172700" y="4305300"/>
            <a:ext cx="431800" cy="50800"/>
          </a:xfrm>
          <a:prstGeom prst="roundRect">
            <a:avLst/>
          </a:prstGeom>
          <a:solidFill>
            <a:srgbClr val="0A3052">
              <a:alpha val="8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9A1FFBE6-F983-D635-F225-D3BD21537AE0}"/>
              </a:ext>
            </a:extLst>
          </p:cNvPr>
          <p:cNvSpPr/>
          <p:nvPr/>
        </p:nvSpPr>
        <p:spPr>
          <a:xfrm>
            <a:off x="7569200" y="4191000"/>
            <a:ext cx="381000" cy="3810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A3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Rectangle : coins arrondis 122">
            <a:extLst>
              <a:ext uri="{FF2B5EF4-FFF2-40B4-BE49-F238E27FC236}">
                <a16:creationId xmlns:a16="http://schemas.microsoft.com/office/drawing/2014/main" id="{82BB2FEB-4F44-0C08-D182-A306AE8D6E4A}"/>
              </a:ext>
            </a:extLst>
          </p:cNvPr>
          <p:cNvSpPr/>
          <p:nvPr/>
        </p:nvSpPr>
        <p:spPr>
          <a:xfrm>
            <a:off x="7353300" y="4597400"/>
            <a:ext cx="812800" cy="406400"/>
          </a:xfrm>
          <a:prstGeom prst="roundRect">
            <a:avLst/>
          </a:prstGeom>
          <a:solidFill>
            <a:srgbClr val="0D9488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4" name="Triangle isocèle 123">
            <a:extLst>
              <a:ext uri="{FF2B5EF4-FFF2-40B4-BE49-F238E27FC236}">
                <a16:creationId xmlns:a16="http://schemas.microsoft.com/office/drawing/2014/main" id="{16C5018A-3CC6-B7C8-4D17-9237DC2BEE3A}"/>
              </a:ext>
            </a:extLst>
          </p:cNvPr>
          <p:cNvSpPr/>
          <p:nvPr/>
        </p:nvSpPr>
        <p:spPr>
          <a:xfrm rot="10800000">
            <a:off x="7340600" y="4038600"/>
            <a:ext cx="838200" cy="431800"/>
          </a:xfrm>
          <a:prstGeom prst="triangle">
            <a:avLst/>
          </a:prstGeom>
          <a:solidFill>
            <a:srgbClr val="0A3052">
              <a:alpha val="98000"/>
            </a:srgbClr>
          </a:solidFill>
          <a:ln w="12700">
            <a:solidFill>
              <a:srgbClr val="0A3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Arc 124">
            <a:extLst>
              <a:ext uri="{FF2B5EF4-FFF2-40B4-BE49-F238E27FC236}">
                <a16:creationId xmlns:a16="http://schemas.microsoft.com/office/drawing/2014/main" id="{E7B2A0BB-D660-7F8E-C226-457D5977E1EC}"/>
              </a:ext>
            </a:extLst>
          </p:cNvPr>
          <p:cNvSpPr/>
          <p:nvPr/>
        </p:nvSpPr>
        <p:spPr>
          <a:xfrm>
            <a:off x="5524500" y="1549400"/>
            <a:ext cx="3048000" cy="2413000"/>
          </a:xfrm>
          <a:prstGeom prst="arc">
            <a:avLst/>
          </a:prstGeom>
          <a:ln w="27940" cap="flat" cmpd="sng" algn="ctr">
            <a:solidFill>
              <a:srgbClr val="0D9488">
                <a:alpha val="8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6" name="Arc 125">
            <a:extLst>
              <a:ext uri="{FF2B5EF4-FFF2-40B4-BE49-F238E27FC236}">
                <a16:creationId xmlns:a16="http://schemas.microsoft.com/office/drawing/2014/main" id="{B9E359C1-D7A3-B146-F5CC-420E6E26DCAC}"/>
              </a:ext>
            </a:extLst>
          </p:cNvPr>
          <p:cNvSpPr/>
          <p:nvPr/>
        </p:nvSpPr>
        <p:spPr>
          <a:xfrm>
            <a:off x="7861300" y="4203700"/>
            <a:ext cx="3048000" cy="2032000"/>
          </a:xfrm>
          <a:prstGeom prst="arc">
            <a:avLst/>
          </a:prstGeom>
          <a:ln w="25400" cap="flat" cmpd="sng" algn="ctr">
            <a:solidFill>
              <a:srgbClr val="0A3052">
                <a:alpha val="5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CFA37E1-FFDC-C8E8-AD63-0182D5A267D0}"/>
              </a:ext>
            </a:extLst>
          </p:cNvPr>
          <p:cNvSpPr txBox="1"/>
          <p:nvPr/>
        </p:nvSpPr>
        <p:spPr>
          <a:xfrm>
            <a:off x="1549400" y="1905000"/>
            <a:ext cx="5461000" cy="123110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4000" b="1">
                <a:solidFill>
                  <a:srgbClr val="0A3052"/>
                </a:solidFill>
                <a:latin typeface="Aptos Display" panose="020B0004020202020204" pitchFamily="34" charset="0"/>
              </a:rPr>
              <a:t>Merci pour votre attention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24A7F60-3553-5BC2-6F55-B614070E0412}"/>
              </a:ext>
            </a:extLst>
          </p:cNvPr>
          <p:cNvSpPr txBox="1"/>
          <p:nvPr/>
        </p:nvSpPr>
        <p:spPr>
          <a:xfrm>
            <a:off x="1574800" y="3530600"/>
            <a:ext cx="4191000" cy="4770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3100" b="1">
                <a:solidFill>
                  <a:srgbClr val="0D9488"/>
                </a:solidFill>
                <a:latin typeface="Aptos" panose="020B0004020202020204" pitchFamily="34" charset="0"/>
              </a:rPr>
              <a:t>Questions 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 thruBlk="1"/>
      </p:transition>
    </mc:Choice>
    <mc:Fallback xmlns=""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5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5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1" grpId="0" animBg="1"/>
      <p:bldP spid="12" grpId="0" animBg="1"/>
      <p:bldP spid="13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6" grpId="0" animBg="1"/>
      <p:bldP spid="8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382</Words>
  <Application>Microsoft Office PowerPoint</Application>
  <PresentationFormat>Widescreen</PresentationFormat>
  <Paragraphs>139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INTEC SUP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 3</dc:title>
  <dc:subject>Soutenance EduTrack</dc:subject>
  <dc:creator>EduTrack</dc:creator>
  <cp:lastModifiedBy>Bourama Aya</cp:lastModifiedBy>
  <cp:revision>15</cp:revision>
  <dcterms:created xsi:type="dcterms:W3CDTF">2026-07-12T14:22:44Z</dcterms:created>
  <dcterms:modified xsi:type="dcterms:W3CDTF">2026-08-22T15:10:00Z</dcterms:modified>
</cp:coreProperties>
</file>